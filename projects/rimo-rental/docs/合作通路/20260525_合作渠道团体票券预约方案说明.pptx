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7" r:id="rId5"/>
    <p:sldId id="257" r:id="rId6"/>
    <p:sldId id="259" r:id="rId7"/>
    <p:sldId id="263" r:id="rId8"/>
    <p:sldId id="260" r:id="rId9"/>
    <p:sldId id="264" r:id="rId10"/>
    <p:sldId id="261" r:id="rId11"/>
    <p:sldId id="265" r:id="rId12"/>
    <p:sldId id="266" r:id="rId13"/>
  </p:sldIdLst>
  <p:sldSz cx="12192000" cy="6858000" type="screen4x3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8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ox"/>
          <p:cNvSpPr/>
          <p:nvPr userDrawn="1"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x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Box"/>
          <p:cNvSpPr/>
          <p:nvPr/>
        </p:nvSpPr>
        <p:spPr>
          <a:xfrm>
            <a:off x="502920" y="502920"/>
            <a:ext cx="146304" cy="5394960"/>
          </a:xfrm>
          <a:prstGeom prst="rect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822960" y="1234440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合作渠道团体票券预约</a:t>
            </a:r>
            <a:endParaRPr lang="zh-CN"/>
          </a:p>
        </p:txBody>
      </p:sp>
      <p:sp>
        <p:nvSpPr>
          <p:cNvPr id="14" name="Text"/>
          <p:cNvSpPr txBox="1"/>
          <p:nvPr/>
        </p:nvSpPr>
        <p:spPr>
          <a:xfrm>
            <a:off x="859536" y="2057400"/>
            <a:ext cx="90525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同站租还场景的旅行社团体游客免支付预约方案</a:t>
            </a:r>
            <a:endParaRPr lang="zh-CN"/>
          </a:p>
        </p:txBody>
      </p:sp>
      <p:sp>
        <p:nvSpPr>
          <p:cNvPr id="15" name="Box"/>
          <p:cNvSpPr/>
          <p:nvPr/>
        </p:nvSpPr>
        <p:spPr>
          <a:xfrm>
            <a:off x="868680" y="2971800"/>
            <a:ext cx="2011680" cy="438912"/>
          </a:xfrm>
          <a:prstGeom prst="roundRect">
            <a:avLst/>
          </a:prstGeom>
          <a:solidFill>
            <a:srgbClr val="E8F5E9"/>
          </a:solidFill>
          <a:ln>
            <a:solidFill>
              <a:srgbClr val="CDE8D0"/>
            </a:solidFill>
          </a:ln>
        </p:spPr>
        <p:txBody>
          <a:bodyPr wrap="square" anchor="ctr"/>
          <a:lstStyle/>
          <a:p>
            <a:pPr algn="ctr"/>
            <a:r>
              <a:rPr lang="zh-CN" sz="1800" b="1">
                <a:solidFill>
                  <a:srgbClr val="2D7A00"/>
                </a:solidFill>
                <a:latin typeface="微软雅黑" panose="020B0503020204020204" charset="-122"/>
                <a:ea typeface="微软雅黑" panose="020B0503020204020204" charset="-122"/>
              </a:rPr>
              <a:t>同站租还</a:t>
            </a:r>
            <a:endParaRPr lang="zh-CN"/>
          </a:p>
        </p:txBody>
      </p:sp>
      <p:sp>
        <p:nvSpPr>
          <p:cNvPr id="16" name="Box"/>
          <p:cNvSpPr/>
          <p:nvPr/>
        </p:nvSpPr>
        <p:spPr>
          <a:xfrm>
            <a:off x="3063240" y="2971800"/>
            <a:ext cx="2468880" cy="438912"/>
          </a:xfrm>
          <a:prstGeom prst="roundRect">
            <a:avLst/>
          </a:prstGeom>
          <a:solidFill>
            <a:srgbClr val="EEF6FF"/>
          </a:solidFill>
          <a:ln>
            <a:solidFill>
              <a:srgbClr val="CDE3FF"/>
            </a:solidFill>
          </a:ln>
        </p:spPr>
        <p:txBody>
          <a:bodyPr wrap="square" anchor="ctr"/>
          <a:lstStyle/>
          <a:p>
            <a:pPr algn="ctr"/>
            <a:r>
              <a:rPr lang="zh-CN" sz="18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合作渠道企业</a:t>
            </a:r>
            <a:endParaRPr lang="zh-CN"/>
          </a:p>
        </p:txBody>
      </p:sp>
      <p:sp>
        <p:nvSpPr>
          <p:cNvPr id="17" name="Box"/>
          <p:cNvSpPr/>
          <p:nvPr/>
        </p:nvSpPr>
        <p:spPr>
          <a:xfrm>
            <a:off x="5715000" y="2971800"/>
            <a:ext cx="2377440" cy="438912"/>
          </a:xfrm>
          <a:prstGeom prst="roundRect">
            <a:avLst/>
          </a:prstGeom>
          <a:solidFill>
            <a:srgbClr val="FFF7E6"/>
          </a:solidFill>
          <a:ln>
            <a:solidFill>
              <a:srgbClr val="FFE0A3"/>
            </a:solidFill>
          </a:ln>
        </p:spPr>
        <p:txBody>
          <a:bodyPr wrap="square" anchor="ctr"/>
          <a:lstStyle/>
          <a:p>
            <a:pPr algn="ctr"/>
            <a:r>
              <a:rPr lang="zh-CN" sz="1800" b="1">
                <a:solidFill>
                  <a:srgbClr val="9A5B00"/>
                </a:solidFill>
                <a:latin typeface="微软雅黑" panose="020B0503020204020204" charset="-122"/>
                <a:ea typeface="微软雅黑" panose="020B0503020204020204" charset="-122"/>
              </a:rPr>
              <a:t>游客免支付</a:t>
            </a:r>
            <a:endParaRPr lang="zh-CN"/>
          </a:p>
        </p:txBody>
      </p:sp>
      <p:sp>
        <p:nvSpPr>
          <p:cNvPr id="18" name="Text"/>
          <p:cNvSpPr txBox="1"/>
          <p:nvPr/>
        </p:nvSpPr>
        <p:spPr>
          <a:xfrm>
            <a:off x="868680" y="548640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RIMO Rental 方案说明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"/>
          <p:cNvSpPr txBox="1"/>
          <p:nvPr/>
        </p:nvSpPr>
        <p:spPr>
          <a:xfrm>
            <a:off x="594360" y="50292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方案怎么实现</a:t>
            </a:r>
            <a:endParaRPr lang="zh-CN"/>
          </a:p>
        </p:txBody>
      </p:sp>
      <p:sp>
        <p:nvSpPr>
          <p:cNvPr id="30" name="Text"/>
          <p:cNvSpPr txBox="1"/>
          <p:nvPr/>
        </p:nvSpPr>
        <p:spPr>
          <a:xfrm>
            <a:off x="594360" y="1005840"/>
            <a:ext cx="9692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6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在现有同站租还订单能力上，加一层“票券入口”和“费用归属转换”。</a:t>
            </a:r>
            <a:endParaRPr lang="zh-CN"/>
          </a:p>
        </p:txBody>
      </p:sp>
      <p:sp>
        <p:nvSpPr>
          <p:cNvPr id="31" name="Box"/>
          <p:cNvSpPr/>
          <p:nvPr/>
        </p:nvSpPr>
        <p:spPr>
          <a:xfrm>
            <a:off x="640080" y="1874519"/>
            <a:ext cx="1234440" cy="868680"/>
          </a:xfrm>
          <a:prstGeom prst="roundRect">
            <a:avLst/>
          </a:prstGeom>
          <a:solidFill>
            <a:srgbClr val="E8F5E9"/>
          </a:solidFill>
          <a:ln>
            <a:solidFill>
              <a:srgbClr val="B9DDBB"/>
            </a:solidFill>
          </a:ln>
        </p:spPr>
        <p:txBody>
          <a:bodyPr wrap="square" anchor="ctr"/>
          <a:lstStyle/>
          <a:p>
            <a:pPr algn="ctr"/>
            <a:r>
              <a:rPr lang="zh-CN" sz="1500" b="1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</a:rPr>
              <a:t>营运端
导名单/建批次</a:t>
            </a:r>
            <a:endParaRPr lang="zh-CN"/>
          </a:p>
        </p:txBody>
      </p:sp>
      <p:sp>
        <p:nvSpPr>
          <p:cNvPr id="32" name="Text"/>
          <p:cNvSpPr txBox="1"/>
          <p:nvPr/>
        </p:nvSpPr>
        <p:spPr>
          <a:xfrm>
            <a:off x="1901952" y="2148840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24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zh-CN"/>
          </a:p>
        </p:txBody>
      </p:sp>
      <p:sp>
        <p:nvSpPr>
          <p:cNvPr id="33" name="Box"/>
          <p:cNvSpPr/>
          <p:nvPr/>
        </p:nvSpPr>
        <p:spPr>
          <a:xfrm>
            <a:off x="2331720" y="1874519"/>
            <a:ext cx="123444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B9DDBB"/>
            </a:solidFill>
          </a:ln>
        </p:spPr>
        <p:txBody>
          <a:bodyPr wrap="square" anchor="ctr"/>
          <a:lstStyle/>
          <a:p>
            <a:pPr algn="ctr"/>
            <a:r>
              <a:rPr lang="zh-CN" sz="1500" b="1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</a:rPr>
              <a:t>APP
账号票券/核销码</a:t>
            </a:r>
            <a:endParaRPr lang="zh-CN"/>
          </a:p>
        </p:txBody>
      </p:sp>
      <p:sp>
        <p:nvSpPr>
          <p:cNvPr id="34" name="Text"/>
          <p:cNvSpPr txBox="1"/>
          <p:nvPr/>
        </p:nvSpPr>
        <p:spPr>
          <a:xfrm>
            <a:off x="3593591" y="2148840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24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zh-CN"/>
          </a:p>
        </p:txBody>
      </p:sp>
      <p:sp>
        <p:nvSpPr>
          <p:cNvPr id="35" name="Box"/>
          <p:cNvSpPr/>
          <p:nvPr/>
        </p:nvSpPr>
        <p:spPr>
          <a:xfrm>
            <a:off x="4023360" y="1874519"/>
            <a:ext cx="123444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B9DDBB"/>
            </a:solidFill>
          </a:ln>
        </p:spPr>
        <p:txBody>
          <a:bodyPr wrap="square" anchor="ctr"/>
          <a:lstStyle/>
          <a:p>
            <a:pPr algn="ctr"/>
            <a:r>
              <a:rPr lang="zh-CN" sz="1500" b="1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</a:rPr>
              <a:t>固定
时间/据点</a:t>
            </a:r>
            <a:endParaRPr lang="zh-CN"/>
          </a:p>
        </p:txBody>
      </p:sp>
      <p:sp>
        <p:nvSpPr>
          <p:cNvPr id="36" name="Text"/>
          <p:cNvSpPr txBox="1"/>
          <p:nvPr/>
        </p:nvSpPr>
        <p:spPr>
          <a:xfrm>
            <a:off x="5285232" y="2148840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24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zh-CN"/>
          </a:p>
        </p:txBody>
      </p:sp>
      <p:sp>
        <p:nvSpPr>
          <p:cNvPr id="37" name="Box"/>
          <p:cNvSpPr/>
          <p:nvPr/>
        </p:nvSpPr>
        <p:spPr>
          <a:xfrm>
            <a:off x="5715000" y="1874519"/>
            <a:ext cx="123444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B9DDBB"/>
            </a:solidFill>
          </a:ln>
        </p:spPr>
        <p:txBody>
          <a:bodyPr wrap="square" anchor="ctr"/>
          <a:lstStyle/>
          <a:p>
            <a:pPr algn="ctr"/>
            <a:r>
              <a:rPr lang="zh-CN" sz="1500" b="1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</a:rPr>
              <a:t>查询
可用车辆</a:t>
            </a:r>
            <a:endParaRPr lang="zh-CN"/>
          </a:p>
        </p:txBody>
      </p:sp>
      <p:sp>
        <p:nvSpPr>
          <p:cNvPr id="38" name="Text"/>
          <p:cNvSpPr txBox="1"/>
          <p:nvPr/>
        </p:nvSpPr>
        <p:spPr>
          <a:xfrm>
            <a:off x="6976872" y="2148840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24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zh-CN"/>
          </a:p>
        </p:txBody>
      </p:sp>
      <p:sp>
        <p:nvSpPr>
          <p:cNvPr id="39" name="Box"/>
          <p:cNvSpPr/>
          <p:nvPr/>
        </p:nvSpPr>
        <p:spPr>
          <a:xfrm>
            <a:off x="7406640" y="1874519"/>
            <a:ext cx="123444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B9DDBB"/>
            </a:solidFill>
          </a:ln>
        </p:spPr>
        <p:txBody>
          <a:bodyPr wrap="square" anchor="ctr"/>
          <a:lstStyle/>
          <a:p>
            <a:pPr algn="ctr"/>
            <a:r>
              <a:rPr lang="zh-CN" sz="1500" b="1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</a:rPr>
              <a:t>创建订单
核销票券</a:t>
            </a:r>
            <a:endParaRPr lang="zh-CN"/>
          </a:p>
        </p:txBody>
      </p:sp>
      <p:sp>
        <p:nvSpPr>
          <p:cNvPr id="40" name="Text"/>
          <p:cNvSpPr txBox="1"/>
          <p:nvPr/>
        </p:nvSpPr>
        <p:spPr>
          <a:xfrm>
            <a:off x="8668512" y="2148840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24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zh-CN"/>
          </a:p>
        </p:txBody>
      </p:sp>
      <p:sp>
        <p:nvSpPr>
          <p:cNvPr id="41" name="Box"/>
          <p:cNvSpPr/>
          <p:nvPr/>
        </p:nvSpPr>
        <p:spPr>
          <a:xfrm>
            <a:off x="9098280" y="1874519"/>
            <a:ext cx="1234440" cy="868680"/>
          </a:xfrm>
          <a:prstGeom prst="roundRect">
            <a:avLst/>
          </a:prstGeom>
          <a:solidFill>
            <a:srgbClr val="E8F5E9"/>
          </a:solidFill>
          <a:ln>
            <a:solidFill>
              <a:srgbClr val="B9DDBB"/>
            </a:solidFill>
          </a:ln>
        </p:spPr>
        <p:txBody>
          <a:bodyPr wrap="square" anchor="ctr"/>
          <a:lstStyle/>
          <a:p>
            <a:pPr algn="ctr"/>
            <a:r>
              <a:rPr lang="zh-CN" sz="1500" b="1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</a:rPr>
              <a:t>费用挂账
旅行社</a:t>
            </a:r>
            <a:endParaRPr lang="zh-CN"/>
          </a:p>
        </p:txBody>
      </p:sp>
      <p:sp>
        <p:nvSpPr>
          <p:cNvPr id="42" name="Text"/>
          <p:cNvSpPr txBox="1"/>
          <p:nvPr/>
        </p:nvSpPr>
        <p:spPr>
          <a:xfrm>
            <a:off x="777240" y="3246120"/>
            <a:ext cx="94183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8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创建批次必须汇入游客名单，系统按有效名单逐人生成核销码。</a:t>
            </a:r>
            <a:endParaRPr lang="zh-CN"/>
          </a:p>
        </p:txBody>
      </p:sp>
      <p:sp>
        <p:nvSpPr>
          <p:cNvPr id="43" name="Text"/>
          <p:cNvSpPr txBox="1"/>
          <p:nvPr/>
        </p:nvSpPr>
        <p:spPr>
          <a:xfrm>
            <a:off x="777240" y="3749039"/>
            <a:ext cx="94183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8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核销码区分发放状态和核销状态；已注册直接发放，未注册待注册后自动发放。</a:t>
            </a:r>
            <a:endParaRPr lang="zh-CN"/>
          </a:p>
        </p:txBody>
      </p:sp>
      <p:sp>
        <p:nvSpPr>
          <p:cNvPr id="44" name="Text"/>
          <p:cNvSpPr txBox="1"/>
          <p:nvPr/>
        </p:nvSpPr>
        <p:spPr>
          <a:xfrm>
            <a:off x="777240" y="4251960"/>
            <a:ext cx="94183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8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已发放核销码只允许对应会员使用；手机号不脱敏，便于旅行社和营运端核对。</a:t>
            </a:r>
            <a:endParaRPr lang="zh-CN"/>
          </a:p>
        </p:txBody>
      </p:sp>
      <p:sp>
        <p:nvSpPr>
          <p:cNvPr id="45" name="Text"/>
          <p:cNvSpPr txBox="1"/>
          <p:nvPr/>
        </p:nvSpPr>
        <p:spPr>
          <a:xfrm>
            <a:off x="777240" y="4754880"/>
            <a:ext cx="94183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18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本期不做车辆预留，APP 按固定时间和固定据点查询实时可用车辆。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op Accent"/>
          <p:cNvSpPr/>
          <p:nvPr/>
        </p:nvSpPr>
        <p:spPr>
          <a:xfrm>
            <a:off x="0" y="0"/>
            <a:ext cx="12192000" cy="125000"/>
          </a:xfrm>
          <a:prstGeom prst="rect">
            <a:avLst/>
          </a:prstGeom>
          <a:solidFill>
            <a:srgbClr val="00689E"/>
          </a:solidFill>
          <a:ln>
            <a:noFill/>
          </a:ln>
        </p:spPr>
      </p:sp>
      <p:sp>
        <p:nvSpPr>
          <p:cNvPr id="36" name="Title"/>
          <p:cNvSpPr/>
          <p:nvPr/>
        </p:nvSpPr>
        <p:spPr>
          <a:xfrm>
            <a:off x="610000" y="390000"/>
            <a:ext cx="4300000" cy="52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28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整体业务流程</a:t>
            </a:r>
            <a:endParaRPr lang="zh-CN" sz="2800" dirty="0"/>
          </a:p>
        </p:txBody>
      </p:sp>
      <p:sp>
        <p:nvSpPr>
          <p:cNvPr id="37" name="Subtitle"/>
          <p:cNvSpPr/>
          <p:nvPr/>
        </p:nvSpPr>
        <p:spPr>
          <a:xfrm>
            <a:off x="610235" y="909955"/>
            <a:ext cx="8174355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13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从批次建档到企业核对，主流程复用同站租还订单；票券负责入口、名单绑定、核销状态和费用归属转换。</a:t>
            </a:r>
            <a:endParaRPr lang="zh-CN" sz="1300" dirty="0"/>
          </a:p>
        </p:txBody>
      </p:sp>
      <p:sp>
        <p:nvSpPr>
          <p:cNvPr id="38" name="Scope Tag"/>
          <p:cNvSpPr/>
          <p:nvPr/>
        </p:nvSpPr>
        <p:spPr>
          <a:xfrm>
            <a:off x="9700000" y="470000"/>
            <a:ext cx="1740000" cy="420000"/>
          </a:xfrm>
          <a:prstGeom prst="roundRect">
            <a:avLst/>
          </a:prstGeom>
          <a:solidFill>
            <a:srgbClr val="E8F5FB"/>
          </a:solidFill>
          <a:ln w="12700">
            <a:solidFill>
              <a:srgbClr val="B4D7E7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zh-CN" sz="1200" b="1" dirty="0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同站租还 / 旅行社团体</a:t>
            </a:r>
            <a:endParaRPr lang="zh-CN" sz="1200" dirty="0"/>
          </a:p>
        </p:txBody>
      </p:sp>
      <p:sp>
        <p:nvSpPr>
          <p:cNvPr id="2" name="Card 01"/>
          <p:cNvSpPr/>
          <p:nvPr/>
        </p:nvSpPr>
        <p:spPr>
          <a:xfrm>
            <a:off x="560000" y="1630000"/>
            <a:ext cx="2070000" cy="30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1"/>
            </a:solidFill>
          </a:ln>
        </p:spPr>
      </p:sp>
      <p:sp>
        <p:nvSpPr>
          <p:cNvPr id="3" name="Num 01"/>
          <p:cNvSpPr/>
          <p:nvPr/>
        </p:nvSpPr>
        <p:spPr>
          <a:xfrm>
            <a:off x="690000" y="1770000"/>
            <a:ext cx="420000" cy="420000"/>
          </a:xfrm>
          <a:prstGeom prst="ellipse">
            <a:avLst/>
          </a:prstGeom>
          <a:solidFill>
            <a:srgbClr val="00689E"/>
          </a:solidFill>
          <a:ln w="12700">
            <a:solidFill>
              <a:srgbClr val="00689E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sz="1600" dirty="0"/>
          </a:p>
        </p:txBody>
      </p:sp>
      <p:sp>
        <p:nvSpPr>
          <p:cNvPr id="4" name="Title 01"/>
          <p:cNvSpPr/>
          <p:nvPr/>
        </p:nvSpPr>
        <p:spPr>
          <a:xfrm>
            <a:off x="1180000" y="1790000"/>
            <a:ext cx="1300000" cy="38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18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批次建档</a:t>
            </a:r>
            <a:endParaRPr lang="zh-CN" sz="1800" dirty="0"/>
          </a:p>
        </p:txBody>
      </p:sp>
      <p:sp>
        <p:nvSpPr>
          <p:cNvPr id="5" name="Body 01"/>
          <p:cNvSpPr/>
          <p:nvPr/>
        </p:nvSpPr>
        <p:spPr>
          <a:xfrm>
            <a:off x="700000" y="2360000"/>
            <a:ext cx="1790000" cy="2140000"/>
          </a:xfrm>
          <a:prstGeom prst="roundRect">
            <a:avLst/>
          </a:prstGeom>
          <a:noFill/>
          <a:ln>
            <a:noFill/>
          </a:ln>
        </p:spPr>
        <p:txBody>
          <a:bodyPr wrap="square" lIns="50000" tIns="50000" rIns="50000" bIns="50000" anchor="t"/>
          <a:lstStyle/>
          <a:p>
            <a:r>
              <a:rPr lang="zh-CN" sz="11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旅行社提供游客批次名单给营运</a:t>
            </a:r>
            <a:r>
              <a:rPr lang="zh-CN" sz="11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方。</a:t>
            </a:r>
            <a:endParaRPr lang="zh-CN" sz="118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1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</a:t>
            </a:r>
            <a:r>
              <a:rPr lang="zh-CN" sz="11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营运方创建</a:t>
            </a:r>
            <a:r>
              <a:rPr lang="zh-CN" sz="11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批次：选择旅行社企业、团体票券专用据点、固定取还时间和可用时间段。</a:t>
            </a:r>
            <a:endParaRPr lang="zh-CN" sz="118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1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汇入游客姓名、手机号名单；异常名单不可确认。</a:t>
            </a:r>
            <a:endParaRPr lang="zh-CN" sz="1180" dirty="0"/>
          </a:p>
        </p:txBody>
      </p:sp>
      <p:sp>
        <p:nvSpPr>
          <p:cNvPr id="6" name="Arrow"/>
          <p:cNvSpPr/>
          <p:nvPr/>
        </p:nvSpPr>
        <p:spPr>
          <a:xfrm>
            <a:off x="2640000" y="3010000"/>
            <a:ext cx="210000" cy="24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400" b="1" dirty="0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zh-CN" sz="2400" dirty="0"/>
          </a:p>
        </p:txBody>
      </p:sp>
      <p:sp>
        <p:nvSpPr>
          <p:cNvPr id="7" name="Card 02"/>
          <p:cNvSpPr/>
          <p:nvPr/>
        </p:nvSpPr>
        <p:spPr>
          <a:xfrm>
            <a:off x="2820000" y="1630000"/>
            <a:ext cx="2070000" cy="303000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8D7E1"/>
            </a:solidFill>
          </a:ln>
        </p:spPr>
      </p:sp>
      <p:sp>
        <p:nvSpPr>
          <p:cNvPr id="8" name="Num 02"/>
          <p:cNvSpPr/>
          <p:nvPr/>
        </p:nvSpPr>
        <p:spPr>
          <a:xfrm>
            <a:off x="2950000" y="1770000"/>
            <a:ext cx="420000" cy="420000"/>
          </a:xfrm>
          <a:prstGeom prst="ellipse">
            <a:avLst/>
          </a:prstGeom>
          <a:solidFill>
            <a:srgbClr val="00689E"/>
          </a:solidFill>
          <a:ln w="12700">
            <a:solidFill>
              <a:srgbClr val="00689E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sz="1600" dirty="0"/>
          </a:p>
        </p:txBody>
      </p:sp>
      <p:sp>
        <p:nvSpPr>
          <p:cNvPr id="9" name="Title 02"/>
          <p:cNvSpPr/>
          <p:nvPr/>
        </p:nvSpPr>
        <p:spPr>
          <a:xfrm>
            <a:off x="3440000" y="1790000"/>
            <a:ext cx="1300000" cy="38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18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生成与发放</a:t>
            </a:r>
            <a:endParaRPr lang="zh-CN" sz="1800" dirty="0"/>
          </a:p>
        </p:txBody>
      </p:sp>
      <p:sp>
        <p:nvSpPr>
          <p:cNvPr id="10" name="Body 02"/>
          <p:cNvSpPr/>
          <p:nvPr/>
        </p:nvSpPr>
        <p:spPr>
          <a:xfrm>
            <a:off x="2960000" y="2360000"/>
            <a:ext cx="1790000" cy="2140000"/>
          </a:xfrm>
          <a:prstGeom prst="roundRect">
            <a:avLst/>
          </a:prstGeom>
          <a:noFill/>
          <a:ln>
            <a:noFill/>
          </a:ln>
        </p:spPr>
        <p:txBody>
          <a:bodyPr wrap="square" lIns="50000" tIns="50000" rIns="50000" bIns="50000" anchor="t"/>
          <a:lstStyle/>
          <a:p>
            <a:r>
              <a:rPr lang="zh-CN" sz="11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系统按有效手机号逐人生成核销码。</a:t>
            </a:r>
            <a:endParaRPr lang="zh-CN" sz="118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1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已注册直接发放到账户；未注册进入待发放，注册后自动发放。</a:t>
            </a:r>
            <a:endParaRPr lang="zh-CN" sz="1180" dirty="0"/>
          </a:p>
        </p:txBody>
      </p:sp>
      <p:sp>
        <p:nvSpPr>
          <p:cNvPr id="11" name="Arrow"/>
          <p:cNvSpPr/>
          <p:nvPr/>
        </p:nvSpPr>
        <p:spPr>
          <a:xfrm>
            <a:off x="4900000" y="3010000"/>
            <a:ext cx="210000" cy="24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400" b="1" dirty="0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zh-CN" sz="2400" dirty="0"/>
          </a:p>
        </p:txBody>
      </p:sp>
      <p:sp>
        <p:nvSpPr>
          <p:cNvPr id="12" name="Card 03"/>
          <p:cNvSpPr/>
          <p:nvPr/>
        </p:nvSpPr>
        <p:spPr>
          <a:xfrm>
            <a:off x="5080000" y="1630000"/>
            <a:ext cx="2070000" cy="30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1"/>
            </a:solidFill>
          </a:ln>
        </p:spPr>
      </p:sp>
      <p:sp>
        <p:nvSpPr>
          <p:cNvPr id="13" name="Num 03"/>
          <p:cNvSpPr/>
          <p:nvPr/>
        </p:nvSpPr>
        <p:spPr>
          <a:xfrm>
            <a:off x="5210000" y="1770000"/>
            <a:ext cx="420000" cy="420000"/>
          </a:xfrm>
          <a:prstGeom prst="ellipse">
            <a:avLst/>
          </a:prstGeom>
          <a:solidFill>
            <a:srgbClr val="00689E"/>
          </a:solidFill>
          <a:ln w="12700">
            <a:solidFill>
              <a:srgbClr val="00689E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sz="1600" dirty="0"/>
          </a:p>
        </p:txBody>
      </p:sp>
      <p:sp>
        <p:nvSpPr>
          <p:cNvPr id="14" name="Title 03"/>
          <p:cNvSpPr/>
          <p:nvPr/>
        </p:nvSpPr>
        <p:spPr>
          <a:xfrm>
            <a:off x="5700000" y="1790000"/>
            <a:ext cx="1300000" cy="38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18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APP 预约</a:t>
            </a:r>
            <a:endParaRPr lang="zh-CN" sz="1800" dirty="0"/>
          </a:p>
        </p:txBody>
      </p:sp>
      <p:sp>
        <p:nvSpPr>
          <p:cNvPr id="15" name="Body 03"/>
          <p:cNvSpPr/>
          <p:nvPr/>
        </p:nvSpPr>
        <p:spPr>
          <a:xfrm>
            <a:off x="5220000" y="2360000"/>
            <a:ext cx="1790000" cy="2140000"/>
          </a:xfrm>
          <a:prstGeom prst="roundRect">
            <a:avLst/>
          </a:prstGeom>
          <a:noFill/>
          <a:ln>
            <a:noFill/>
          </a:ln>
        </p:spPr>
        <p:txBody>
          <a:bodyPr wrap="square" lIns="50000" tIns="50000" rIns="50000" bIns="50000" anchor="t"/>
          <a:lstStyle/>
          <a:p>
            <a:r>
              <a:rPr lang="zh-CN" sz="11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游客在 APP 使用账户票券或核销码进入团体票券</a:t>
            </a:r>
            <a:r>
              <a:rPr lang="en-US" altLang="zh-CN" sz="11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1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租车券</a:t>
            </a:r>
            <a:r>
              <a:rPr lang="en-US" altLang="zh-CN" sz="11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sz="11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模式。</a:t>
            </a:r>
            <a:endParaRPr lang="zh-CN" sz="118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1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服务、时间、据点锁定，只查询固定条件下实时可用车辆。</a:t>
            </a:r>
            <a:endParaRPr lang="zh-CN" sz="1180" dirty="0"/>
          </a:p>
        </p:txBody>
      </p:sp>
      <p:sp>
        <p:nvSpPr>
          <p:cNvPr id="16" name="Arrow"/>
          <p:cNvSpPr/>
          <p:nvPr/>
        </p:nvSpPr>
        <p:spPr>
          <a:xfrm>
            <a:off x="7160000" y="3010000"/>
            <a:ext cx="210000" cy="24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400" b="1" dirty="0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zh-CN" sz="2400" dirty="0"/>
          </a:p>
        </p:txBody>
      </p:sp>
      <p:sp>
        <p:nvSpPr>
          <p:cNvPr id="17" name="Card 04"/>
          <p:cNvSpPr/>
          <p:nvPr/>
        </p:nvSpPr>
        <p:spPr>
          <a:xfrm>
            <a:off x="7340000" y="1630000"/>
            <a:ext cx="2070000" cy="303000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8D7E1"/>
            </a:solidFill>
          </a:ln>
        </p:spPr>
      </p:sp>
      <p:sp>
        <p:nvSpPr>
          <p:cNvPr id="18" name="Num 04"/>
          <p:cNvSpPr/>
          <p:nvPr/>
        </p:nvSpPr>
        <p:spPr>
          <a:xfrm>
            <a:off x="7470000" y="1770000"/>
            <a:ext cx="420000" cy="420000"/>
          </a:xfrm>
          <a:prstGeom prst="ellipse">
            <a:avLst/>
          </a:prstGeom>
          <a:solidFill>
            <a:srgbClr val="00689E"/>
          </a:solidFill>
          <a:ln w="12700">
            <a:solidFill>
              <a:srgbClr val="00689E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sz="1600" dirty="0"/>
          </a:p>
        </p:txBody>
      </p:sp>
      <p:sp>
        <p:nvSpPr>
          <p:cNvPr id="19" name="Title 04"/>
          <p:cNvSpPr/>
          <p:nvPr/>
        </p:nvSpPr>
        <p:spPr>
          <a:xfrm>
            <a:off x="7960000" y="1790000"/>
            <a:ext cx="1300000" cy="38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18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订单履约</a:t>
            </a:r>
            <a:endParaRPr lang="zh-CN" sz="1800" dirty="0"/>
          </a:p>
        </p:txBody>
      </p:sp>
      <p:sp>
        <p:nvSpPr>
          <p:cNvPr id="20" name="Body 04"/>
          <p:cNvSpPr/>
          <p:nvPr/>
        </p:nvSpPr>
        <p:spPr>
          <a:xfrm>
            <a:off x="7480000" y="2360000"/>
            <a:ext cx="1790000" cy="2140000"/>
          </a:xfrm>
          <a:prstGeom prst="roundRect">
            <a:avLst/>
          </a:prstGeom>
          <a:noFill/>
          <a:ln>
            <a:noFill/>
          </a:ln>
        </p:spPr>
        <p:txBody>
          <a:bodyPr wrap="square" lIns="50000" tIns="50000" rIns="50000" bIns="50000" anchor="t"/>
          <a:lstStyle/>
          <a:p>
            <a:r>
              <a:rPr lang="zh-CN" sz="11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创建同站租还订单后核销码置为已核销。</a:t>
            </a:r>
            <a:endParaRPr lang="zh-CN" sz="118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1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游客应付 0 元，不走个人预授权、支付和退款。</a:t>
            </a:r>
            <a:endParaRPr lang="zh-CN" sz="1180" dirty="0"/>
          </a:p>
        </p:txBody>
      </p:sp>
      <p:sp>
        <p:nvSpPr>
          <p:cNvPr id="21" name="Arrow"/>
          <p:cNvSpPr/>
          <p:nvPr/>
        </p:nvSpPr>
        <p:spPr>
          <a:xfrm>
            <a:off x="9420000" y="3010000"/>
            <a:ext cx="210000" cy="24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400" b="1" dirty="0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zh-CN" sz="2400" dirty="0"/>
          </a:p>
        </p:txBody>
      </p:sp>
      <p:sp>
        <p:nvSpPr>
          <p:cNvPr id="22" name="Card 05"/>
          <p:cNvSpPr/>
          <p:nvPr/>
        </p:nvSpPr>
        <p:spPr>
          <a:xfrm>
            <a:off x="9600000" y="1630000"/>
            <a:ext cx="2070000" cy="30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1"/>
            </a:solidFill>
          </a:ln>
        </p:spPr>
      </p:sp>
      <p:sp>
        <p:nvSpPr>
          <p:cNvPr id="23" name="Num 05"/>
          <p:cNvSpPr/>
          <p:nvPr/>
        </p:nvSpPr>
        <p:spPr>
          <a:xfrm>
            <a:off x="9730000" y="1770000"/>
            <a:ext cx="420000" cy="420000"/>
          </a:xfrm>
          <a:prstGeom prst="ellipse">
            <a:avLst/>
          </a:prstGeom>
          <a:solidFill>
            <a:srgbClr val="00689E"/>
          </a:solidFill>
          <a:ln w="12700">
            <a:solidFill>
              <a:srgbClr val="00689E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zh-CN" sz="1600" dirty="0"/>
          </a:p>
        </p:txBody>
      </p:sp>
      <p:sp>
        <p:nvSpPr>
          <p:cNvPr id="24" name="Title 05"/>
          <p:cNvSpPr/>
          <p:nvPr/>
        </p:nvSpPr>
        <p:spPr>
          <a:xfrm>
            <a:off x="10220000" y="1790000"/>
            <a:ext cx="1300000" cy="38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18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费用核对</a:t>
            </a:r>
            <a:endParaRPr lang="zh-CN" sz="1800" dirty="0"/>
          </a:p>
        </p:txBody>
      </p:sp>
      <p:sp>
        <p:nvSpPr>
          <p:cNvPr id="25" name="Body 05"/>
          <p:cNvSpPr/>
          <p:nvPr/>
        </p:nvSpPr>
        <p:spPr>
          <a:xfrm>
            <a:off x="9740000" y="2360000"/>
            <a:ext cx="1790000" cy="2140000"/>
          </a:xfrm>
          <a:prstGeom prst="roundRect">
            <a:avLst/>
          </a:prstGeom>
          <a:noFill/>
          <a:ln>
            <a:noFill/>
          </a:ln>
        </p:spPr>
        <p:txBody>
          <a:bodyPr wrap="square" lIns="50000" tIns="50000" rIns="50000" bIns="50000" anchor="t"/>
          <a:lstStyle/>
          <a:p>
            <a:r>
              <a:rPr lang="zh-CN" sz="11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还车后按同站租还规则计算实际费用。</a:t>
            </a:r>
            <a:endParaRPr lang="zh-CN" sz="118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1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费用记录到旅行社企业名下；营运端和企业端查看批次、核销码、订单并导出核对。</a:t>
            </a:r>
            <a:endParaRPr lang="zh-CN" sz="1180" dirty="0"/>
          </a:p>
        </p:txBody>
      </p:sp>
      <p:sp>
        <p:nvSpPr>
          <p:cNvPr id="26" name="关键边界 Box"/>
          <p:cNvSpPr/>
          <p:nvPr/>
        </p:nvSpPr>
        <p:spPr>
          <a:xfrm>
            <a:off x="700000" y="5060000"/>
            <a:ext cx="3450000" cy="76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4DEE8"/>
            </a:solidFill>
          </a:ln>
        </p:spPr>
      </p:sp>
      <p:sp>
        <p:nvSpPr>
          <p:cNvPr id="27" name="关键边界"/>
          <p:cNvSpPr/>
          <p:nvPr/>
        </p:nvSpPr>
        <p:spPr>
          <a:xfrm>
            <a:off x="850000" y="5160000"/>
            <a:ext cx="900000" cy="23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1250" b="1" dirty="0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关键</a:t>
            </a:r>
            <a:r>
              <a:rPr lang="zh-CN" sz="1250" b="1" dirty="0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约束</a:t>
            </a:r>
            <a:endParaRPr lang="zh-CN" sz="1250" b="1" dirty="0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关键边界 Body"/>
          <p:cNvSpPr/>
          <p:nvPr/>
        </p:nvSpPr>
        <p:spPr>
          <a:xfrm>
            <a:off x="850000" y="5430000"/>
            <a:ext cx="3150000" cy="35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10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本期只支持同站租还，不支持甲租乙还</a:t>
            </a:r>
            <a:endParaRPr lang="zh-CN" sz="1050" dirty="0"/>
          </a:p>
        </p:txBody>
      </p:sp>
      <p:sp>
        <p:nvSpPr>
          <p:cNvPr id="29" name="状态闭环 Box"/>
          <p:cNvSpPr/>
          <p:nvPr/>
        </p:nvSpPr>
        <p:spPr>
          <a:xfrm>
            <a:off x="4350000" y="5060000"/>
            <a:ext cx="3450000" cy="76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4DEE8"/>
            </a:solidFill>
          </a:ln>
        </p:spPr>
      </p:sp>
      <p:sp>
        <p:nvSpPr>
          <p:cNvPr id="30" name="状态闭环"/>
          <p:cNvSpPr/>
          <p:nvPr/>
        </p:nvSpPr>
        <p:spPr>
          <a:xfrm>
            <a:off x="4500000" y="5160000"/>
            <a:ext cx="900000" cy="23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1250" b="1" dirty="0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状态闭环</a:t>
            </a:r>
            <a:endParaRPr lang="zh-CN" sz="1250" dirty="0"/>
          </a:p>
        </p:txBody>
      </p:sp>
      <p:sp>
        <p:nvSpPr>
          <p:cNvPr id="31" name="状态闭环 Body"/>
          <p:cNvSpPr/>
          <p:nvPr/>
        </p:nvSpPr>
        <p:spPr>
          <a:xfrm>
            <a:off x="4500000" y="5430000"/>
            <a:ext cx="3150000" cy="35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10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取消订单后核销码恢复未核销；未过期前允许重新预约，超过可用时间段后失效。</a:t>
            </a:r>
            <a:endParaRPr lang="zh-CN" sz="1050" dirty="0"/>
          </a:p>
        </p:txBody>
      </p:sp>
      <p:sp>
        <p:nvSpPr>
          <p:cNvPr id="32" name="车辆规则 Box"/>
          <p:cNvSpPr/>
          <p:nvPr/>
        </p:nvSpPr>
        <p:spPr>
          <a:xfrm>
            <a:off x="8000000" y="5060000"/>
            <a:ext cx="3450000" cy="76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4DEE8"/>
            </a:solidFill>
          </a:ln>
        </p:spPr>
      </p:sp>
      <p:sp>
        <p:nvSpPr>
          <p:cNvPr id="33" name="车辆规则"/>
          <p:cNvSpPr/>
          <p:nvPr/>
        </p:nvSpPr>
        <p:spPr>
          <a:xfrm>
            <a:off x="8150000" y="5160000"/>
            <a:ext cx="900000" cy="23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1250" b="1" dirty="0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车辆规则</a:t>
            </a:r>
            <a:endParaRPr lang="zh-CN" sz="1250" dirty="0"/>
          </a:p>
        </p:txBody>
      </p:sp>
      <p:sp>
        <p:nvSpPr>
          <p:cNvPr id="34" name="车辆规则 Body"/>
          <p:cNvSpPr/>
          <p:nvPr/>
        </p:nvSpPr>
        <p:spPr>
          <a:xfrm>
            <a:off x="8150000" y="5430000"/>
            <a:ext cx="3150000" cy="35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10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不做车辆预留；团体票券专用据点不对普通用户开放，仅在核销码校验后可查。</a:t>
            </a:r>
            <a:endParaRPr lang="zh-CN" sz="1050" dirty="0"/>
          </a:p>
        </p:txBody>
      </p:sp>
      <p:sp>
        <p:nvSpPr>
          <p:cNvPr id="39" name="Footer"/>
          <p:cNvSpPr/>
          <p:nvPr/>
        </p:nvSpPr>
        <p:spPr>
          <a:xfrm>
            <a:off x="610000" y="6220000"/>
            <a:ext cx="10800000" cy="28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zh-CN" sz="11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游客仍为个人会员，不生成旅行社员工关系；旅行社是费用承担方和核对方。</a:t>
            </a:r>
            <a:endParaRPr lang="zh-CN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"/>
          <p:cNvSpPr txBox="1"/>
          <p:nvPr/>
        </p:nvSpPr>
        <p:spPr>
          <a:xfrm>
            <a:off x="594360" y="50292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为什么</a:t>
            </a:r>
            <a:r>
              <a:rPr lang="zh-CN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用这种方案</a:t>
            </a:r>
            <a:endParaRPr lang="zh-CN"/>
          </a:p>
        </p:txBody>
      </p:sp>
      <p:sp>
        <p:nvSpPr>
          <p:cNvPr id="21" name="Box"/>
          <p:cNvSpPr/>
          <p:nvPr/>
        </p:nvSpPr>
        <p:spPr>
          <a:xfrm>
            <a:off x="594360" y="1097280"/>
            <a:ext cx="9875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777240" y="1417320"/>
            <a:ext cx="985647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这个场景本质仍是租车订单，游客最终还是创建同站租还订单并完成取还车。</a:t>
            </a:r>
            <a:endParaRPr lang="zh-CN"/>
          </a:p>
        </p:txBody>
      </p:sp>
      <p:sp>
        <p:nvSpPr>
          <p:cNvPr id="23" name="Text"/>
          <p:cNvSpPr txBox="1"/>
          <p:nvPr/>
        </p:nvSpPr>
        <p:spPr>
          <a:xfrm>
            <a:off x="777240" y="1984375"/>
            <a:ext cx="985647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不新增旅游团租车业务线，避免重做订单、车辆、计费、取还车、账单和企业端能力。</a:t>
            </a:r>
            <a:endParaRPr lang="zh-CN"/>
          </a:p>
        </p:txBody>
      </p:sp>
      <p:sp>
        <p:nvSpPr>
          <p:cNvPr id="24" name="Text"/>
          <p:cNvSpPr txBox="1"/>
          <p:nvPr/>
        </p:nvSpPr>
        <p:spPr>
          <a:xfrm>
            <a:off x="777240" y="2492375"/>
            <a:ext cx="985647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旅行社是费用承担方和核对方，不是游客所属企业，不生成员工关系。</a:t>
            </a:r>
            <a:endParaRPr lang="zh-CN"/>
          </a:p>
        </p:txBody>
      </p:sp>
      <p:sp>
        <p:nvSpPr>
          <p:cNvPr id="25" name="Text"/>
          <p:cNvSpPr txBox="1"/>
          <p:nvPr/>
        </p:nvSpPr>
        <p:spPr>
          <a:xfrm>
            <a:off x="777240" y="3058795"/>
            <a:ext cx="985647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团体票券不是普通优惠券，它同时影响预约入口、固定条件、支付链路和费用归属。</a:t>
            </a:r>
            <a:endParaRPr lang="zh-CN"/>
          </a:p>
        </p:txBody>
      </p:sp>
      <p:sp>
        <p:nvSpPr>
          <p:cNvPr id="26" name="Text"/>
          <p:cNvSpPr txBox="1"/>
          <p:nvPr/>
        </p:nvSpPr>
        <p:spPr>
          <a:xfrm>
            <a:off x="777240" y="3644265"/>
            <a:ext cx="985647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租车券</a:t>
            </a:r>
            <a:r>
              <a:rPr lang="en-US" alt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核销码</a:t>
            </a:r>
            <a:r>
              <a:rPr lang="en-US" alt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作为前置入口，主流程继续复用成熟的同站租还能力。</a:t>
            </a:r>
            <a:endParaRPr lang="zh-CN"/>
          </a:p>
        </p:txBody>
      </p:sp>
      <p:sp>
        <p:nvSpPr>
          <p:cNvPr id="27" name="Box"/>
          <p:cNvSpPr/>
          <p:nvPr/>
        </p:nvSpPr>
        <p:spPr>
          <a:xfrm>
            <a:off x="911860" y="5445125"/>
            <a:ext cx="9601200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 wrap="square" anchor="ctr"/>
          <a:lstStyle/>
          <a:p>
            <a:pPr algn="l"/>
            <a:r>
              <a:rPr lang="zh-CN"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结论：最小改造、逻辑</a:t>
            </a:r>
            <a:r>
              <a:rPr lang="zh-CN"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闭环、上线风险最低的实现方式。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"/>
          <p:cNvSpPr txBox="1"/>
          <p:nvPr/>
        </p:nvSpPr>
        <p:spPr>
          <a:xfrm>
            <a:off x="594360" y="50292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APP 需要怎么改</a:t>
            </a:r>
            <a:endParaRPr lang="zh-CN"/>
          </a:p>
        </p:txBody>
      </p:sp>
      <p:sp>
        <p:nvSpPr>
          <p:cNvPr id="48" name="Box"/>
          <p:cNvSpPr/>
          <p:nvPr/>
        </p:nvSpPr>
        <p:spPr>
          <a:xfrm>
            <a:off x="594360" y="1097280"/>
            <a:ext cx="9875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ext"/>
          <p:cNvSpPr txBox="1"/>
          <p:nvPr/>
        </p:nvSpPr>
        <p:spPr>
          <a:xfrm>
            <a:off x="777240" y="1417320"/>
            <a:ext cx="10561320" cy="97218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首页在同站租还页增加“使用团体票券”入口，优先展示账号内已发放票券。</a:t>
            </a:r>
            <a:endParaRPr lang="zh-CN" sz="20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20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用户可以手动选择</a:t>
            </a:r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使用已发放到本人账户的核销码，未到可用时间时提示可使用时间。</a:t>
            </a:r>
            <a:endParaRPr lang="zh-CN"/>
          </a:p>
        </p:txBody>
      </p:sp>
      <p:sp>
        <p:nvSpPr>
          <p:cNvPr id="50" name="Text"/>
          <p:cNvSpPr txBox="1"/>
          <p:nvPr/>
        </p:nvSpPr>
        <p:spPr>
          <a:xfrm>
            <a:off x="777240" y="2492375"/>
            <a:ext cx="10561320" cy="79184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票券校验成功后进入团体票券模式，展示批次、旅行社、固定据点、固定取还时间和可用时间段。</a:t>
            </a:r>
            <a:endParaRPr lang="zh-CN"/>
          </a:p>
        </p:txBody>
      </p:sp>
      <p:sp>
        <p:nvSpPr>
          <p:cNvPr id="51" name="Text"/>
          <p:cNvSpPr txBox="1"/>
          <p:nvPr/>
        </p:nvSpPr>
        <p:spPr>
          <a:xfrm>
            <a:off x="777240" y="3356356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预约页复用同站租还页面，但服务、时间和据点只读锁定。</a:t>
            </a:r>
            <a:endParaRPr lang="zh-CN"/>
          </a:p>
        </p:txBody>
      </p:sp>
      <p:sp>
        <p:nvSpPr>
          <p:cNvPr id="52" name="Text"/>
          <p:cNvSpPr txBox="1"/>
          <p:nvPr/>
        </p:nvSpPr>
        <p:spPr>
          <a:xfrm>
            <a:off x="777240" y="3923284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预约页展示“团体票券”标签和专案说明。</a:t>
            </a:r>
            <a:endParaRPr lang="zh-CN"/>
          </a:p>
        </p:txBody>
      </p:sp>
      <p:sp>
        <p:nvSpPr>
          <p:cNvPr id="53" name="Text"/>
          <p:cNvSpPr txBox="1"/>
          <p:nvPr/>
        </p:nvSpPr>
        <p:spPr>
          <a:xfrm>
            <a:off x="777240" y="4490212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团体票券模式下不展示或置灰优惠券、积分/Z游金和加购项目。</a:t>
            </a:r>
            <a:endParaRPr lang="zh-CN"/>
          </a:p>
        </p:txBody>
      </p:sp>
      <p:sp>
        <p:nvSpPr>
          <p:cNvPr id="54" name="Text"/>
          <p:cNvSpPr txBox="1"/>
          <p:nvPr/>
        </p:nvSpPr>
        <p:spPr>
          <a:xfrm>
            <a:off x="777240" y="5057140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费用区展示游客应付 0 元，费用归属旅行社企业，提交按钮为“使用票券预约”。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"/>
          <p:cNvSpPr txBox="1"/>
          <p:nvPr/>
        </p:nvSpPr>
        <p:spPr>
          <a:xfrm>
            <a:off x="594360" y="50292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APP 需要怎么改</a:t>
            </a:r>
            <a:endParaRPr lang="zh-CN"/>
          </a:p>
        </p:txBody>
      </p:sp>
      <p:sp>
        <p:nvSpPr>
          <p:cNvPr id="48" name="Box"/>
          <p:cNvSpPr/>
          <p:nvPr/>
        </p:nvSpPr>
        <p:spPr>
          <a:xfrm>
            <a:off x="594360" y="1097280"/>
            <a:ext cx="9875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180" y="1262380"/>
            <a:ext cx="2546985" cy="55397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5640" y="1261745"/>
            <a:ext cx="2546985" cy="553974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3810000" y="5762625"/>
            <a:ext cx="1358265" cy="36258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/>
              <a:t>票券核销</a:t>
            </a:r>
            <a:endParaRPr lang="zh-CN" altLang="en-US" sz="1400"/>
          </a:p>
        </p:txBody>
      </p:sp>
      <p:sp>
        <p:nvSpPr>
          <p:cNvPr id="6" name="圆角矩形 5"/>
          <p:cNvSpPr/>
          <p:nvPr/>
        </p:nvSpPr>
        <p:spPr>
          <a:xfrm>
            <a:off x="3292475" y="3717290"/>
            <a:ext cx="2439670" cy="247777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374390" y="4218305"/>
            <a:ext cx="2284730" cy="3625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245" y="1196340"/>
            <a:ext cx="2411730" cy="5244465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6096000" y="2873375"/>
            <a:ext cx="2304415" cy="565150"/>
          </a:xfrm>
          <a:prstGeom prst="rect">
            <a:avLst/>
          </a:prstGeom>
          <a:solidFill>
            <a:schemeClr val="bg1">
              <a:lumMod val="85000"/>
              <a:alpha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置灰或隐藏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096000" y="4692650"/>
            <a:ext cx="2304415" cy="1397000"/>
          </a:xfrm>
          <a:prstGeom prst="rect">
            <a:avLst/>
          </a:prstGeom>
          <a:solidFill>
            <a:schemeClr val="bg1">
              <a:lumMod val="85000"/>
              <a:alpha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置灰或隐藏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096000" y="3500755"/>
            <a:ext cx="2304415" cy="1160145"/>
          </a:xfrm>
          <a:prstGeom prst="rect">
            <a:avLst/>
          </a:prstGeom>
          <a:solidFill>
            <a:schemeClr val="bg1">
              <a:lumMod val="85000"/>
              <a:alpha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置灰</a:t>
            </a:r>
            <a:r>
              <a:rPr lang="zh-CN" altLang="en-US">
                <a:solidFill>
                  <a:schemeClr val="tx1"/>
                </a:solidFill>
              </a:rPr>
              <a:t>不可选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6286500" y="6524625"/>
            <a:ext cx="1885950" cy="36258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/>
              <a:t>使用</a:t>
            </a:r>
            <a:r>
              <a:rPr lang="zh-CN" altLang="en-US" sz="1400"/>
              <a:t>租车券预约</a:t>
            </a:r>
            <a:endParaRPr lang="zh-CN" altLang="en-US" sz="1400"/>
          </a:p>
        </p:txBody>
      </p:sp>
      <p:sp>
        <p:nvSpPr>
          <p:cNvPr id="18" name="圆角矩形 17"/>
          <p:cNvSpPr/>
          <p:nvPr/>
        </p:nvSpPr>
        <p:spPr>
          <a:xfrm>
            <a:off x="6077585" y="6141720"/>
            <a:ext cx="2322830" cy="36322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应付：</a:t>
            </a:r>
            <a:r>
              <a:rPr lang="en-US" altLang="zh-CN" sz="1400">
                <a:solidFill>
                  <a:schemeClr val="tx1"/>
                </a:solidFill>
              </a:rPr>
              <a:t>0 </a:t>
            </a:r>
            <a:r>
              <a:rPr lang="zh-CN" altLang="en-US" sz="1400">
                <a:solidFill>
                  <a:schemeClr val="tx1"/>
                </a:solidFill>
              </a:rPr>
              <a:t>（</a:t>
            </a:r>
            <a:r>
              <a:rPr lang="en-US" altLang="zh-CN" sz="1400">
                <a:solidFill>
                  <a:schemeClr val="tx1"/>
                </a:solidFill>
              </a:rPr>
              <a:t>XX</a:t>
            </a:r>
            <a:r>
              <a:rPr lang="zh-CN" altLang="en-US" sz="1400">
                <a:solidFill>
                  <a:schemeClr val="tx1"/>
                </a:solidFill>
              </a:rPr>
              <a:t>旅行社）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2515235" y="6309360"/>
            <a:ext cx="431800" cy="4318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波形 19"/>
          <p:cNvSpPr/>
          <p:nvPr/>
        </p:nvSpPr>
        <p:spPr>
          <a:xfrm>
            <a:off x="2659380" y="6417310"/>
            <a:ext cx="143510" cy="215900"/>
          </a:xfrm>
          <a:prstGeom prst="wav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716020" y="3828415"/>
            <a:ext cx="159321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可用租车券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647440" y="4218305"/>
            <a:ext cx="188912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>
                <a:sym typeface="+mn-ea"/>
              </a:rPr>
              <a:t>金门5月</a:t>
            </a:r>
            <a:r>
              <a:rPr lang="en-US" altLang="zh-CN" sz="1000">
                <a:sym typeface="+mn-ea"/>
              </a:rPr>
              <a:t>A</a:t>
            </a:r>
            <a:r>
              <a:rPr lang="zh-CN" altLang="en-US" sz="1000">
                <a:sym typeface="+mn-ea"/>
              </a:rPr>
              <a:t>团用车券</a:t>
            </a:r>
            <a:r>
              <a:rPr lang="en-US" altLang="zh-CN" sz="1000">
                <a:sym typeface="+mn-ea"/>
              </a:rPr>
              <a:t>-</a:t>
            </a:r>
            <a:r>
              <a:rPr lang="en-US" altLang="zh-CN" sz="1000">
                <a:sym typeface="+mn-ea"/>
              </a:rPr>
              <a:t>A001</a:t>
            </a:r>
            <a:endParaRPr lang="en-US" altLang="zh-CN" sz="1000"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647440" y="4394835"/>
            <a:ext cx="1247140" cy="198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700">
                <a:sym typeface="+mn-ea"/>
              </a:rPr>
              <a:t>2026/05/05 - 2026/05/21</a:t>
            </a:r>
            <a:endParaRPr lang="en-US" altLang="en-US" sz="700">
              <a:sym typeface="+mn-ea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5339080" y="4323080"/>
            <a:ext cx="168910" cy="1720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动作按钮: 信息 25"/>
          <p:cNvSpPr/>
          <p:nvPr/>
        </p:nvSpPr>
        <p:spPr>
          <a:xfrm>
            <a:off x="3431540" y="4300855"/>
            <a:ext cx="215900" cy="215900"/>
          </a:xfrm>
          <a:prstGeom prst="actionButtonInformation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5231765" y="6309360"/>
            <a:ext cx="431800" cy="4318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波形 27"/>
          <p:cNvSpPr/>
          <p:nvPr/>
        </p:nvSpPr>
        <p:spPr>
          <a:xfrm>
            <a:off x="5375910" y="6417310"/>
            <a:ext cx="143510" cy="215900"/>
          </a:xfrm>
          <a:prstGeom prst="wav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021455" y="5880100"/>
            <a:ext cx="87312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>
                <a:solidFill>
                  <a:schemeClr val="accent4">
                    <a:lumMod val="75000"/>
                  </a:schemeClr>
                </a:solidFill>
                <a:sym typeface="+mn-ea"/>
              </a:rPr>
              <a:t>已使用</a:t>
            </a:r>
            <a:r>
              <a:rPr lang="en-US" altLang="zh-CN" sz="1000">
                <a:solidFill>
                  <a:schemeClr val="accent4">
                    <a:lumMod val="75000"/>
                  </a:schemeClr>
                </a:solidFill>
                <a:sym typeface="+mn-ea"/>
              </a:rPr>
              <a:t>/</a:t>
            </a:r>
            <a:r>
              <a:rPr lang="zh-CN" altLang="en-US" sz="1000">
                <a:solidFill>
                  <a:schemeClr val="accent4">
                    <a:lumMod val="75000"/>
                  </a:schemeClr>
                </a:solidFill>
                <a:sym typeface="+mn-ea"/>
              </a:rPr>
              <a:t>过期</a:t>
            </a:r>
            <a:endParaRPr lang="zh-CN" altLang="en-US" sz="1000">
              <a:solidFill>
                <a:schemeClr val="accent4">
                  <a:lumMod val="75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"/>
          <p:cNvSpPr txBox="1"/>
          <p:nvPr/>
        </p:nvSpPr>
        <p:spPr>
          <a:xfrm>
            <a:off x="594360" y="50292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后台、企业端和接口需要怎么改</a:t>
            </a:r>
            <a:endParaRPr lang="zh-CN"/>
          </a:p>
        </p:txBody>
      </p:sp>
      <p:sp>
        <p:nvSpPr>
          <p:cNvPr id="57" name="Box"/>
          <p:cNvSpPr/>
          <p:nvPr/>
        </p:nvSpPr>
        <p:spPr>
          <a:xfrm>
            <a:off x="594360" y="1097280"/>
            <a:ext cx="9875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Text"/>
          <p:cNvSpPr txBox="1"/>
          <p:nvPr/>
        </p:nvSpPr>
        <p:spPr>
          <a:xfrm>
            <a:off x="777240" y="1417320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营运端新增票券批次管理：必须汇入游客名单，导入异常不能创建批次。</a:t>
            </a:r>
            <a:endParaRPr lang="zh-CN"/>
          </a:p>
        </p:txBody>
      </p:sp>
      <p:sp>
        <p:nvSpPr>
          <p:cNvPr id="59" name="Text"/>
          <p:cNvSpPr txBox="1"/>
          <p:nvPr/>
        </p:nvSpPr>
        <p:spPr>
          <a:xfrm>
            <a:off x="777240" y="2061210"/>
            <a:ext cx="10546715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批次详情展示核销码列表：核销码、游客姓名、完整手机号、发放状态、核销状态、会员、订单号、核销时间。</a:t>
            </a:r>
            <a:endParaRPr lang="zh-CN"/>
          </a:p>
        </p:txBody>
      </p:sp>
      <p:sp>
        <p:nvSpPr>
          <p:cNvPr id="60" name="Text"/>
          <p:cNvSpPr txBox="1"/>
          <p:nvPr/>
        </p:nvSpPr>
        <p:spPr>
          <a:xfrm>
            <a:off x="777240" y="2915666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核销码列表支持导出；企业端复用同一页面结构，只读查看并导出本企业批次。</a:t>
            </a:r>
            <a:endParaRPr lang="zh-CN"/>
          </a:p>
        </p:txBody>
      </p:sp>
      <p:sp>
        <p:nvSpPr>
          <p:cNvPr id="61" name="Text"/>
          <p:cNvSpPr txBox="1"/>
          <p:nvPr/>
        </p:nvSpPr>
        <p:spPr>
          <a:xfrm>
            <a:off x="777240" y="3482340"/>
            <a:ext cx="107772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订单新增合作渠道票券字段和快照：批次、核销码、游客手机号、旅行社企业、固定时间、固定据点。</a:t>
            </a:r>
            <a:endParaRPr lang="zh-CN"/>
          </a:p>
        </p:txBody>
      </p:sp>
      <p:sp>
        <p:nvSpPr>
          <p:cNvPr id="62" name="Text"/>
          <p:cNvSpPr txBox="1"/>
          <p:nvPr/>
        </p:nvSpPr>
        <p:spPr>
          <a:xfrm>
            <a:off x="777240" y="4437380"/>
            <a:ext cx="10393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后端新增名单导入校验、注册后自动发放、核销码查询、票券订单创建、取消回滚和费用挂账等接口能力。</a:t>
            </a:r>
            <a:endParaRPr lang="zh-CN"/>
          </a:p>
        </p:txBody>
      </p:sp>
      <p:sp>
        <p:nvSpPr>
          <p:cNvPr id="63" name="Box"/>
          <p:cNvSpPr/>
          <p:nvPr/>
        </p:nvSpPr>
        <p:spPr>
          <a:xfrm>
            <a:off x="685800" y="5440680"/>
            <a:ext cx="9601200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 wrap="square" anchor="ctr"/>
          <a:lstStyle/>
          <a:p>
            <a:pPr algn="l"/>
            <a:r>
              <a:rPr lang="zh-CN"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实现：营运端可管理，企业端可核对，后端保证名单、发放、核销、导出和费用归属正确。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"/>
          <p:cNvSpPr txBox="1"/>
          <p:nvPr/>
        </p:nvSpPr>
        <p:spPr>
          <a:xfrm>
            <a:off x="594360" y="50292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后台、企业端和接口需要怎么改</a:t>
            </a:r>
            <a:endParaRPr lang="zh-CN"/>
          </a:p>
        </p:txBody>
      </p:sp>
      <p:sp>
        <p:nvSpPr>
          <p:cNvPr id="57" name="Box"/>
          <p:cNvSpPr/>
          <p:nvPr/>
        </p:nvSpPr>
        <p:spPr>
          <a:xfrm>
            <a:off x="594360" y="1097280"/>
            <a:ext cx="9875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384175" y="960120"/>
            <a:ext cx="11648440" cy="161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eaLnBrk="1" fontAlgn="auto" latinLnBrk="0" hangingPunct="1">
              <a:lnSpc>
                <a:spcPct val="15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营运端：新增票券批次管理页面：汇入名单、校验异常、生成核销码、查看和导出核销码列表，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fontAlgn="auto" latinLnBrk="0" hangingPunct="1">
              <a:lnSpc>
                <a:spcPct val="15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企业端：共用相同页面，仅做数据隔离和只读控制，可导出本企业批次核销码列表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0" eaLnBrk="1" fontAlgn="auto" latinLnBrk="0" hangingPunct="1">
              <a:lnSpc>
                <a:spcPct val="15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核心：用已发放票券与同站租还订单建立关联，将游客免支付订单费用归属到旅行社企业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fontAlgn="auto" latinLnBrk="0" hangingPunct="1">
              <a:lnSpc>
                <a:spcPct val="150000"/>
              </a:lnSpc>
            </a:pP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52015"/>
          <a:stretch>
            <a:fillRect/>
          </a:stretch>
        </p:blipFill>
        <p:spPr>
          <a:xfrm>
            <a:off x="304165" y="2277110"/>
            <a:ext cx="6747510" cy="16560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25" y="4004945"/>
            <a:ext cx="3400425" cy="32004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770" y="2315845"/>
            <a:ext cx="4928235" cy="41255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1585" y="4004945"/>
            <a:ext cx="3190875" cy="2762250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177800" y="3985260"/>
            <a:ext cx="6962775" cy="0"/>
          </a:xfrm>
          <a:prstGeom prst="line">
            <a:avLst/>
          </a:prstGeom>
          <a:ln>
            <a:solidFill>
              <a:srgbClr val="00689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3733800" y="4135120"/>
            <a:ext cx="0" cy="2660015"/>
          </a:xfrm>
          <a:prstGeom prst="line">
            <a:avLst/>
          </a:prstGeom>
          <a:ln>
            <a:solidFill>
              <a:srgbClr val="00689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158355" y="2277110"/>
            <a:ext cx="0" cy="4511675"/>
          </a:xfrm>
          <a:prstGeom prst="line">
            <a:avLst/>
          </a:prstGeom>
          <a:ln>
            <a:solidFill>
              <a:srgbClr val="00689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3287395" y="2421255"/>
            <a:ext cx="3001010" cy="49149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20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批次</a:t>
            </a:r>
            <a:r>
              <a:rPr lang="zh-CN" altLang="en-US" sz="20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列表</a:t>
            </a:r>
            <a:endParaRPr lang="zh-CN" altLang="en-US" sz="2000" b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96265" y="4135120"/>
            <a:ext cx="3001010" cy="49149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20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新建</a:t>
            </a:r>
            <a:r>
              <a:rPr lang="en-US" altLang="zh-CN" sz="20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/</a:t>
            </a:r>
            <a:r>
              <a:rPr lang="zh-CN" altLang="en-US" sz="20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编辑</a:t>
            </a:r>
            <a:r>
              <a:rPr lang="zh-CN" altLang="en-US" sz="20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批次</a:t>
            </a:r>
            <a:endParaRPr lang="zh-CN" altLang="en-US" sz="2000" b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935730" y="4135120"/>
            <a:ext cx="3001010" cy="49149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20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汇入游客</a:t>
            </a:r>
            <a:r>
              <a:rPr lang="zh-CN" altLang="en-US" sz="20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名单</a:t>
            </a:r>
            <a:endParaRPr lang="zh-CN" altLang="en-US" sz="2000" b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752080" y="2349500"/>
            <a:ext cx="3001010" cy="49149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20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批次</a:t>
            </a:r>
            <a:r>
              <a:rPr lang="zh-CN" altLang="en-US" sz="20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详情</a:t>
            </a:r>
            <a:endParaRPr lang="zh-CN" altLang="en-US" sz="2000" b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823835" y="4074795"/>
            <a:ext cx="3001010" cy="49149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20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核销码</a:t>
            </a:r>
            <a:r>
              <a:rPr lang="en-US" altLang="zh-CN" sz="20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</a:t>
            </a:r>
            <a:r>
              <a:rPr lang="zh-CN" altLang="en-US" sz="20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用车券</a:t>
            </a:r>
            <a:r>
              <a:rPr lang="en-US" altLang="zh-CN" sz="20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</a:t>
            </a:r>
            <a:r>
              <a:rPr lang="zh-CN" altLang="en-US" sz="20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的</a:t>
            </a:r>
            <a:r>
              <a:rPr lang="zh-CN" altLang="en-US" sz="20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清单</a:t>
            </a:r>
            <a:endParaRPr lang="zh-CN" altLang="en-US" sz="2000" b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"/>
          <p:cNvSpPr txBox="1"/>
          <p:nvPr/>
        </p:nvSpPr>
        <p:spPr>
          <a:xfrm>
            <a:off x="594360" y="50292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本期边界和后续扩展</a:t>
            </a:r>
            <a:endParaRPr lang="zh-CN"/>
          </a:p>
        </p:txBody>
      </p:sp>
      <p:sp>
        <p:nvSpPr>
          <p:cNvPr id="66" name="Box"/>
          <p:cNvSpPr/>
          <p:nvPr/>
        </p:nvSpPr>
        <p:spPr>
          <a:xfrm>
            <a:off x="594360" y="1097280"/>
            <a:ext cx="9875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Text"/>
          <p:cNvSpPr txBox="1"/>
          <p:nvPr/>
        </p:nvSpPr>
        <p:spPr>
          <a:xfrm>
            <a:off x="777240" y="1417320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本期只支持分时租赁同站租还，不支持甲租乙还和门市租赁。</a:t>
            </a:r>
            <a:endParaRPr lang="zh-CN"/>
          </a:p>
        </p:txBody>
      </p:sp>
      <p:sp>
        <p:nvSpPr>
          <p:cNvPr id="68" name="Text"/>
          <p:cNvSpPr txBox="1"/>
          <p:nvPr/>
        </p:nvSpPr>
        <p:spPr>
          <a:xfrm>
            <a:off x="777240" y="1984248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本期不做车辆预留，不写入车辆排程占用，也不保证每张票券查询时一定有车。</a:t>
            </a:r>
            <a:endParaRPr lang="zh-CN"/>
          </a:p>
        </p:txBody>
      </p:sp>
      <p:sp>
        <p:nvSpPr>
          <p:cNvPr id="69" name="Text"/>
          <p:cNvSpPr txBox="1"/>
          <p:nvPr/>
        </p:nvSpPr>
        <p:spPr>
          <a:xfrm>
            <a:off x="777240" y="2551176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本期不做完整合作渠道结算单、线上收款、发票和分账闭环。</a:t>
            </a:r>
            <a:endParaRPr lang="zh-CN"/>
          </a:p>
        </p:txBody>
      </p:sp>
      <p:sp>
        <p:nvSpPr>
          <p:cNvPr id="70" name="Text"/>
          <p:cNvSpPr txBox="1"/>
          <p:nvPr/>
        </p:nvSpPr>
        <p:spPr>
          <a:xfrm>
            <a:off x="777240" y="3118104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本期不支持票券退款、转让、拆分、合并。</a:t>
            </a:r>
            <a:endParaRPr lang="zh-CN"/>
          </a:p>
        </p:txBody>
      </p:sp>
      <p:sp>
        <p:nvSpPr>
          <p:cNvPr id="71" name="Text"/>
          <p:cNvSpPr txBox="1"/>
          <p:nvPr/>
        </p:nvSpPr>
        <p:spPr>
          <a:xfrm>
            <a:off x="777240" y="3685032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后续可扩展：渠道结算、旅行社对账、收款发票、更多服务模式。</a:t>
            </a:r>
            <a:endParaRPr lang="zh-CN"/>
          </a:p>
        </p:txBody>
      </p:sp>
      <p:sp>
        <p:nvSpPr>
          <p:cNvPr id="72" name="Box"/>
          <p:cNvSpPr/>
          <p:nvPr/>
        </p:nvSpPr>
        <p:spPr>
          <a:xfrm>
            <a:off x="685800" y="5440680"/>
            <a:ext cx="9601200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 wrap="square" anchor="ctr"/>
          <a:lstStyle/>
          <a:p>
            <a:pPr algn="l"/>
            <a:r>
              <a:rPr lang="zh-CN"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首期目标：先跑通“强制名单发券 + 游客免支付用车 + 旅行社承担费用 + 企业端核对导出”。</a:t>
            </a:r>
            <a:endParaRPr 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"/>
          <p:cNvSpPr txBox="1"/>
          <p:nvPr/>
        </p:nvSpPr>
        <p:spPr>
          <a:xfrm>
            <a:off x="594360" y="50292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预计工时</a:t>
            </a:r>
            <a:r>
              <a:rPr lang="en-US" altLang="zh-CN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工期</a:t>
            </a:r>
            <a:endParaRPr lang="zh-CN" altLang="en-US" sz="27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Box"/>
          <p:cNvSpPr/>
          <p:nvPr/>
        </p:nvSpPr>
        <p:spPr>
          <a:xfrm>
            <a:off x="594360" y="1097280"/>
            <a:ext cx="9875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Text"/>
          <p:cNvSpPr txBox="1"/>
          <p:nvPr/>
        </p:nvSpPr>
        <p:spPr>
          <a:xfrm>
            <a:off x="345440" y="2493010"/>
            <a:ext cx="690245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前端开发工时：</a:t>
            </a:r>
            <a:r>
              <a:rPr lang="en-US" alt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7 </a:t>
            </a:r>
            <a:r>
              <a:rPr lang="zh-CN" altLang="en-US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人天</a:t>
            </a:r>
            <a:r>
              <a:rPr lang="en-US" alt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endParaRPr lang="en-US" altLang="zh-CN" sz="20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Text"/>
          <p:cNvSpPr txBox="1"/>
          <p:nvPr/>
        </p:nvSpPr>
        <p:spPr>
          <a:xfrm>
            <a:off x="345440" y="3060065"/>
            <a:ext cx="690245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just" eaLnBrk="1" fontAlgn="auto" latinLnBrk="0" hangingPunct="1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后端开发工时：</a:t>
            </a:r>
            <a:r>
              <a:rPr lang="en-US" alt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en-US" alt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人天</a:t>
            </a:r>
            <a:endParaRPr lang="zh-CN" altLang="en-US" sz="20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Text"/>
          <p:cNvSpPr txBox="1"/>
          <p:nvPr/>
        </p:nvSpPr>
        <p:spPr>
          <a:xfrm>
            <a:off x="345440" y="3627120"/>
            <a:ext cx="690245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测试预留工时：</a:t>
            </a:r>
            <a:r>
              <a:rPr lang="en-US" alt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altLang="en-US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人天</a:t>
            </a:r>
            <a:endParaRPr lang="zh-CN" altLang="en-US" sz="20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Text"/>
          <p:cNvSpPr txBox="1"/>
          <p:nvPr/>
        </p:nvSpPr>
        <p:spPr>
          <a:xfrm>
            <a:off x="345440" y="4193540"/>
            <a:ext cx="690245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预计</a:t>
            </a:r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开发工期：</a:t>
            </a:r>
            <a:r>
              <a:rPr lang="en-US" alt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r>
              <a:rPr lang="en-US" alt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个工作日开发完成，</a:t>
            </a:r>
            <a:r>
              <a:rPr lang="en-US" alt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20 </a:t>
            </a:r>
            <a:r>
              <a:rPr lang="zh-CN" altLang="en-US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个工作日</a:t>
            </a:r>
            <a:r>
              <a:rPr lang="zh-CN" altLang="en-US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上线。</a:t>
            </a:r>
            <a:endParaRPr lang="zh-CN" altLang="en-US" sz="20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Box"/>
          <p:cNvSpPr/>
          <p:nvPr/>
        </p:nvSpPr>
        <p:spPr>
          <a:xfrm>
            <a:off x="685800" y="5440680"/>
            <a:ext cx="9601200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 wrap="square" anchor="ctr"/>
          <a:lstStyle/>
          <a:p>
            <a:pPr algn="l"/>
            <a:r>
              <a:rPr lang="zh-CN"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首期目标：先跑通“强制名单发券 + 游客免支付用车 + 旅行社承担费用 + 企业端核对导出”。</a:t>
            </a:r>
            <a:endParaRPr lang="zh-CN"/>
          </a:p>
        </p:txBody>
      </p:sp>
      <p:sp>
        <p:nvSpPr>
          <p:cNvPr id="2" name="文本框 1"/>
          <p:cNvSpPr txBox="1"/>
          <p:nvPr/>
        </p:nvSpPr>
        <p:spPr>
          <a:xfrm>
            <a:off x="911860" y="17875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原工时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工期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80325" y="17875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05/07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会议后调整工时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工期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96225" y="25304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</a:rPr>
              <a:t>不变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81305" y="2968625"/>
            <a:ext cx="10668000" cy="0"/>
          </a:xfrm>
          <a:prstGeom prst="line">
            <a:avLst/>
          </a:prstGeom>
          <a:ln>
            <a:solidFill>
              <a:srgbClr val="00689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81305" y="3549015"/>
            <a:ext cx="10668000" cy="0"/>
          </a:xfrm>
          <a:prstGeom prst="line">
            <a:avLst/>
          </a:prstGeom>
          <a:ln>
            <a:solidFill>
              <a:srgbClr val="00689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63525" y="4116070"/>
            <a:ext cx="10668000" cy="0"/>
          </a:xfrm>
          <a:prstGeom prst="line">
            <a:avLst/>
          </a:prstGeom>
          <a:ln>
            <a:solidFill>
              <a:srgbClr val="00689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7680325" y="1701800"/>
            <a:ext cx="0" cy="3215005"/>
          </a:xfrm>
          <a:prstGeom prst="line">
            <a:avLst/>
          </a:prstGeom>
          <a:ln>
            <a:solidFill>
              <a:srgbClr val="00689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7896225" y="31026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+7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人天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896225" y="36480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</a:rPr>
              <a:t>不变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96225" y="4236720"/>
            <a:ext cx="4264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个工作日开发完成，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个工作日上线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"/>
          <p:cNvSpPr txBox="1"/>
          <p:nvPr/>
        </p:nvSpPr>
        <p:spPr>
          <a:xfrm>
            <a:off x="594360" y="50292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altLang="en-US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其他全局性</a:t>
            </a:r>
            <a:r>
              <a:rPr lang="zh-CN" altLang="en-US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调整</a:t>
            </a:r>
            <a:endParaRPr lang="zh-CN" altLang="en-US" sz="27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Box"/>
          <p:cNvSpPr/>
          <p:nvPr/>
        </p:nvSpPr>
        <p:spPr>
          <a:xfrm>
            <a:off x="594360" y="1097280"/>
            <a:ext cx="9875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Text"/>
          <p:cNvSpPr txBox="1"/>
          <p:nvPr/>
        </p:nvSpPr>
        <p:spPr>
          <a:xfrm>
            <a:off x="777240" y="1417320"/>
            <a:ext cx="10140315" cy="84391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en-US" alt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APP</a:t>
            </a:r>
            <a:r>
              <a:rPr lang="zh-CN" altLang="en-US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：用户</a:t>
            </a:r>
            <a:r>
              <a:rPr lang="zh-CN" altLang="en-US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可不登陆，默认直接进入首页，可查看据点和据点车辆（车牌号预计要脱敏），点击预约车辆时跳转登入页，登入后才可正常预约。</a:t>
            </a:r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/>
          </a:p>
        </p:txBody>
      </p:sp>
      <p:sp>
        <p:nvSpPr>
          <p:cNvPr id="68" name="Text"/>
          <p:cNvSpPr txBox="1"/>
          <p:nvPr/>
        </p:nvSpPr>
        <p:spPr>
          <a:xfrm>
            <a:off x="777240" y="2708783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altLang="en-US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载具增加类型：1.汽车；2.摩托车；3.电动</a:t>
            </a:r>
            <a:r>
              <a:rPr lang="zh-CN" altLang="en-US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机车（无需驾照）</a:t>
            </a:r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/>
          </a:p>
        </p:txBody>
      </p:sp>
      <p:sp>
        <p:nvSpPr>
          <p:cNvPr id="2" name="文本框 1"/>
          <p:cNvSpPr txBox="1"/>
          <p:nvPr/>
        </p:nvSpPr>
        <p:spPr>
          <a:xfrm>
            <a:off x="982980" y="3213100"/>
            <a:ext cx="1020254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会员资料需要增加用户可用载具类型；</a:t>
            </a:r>
            <a:endParaRPr lang="zh-CN" altLang="en-US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会员审核时增加选择用户可用载具的选择，审核后保存至上条用户资料；</a:t>
            </a:r>
            <a:endParaRPr lang="zh-CN" altLang="en-US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用户预约时的资料判断，增加会员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可预约载具类型的判断，确认用户是否可预约对应的载具类型。</a:t>
            </a:r>
            <a:endParaRPr lang="zh-CN" altLang="en-US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9470" y="443738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工时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工期：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Text"/>
          <p:cNvSpPr txBox="1"/>
          <p:nvPr/>
        </p:nvSpPr>
        <p:spPr>
          <a:xfrm>
            <a:off x="777240" y="5013325"/>
            <a:ext cx="690245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前端开发工时：</a:t>
            </a:r>
            <a:r>
              <a:rPr lang="en-US" alt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人天</a:t>
            </a:r>
            <a:r>
              <a:rPr lang="en-US" alt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endParaRPr lang="en-US" altLang="zh-CN" sz="20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"/>
          <p:cNvSpPr txBox="1"/>
          <p:nvPr/>
        </p:nvSpPr>
        <p:spPr>
          <a:xfrm>
            <a:off x="777240" y="5589270"/>
            <a:ext cx="690245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just" eaLnBrk="1" fontAlgn="auto" latinLnBrk="0" hangingPunct="1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后端开发工时：</a:t>
            </a:r>
            <a:r>
              <a:rPr lang="en-US" alt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altLang="en-US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人天</a:t>
            </a:r>
            <a:endParaRPr lang="zh-CN" altLang="en-US" sz="20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"/>
          <p:cNvSpPr txBox="1"/>
          <p:nvPr/>
        </p:nvSpPr>
        <p:spPr>
          <a:xfrm>
            <a:off x="777240" y="6214745"/>
            <a:ext cx="690245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• 预计</a:t>
            </a:r>
            <a:r>
              <a:rPr 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开发工期：</a:t>
            </a:r>
            <a:r>
              <a:rPr lang="en-US" alt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个工作日开发完成，</a:t>
            </a:r>
            <a:r>
              <a:rPr lang="en-US" altLang="zh-CN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7</a:t>
            </a:r>
            <a:r>
              <a:rPr lang="zh-CN" altLang="en-US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个工作日</a:t>
            </a:r>
            <a:r>
              <a:rPr lang="zh-CN" altLang="en-US"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上线。</a:t>
            </a:r>
            <a:endParaRPr lang="zh-CN" altLang="en-US" sz="20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MO">
  <a:themeElements>
    <a:clrScheme name="RIMO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2D9C00"/>
      </a:accent1>
      <a:accent2>
        <a:srgbClr val="00689E"/>
      </a:accent2>
      <a:accent3>
        <a:srgbClr val="F59E0B"/>
      </a:accent3>
      <a:accent4>
        <a:srgbClr val="10B981"/>
      </a:accent4>
      <a:accent5>
        <a:srgbClr val="64748B"/>
      </a:accent5>
      <a:accent6>
        <a:srgbClr val="EF4444"/>
      </a:accent6>
      <a:hlink>
        <a:srgbClr val="00689E"/>
      </a:hlink>
      <a:folHlink>
        <a:srgbClr val="64748B"/>
      </a:folHlink>
    </a:clrScheme>
    <a:fontScheme name="RIMO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RIMO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2470</Words>
  <Application>WPS 演示</Application>
  <PresentationFormat>On-screen Show (16:9)</PresentationFormat>
  <Paragraphs>249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Calibri</vt:lpstr>
      <vt:lpstr>RIMO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RIMO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合作渠道团体票券预约方案说明</dc:title>
  <dc:creator>RIMO Product</dc:creator>
  <cp:lastModifiedBy>肖金鹏</cp:lastModifiedBy>
  <cp:revision>56</cp:revision>
  <dcterms:created xsi:type="dcterms:W3CDTF">2026-04-27T01:52:00Z</dcterms:created>
  <dcterms:modified xsi:type="dcterms:W3CDTF">2026-05-25T06:51:53Z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2052-12.1.0.26373</vt:lpwstr>
  </property>
  <property fmtid="{D5CDD505-2E9C-101B-9397-08002B2CF9AE}" pid="3" name="ICV">
    <vt:lpwstr>D4937B5443AF4CA798659F21615253CF_12</vt:lpwstr>
  </property>
</Properties>
</file>