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19653cbb1bf4326" /><Relationship Type="http://schemas.openxmlformats.org/officeDocument/2006/relationships/extended-properties" Target="/docProps/app.xml" Id="Rfd053596c87b44fe" /><Relationship Type="http://schemas.openxmlformats.org/officeDocument/2006/relationships/officeDocument" Target="/ppt/presentation.xml" Id="R7faf0e80359d4d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1045f3055724c10"/>
  </p:sldMasterIdLst>
  <p:notesMasterIdLst>
    <p:notesMasterId xmlns:r="http://schemas.openxmlformats.org/officeDocument/2006/relationships" r:id="Ref5304b090e64b78"/>
  </p:notesMasterIdLst>
  <p:sldIdLst>
    <p:sldId xmlns:r="http://schemas.openxmlformats.org/officeDocument/2006/relationships" id="256" r:id="Rc57b2744af9b4aa9"/>
  </p:sldIdLst>
  <p:sldSz cx="15240000" cy="8572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045f3055724c10" /><Relationship Type="http://schemas.openxmlformats.org/officeDocument/2006/relationships/theme" Target="/ppt/theme/theme1.xml" Id="R9695a02ccb6b41b3" /><Relationship Type="http://schemas.openxmlformats.org/officeDocument/2006/relationships/notesMaster" Target="/ppt/notesMasters/notesMaster1.xml" Id="Ref5304b090e64b78" /><Relationship Type="http://schemas.openxmlformats.org/officeDocument/2006/relationships/presProps" Target="/ppt/presProps.xml" Id="R64052610cb2a42c1" /><Relationship Type="http://schemas.openxmlformats.org/officeDocument/2006/relationships/viewProps" Target="/ppt/viewProps.xml" Id="R327a4539e4ad45cd" /><Relationship Type="http://schemas.openxmlformats.org/officeDocument/2006/relationships/tableStyles" Target="/ppt/tableStyles.xml" Id="Rc8f96e2671c14692" /><Relationship Type="http://schemas.openxmlformats.org/officeDocument/2006/relationships/slide" Target="/ppt/slides/slide1.xml" Id="Rc57b2744af9b4a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fa5e3991541498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e2cab5bb2f54c0c" /><Relationship Type="http://schemas.openxmlformats.org/officeDocument/2006/relationships/notesMaster" Target="/ppt/notesMasters/notesMaster1.xml" Id="Ra3c85d1cb0484ec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15cdf733fa424c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aadf17e31e3342d0" /><Relationship Type="http://schemas.openxmlformats.org/officeDocument/2006/relationships/slideLayout" Target="/ppt/slideLayouts/slideLayout2.xml" Id="R21f5df2c61da487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1f5df2c61da487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fc487faa0db4d3d" /><Relationship Type="http://schemas.openxmlformats.org/officeDocument/2006/relationships/notesSlide" Target="/ppt/notesSlides/notesSlide1.xml" Id="Rf46fb1411dfb4c1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64FE9F-7CFC-4AF5-938F-CFA34133D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F4BE0F-9F75-4896-8914-7F75ADCC4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8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628A6D-817E-4B4E-B7F5-D865F4BD6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590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4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242E"/>
                </a:solidFill>
                <a:latin typeface="Microsoft YaHei"/>
                <a:ea typeface="Microsoft YaHei"/>
                <a:cs typeface="Microsoft YaHei"/>
              </a:rPr>
              <a:t>RIMO Rental 平台整体架构图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0F67BA-8DBD-45D7-A3D9-EFF8CEC14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A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A6B74"/>
                </a:solidFill>
                <a:latin typeface="Microsoft YaHei"/>
                <a:ea typeface="Microsoft YaHei"/>
                <a:cs typeface="Microsoft YaHei"/>
              </a:rPr>
              <a:t>SaaS 控制层管理租户与渠道，营运平台实例承载租户业务数据，多端入口复用同一套租赁业务能力。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794B0F-42AE-4B94-A366-7E22660DE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51435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0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59F7F6-62D7-4319-8660-A336140C1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571500"/>
            <a:ext cx="1028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689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0689E"/>
                </a:solidFill>
                <a:latin typeface="Microsoft YaHei"/>
                <a:ea typeface="Microsoft YaHei"/>
                <a:cs typeface="Microsoft YaHei"/>
              </a:rPr>
              <a:t>产品业务架构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4E5C4E-2007-465C-BBF1-90ECA0C2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700" y="514350"/>
            <a:ext cx="1066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8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969134-B61F-4794-8D24-90D19B411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571500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#00689E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84DFD5-21C2-4A8E-98FB-C2385A36D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90650"/>
            <a:ext cx="300037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DFF"/>
          </a:solidFill>
          <a:ln xmlns:a="http://schemas.openxmlformats.org/drawingml/2006/main" w="9525">
            <a:solidFill>
              <a:srgbClr val="C9DD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AD65D1-ABB6-4CDB-B2A9-4087248EC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90650"/>
            <a:ext cx="5715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8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347B4C-B71F-44CF-9064-F9C01E077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38300"/>
            <a:ext cx="1028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0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E2016F-2963-42FF-A25C-1D37C7197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95450"/>
            <a:ext cx="800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689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0689E"/>
                </a:solidFill>
                <a:latin typeface="Microsoft YaHei"/>
                <a:ea typeface="Microsoft YaHei"/>
                <a:cs typeface="Microsoft YaHei"/>
              </a:rPr>
              <a:t>平台方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7387AC-7E34-49EA-B593-5173436EF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685925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A6B74"/>
                </a:solidFill>
                <a:latin typeface="Microsoft YaHei"/>
                <a:ea typeface="Microsoft YaHei"/>
                <a:cs typeface="Microsoft YaHei"/>
              </a:rPr>
              <a:t>SaaS 控制层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72C8BE-D98D-48B9-80E1-019E5EE7D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2286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CC8722-0FBB-4661-9121-7460F4C15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8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EA1155-3BFB-466C-8DB8-7ABE25920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28850"/>
            <a:ext cx="1943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689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689E"/>
                </a:solidFill>
                <a:latin typeface="Microsoft YaHei"/>
                <a:ea typeface="Microsoft YaHei"/>
                <a:cs typeface="Microsoft YaHei"/>
              </a:rPr>
              <a:t>客服系统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EE48C0-E8F4-40A8-B491-7029175B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14600"/>
            <a:ext cx="1943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A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5A6B74"/>
                </a:solidFill>
                <a:latin typeface="Microsoft YaHei"/>
                <a:ea typeface="Microsoft YaHei"/>
                <a:cs typeface="Microsoft YaHei"/>
              </a:rPr>
              <a:t>租户管理、实例归属、业务线授权、渠道与车机分配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FEEB35-8C1C-4F7F-99AF-46C763705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228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12AB1D-110F-4687-9482-CC4683DCA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47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8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4D3E65-8D07-49DF-82C9-FFB3288C0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57550"/>
            <a:ext cx="1943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4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242E"/>
                </a:solidFill>
                <a:latin typeface="Microsoft YaHei"/>
                <a:ea typeface="Microsoft YaHei"/>
                <a:cs typeface="Microsoft YaHei"/>
              </a:rPr>
              <a:t>租户 / 实例管理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0192CB-CBD6-4483-8AD4-6D298AE8D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43300"/>
            <a:ext cx="1943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A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5A6B74"/>
                </a:solidFill>
                <a:latin typeface="Microsoft YaHei"/>
                <a:ea typeface="Microsoft YaHei"/>
                <a:cs typeface="Microsoft YaHei"/>
              </a:rPr>
              <a:t>选择目标实例后创建租户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84D08C-6DF6-40F2-8037-240E8BEEE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228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8087B0-01B0-4871-9CF6-DBA5049D1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47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D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7593FF-D6FE-4180-8626-332C2E3F3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00500"/>
            <a:ext cx="1943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4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242E"/>
                </a:solidFill>
                <a:latin typeface="Microsoft YaHei"/>
                <a:ea typeface="Microsoft YaHei"/>
                <a:cs typeface="Microsoft YaHei"/>
              </a:rPr>
              <a:t>业务线授权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84C8D1-9487-4D98-B925-DB89FAC59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86250"/>
            <a:ext cx="1943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A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5A6B74"/>
                </a:solidFill>
                <a:latin typeface="Microsoft YaHei"/>
                <a:ea typeface="Microsoft YaHei"/>
                <a:cs typeface="Microsoft YaHei"/>
              </a:rPr>
              <a:t>授权菜单、订单前缀、默认管理员权限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B2C5DB-2F41-4413-8A2B-3E74DC0EF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91050"/>
            <a:ext cx="228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E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00D9A0-3196-46BD-89AD-F9082BBBC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91050"/>
            <a:ext cx="47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BFC9C5-C88A-401C-B696-ED63A18A2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43450"/>
            <a:ext cx="1943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4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242E"/>
                </a:solidFill>
                <a:latin typeface="Microsoft YaHei"/>
                <a:ea typeface="Microsoft YaHei"/>
                <a:cs typeface="Microsoft YaHei"/>
              </a:rPr>
              <a:t>渠道配置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0CDB51-3839-49D6-A20A-A1924412F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29200"/>
            <a:ext cx="1943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A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5A6B74"/>
                </a:solidFill>
                <a:latin typeface="Microsoft YaHei"/>
                <a:ea typeface="Microsoft YaHei"/>
                <a:cs typeface="Microsoft YaHei"/>
              </a:rPr>
              <a:t>支付、短信、发票按租户配置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B9ACE6-0845-45B5-A186-2B7AF3FB3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34000"/>
            <a:ext cx="228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E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014773-EA0B-4BFE-BC95-78407CB7E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34000"/>
            <a:ext cx="47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4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33189F-AEB6-446E-BECE-BF520374A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486400"/>
            <a:ext cx="1943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4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242E"/>
                </a:solidFill>
                <a:latin typeface="Microsoft YaHei"/>
                <a:ea typeface="Microsoft YaHei"/>
                <a:cs typeface="Microsoft YaHei"/>
              </a:rPr>
              <a:t>车机设备分配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A915365-DFBB-488E-83E3-4E64007EA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772150"/>
            <a:ext cx="1943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A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5A6B74"/>
                </a:solidFill>
                <a:latin typeface="Microsoft YaHei"/>
                <a:ea typeface="Microsoft YaHei"/>
                <a:cs typeface="Microsoft YaHei"/>
              </a:rPr>
              <a:t>平台设备分配到租户使用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8605855-912B-4787-9374-C71CC2291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15050"/>
            <a:ext cx="228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9DE"/>
          </a:solidFill>
          <a:ln xmlns:a="http://schemas.openxmlformats.org/drawingml/2006/main" w="9525">
            <a:solidFill>
              <a:srgbClr val="F0C7B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0B316FD-301A-4477-B7BF-6770DF49B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210300"/>
            <a:ext cx="1981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不直接进入租户业务明细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511A8C4-AE9A-4888-926A-6C7F8B44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390650"/>
            <a:ext cx="70485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E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DBF9DB7-04C7-452E-B904-D68FDD082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390650"/>
            <a:ext cx="5715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8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92DF610-2282-438A-AD85-97D4EF6D8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638300"/>
            <a:ext cx="1028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0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71A6061-939C-4895-8D34-7D8FD59E3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695450"/>
            <a:ext cx="800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689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0689E"/>
                </a:solidFill>
                <a:latin typeface="Microsoft YaHei"/>
                <a:ea typeface="Microsoft YaHei"/>
                <a:cs typeface="Microsoft YaHei"/>
              </a:rPr>
              <a:t>租户域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551DC3D-237D-4DDD-8AFB-A6801A051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685925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A6B74"/>
                </a:solidFill>
                <a:latin typeface="Microsoft YaHei"/>
                <a:ea typeface="Microsoft YaHei"/>
                <a:cs typeface="Microsoft YaHei"/>
              </a:rPr>
              <a:t>营运平台实例 + 租户业务后端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59A5C63-84DC-4594-BDFD-75BE32968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7645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DFF"/>
          </a:solidFill>
          <a:ln xmlns:a="http://schemas.openxmlformats.org/drawingml/2006/main" w="9525">
            <a:solidFill>
              <a:srgbClr val="C9DDE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0D1147E-309E-42DF-8C02-34DF3BC4D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76450"/>
            <a:ext cx="47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8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FC5C649-8D32-4B81-A0E8-239AB45E0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28850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24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3242E"/>
                </a:solidFill>
                <a:latin typeface="Microsoft YaHei"/>
                <a:ea typeface="Microsoft YaHei"/>
                <a:cs typeface="Microsoft YaHei"/>
              </a:rPr>
              <a:t>台湾实例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E108383-6C77-4699-AAD5-E360320FF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14600"/>
            <a:ext cx="1466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A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5A6B74"/>
                </a:solidFill>
                <a:latin typeface="Microsoft YaHei"/>
                <a:ea typeface="Microsoft YaHei"/>
                <a:cs typeface="Microsoft YaHei"/>
              </a:rPr>
              <a:t>当前主要部署实例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DA94741-ED15-4A96-A3C1-0F125B04C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7645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DFF"/>
          </a:solidFill>
          <a:ln xmlns:a="http://schemas.openxmlformats.org/drawingml/2006/main" w="9525">
            <a:solidFill>
              <a:srgbClr val="C9DDE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D4368D2-5328-476C-B681-DF97D9918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76450"/>
            <a:ext cx="47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4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C931432-DEAA-4343-9CD6-756AE59DF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28850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24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3242E"/>
                </a:solidFill>
                <a:latin typeface="Microsoft YaHei"/>
                <a:ea typeface="Microsoft YaHei"/>
                <a:cs typeface="Microsoft YaHei"/>
              </a:rPr>
              <a:t>新加坡 AWS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BCEFACE-0ACD-46D9-A357-E4F2E404C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514600"/>
            <a:ext cx="1466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A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5A6B74"/>
                </a:solidFill>
                <a:latin typeface="Microsoft YaHei"/>
                <a:ea typeface="Microsoft YaHei"/>
                <a:cs typeface="Microsoft YaHei"/>
              </a:rPr>
              <a:t>后续地区实例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29ED280-F2C2-438C-BB78-A8667F310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07645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DFF"/>
          </a:solidFill>
          <a:ln xmlns:a="http://schemas.openxmlformats.org/drawingml/2006/main" w="9525">
            <a:solidFill>
              <a:srgbClr val="C9DDE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798D09C-A45A-4FDF-A485-ACA9997BC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076450"/>
            <a:ext cx="47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4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7B35443-1EFE-4631-86EB-B3290AB2E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228850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24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3242E"/>
                </a:solidFill>
                <a:latin typeface="Microsoft YaHei"/>
                <a:ea typeface="Microsoft YaHei"/>
                <a:cs typeface="Microsoft YaHei"/>
              </a:rPr>
              <a:t>欧盟 / 其他实例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F8E7053-0989-47BD-A976-5B620E4C2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514600"/>
            <a:ext cx="1466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A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5A6B74"/>
                </a:solidFill>
                <a:latin typeface="Microsoft YaHei"/>
                <a:ea typeface="Microsoft YaHei"/>
                <a:cs typeface="Microsoft YaHei"/>
              </a:rPr>
              <a:t>按地区与资产隔离扩展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9FAF8FD-5D9A-4246-A6AC-267B98C42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876550"/>
            <a:ext cx="609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A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A6B74"/>
                </a:solidFill>
                <a:latin typeface="Microsoft YaHei"/>
                <a:ea typeface="Microsoft YaHei"/>
                <a:cs typeface="Microsoft YaHei"/>
              </a:rPr>
              <a:t>实例之间数据隔离；当前不支持租户跨实例迁移。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CC7C2AF-D179-4E44-AC5B-A98402AE5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81350"/>
            <a:ext cx="61341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CFE"/>
          </a:solidFill>
          <a:ln xmlns:a="http://schemas.openxmlformats.org/drawingml/2006/main" w="9525">
            <a:solidFill>
              <a:srgbClr val="C9DDE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50A7608-F397-4F6B-9063-396F05550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3718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689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689E"/>
                </a:solidFill>
                <a:latin typeface="Microsoft YaHei"/>
                <a:ea typeface="Microsoft YaHei"/>
                <a:cs typeface="Microsoft YaHei"/>
              </a:rPr>
              <a:t>租户业务域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AA9F049-7C4D-417B-8B34-5B61E8B75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409950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A6B74"/>
                </a:solidFill>
                <a:latin typeface="Microsoft YaHei"/>
                <a:ea typeface="Microsoft YaHei"/>
                <a:cs typeface="Microsoft YaHei"/>
              </a:rPr>
              <a:t>每个租户独立保存业务配置、订单、会员、车辆、账单与快照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9D02A05-1CF7-40B1-8A5B-E15DCBD42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733800"/>
            <a:ext cx="1257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E7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74F2B71-2FA6-45C1-A85A-EBC2890EB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733800"/>
            <a:ext cx="47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8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111831B-32DB-4E5E-94AD-C1C4EC626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886200"/>
            <a:ext cx="914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24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3242E"/>
                </a:solidFill>
                <a:latin typeface="Microsoft YaHei"/>
                <a:ea typeface="Microsoft YaHei"/>
                <a:cs typeface="Microsoft YaHei"/>
              </a:rPr>
              <a:t>租户 A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0735902-0AA8-4616-9D2F-F4C3E4994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171950"/>
            <a:ext cx="914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A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A6B74"/>
                </a:solidFill>
                <a:latin typeface="Microsoft YaHei"/>
                <a:ea typeface="Microsoft YaHei"/>
                <a:cs typeface="Microsoft YaHei"/>
              </a:rPr>
              <a:t>营运商主体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BAD148C-29F4-4E1C-93CE-D8E522404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733800"/>
            <a:ext cx="1257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E7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8CF8183-B3E8-4E85-8578-B0B1096D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733800"/>
            <a:ext cx="47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8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39114E8-B140-40D3-8D5D-5C28C8AA0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86200"/>
            <a:ext cx="914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24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3242E"/>
                </a:solidFill>
                <a:latin typeface="Microsoft YaHei"/>
                <a:ea typeface="Microsoft YaHei"/>
                <a:cs typeface="Microsoft YaHei"/>
              </a:rPr>
              <a:t>租户 B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52906A4-1C8C-4EA2-91AE-8C2F43554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71950"/>
            <a:ext cx="914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A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A6B74"/>
                </a:solidFill>
                <a:latin typeface="Microsoft YaHei"/>
                <a:ea typeface="Microsoft YaHei"/>
                <a:cs typeface="Microsoft YaHei"/>
              </a:rPr>
              <a:t>营运商主体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D0A800E-C8AF-46D0-8324-F7A25ECFB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733800"/>
            <a:ext cx="2781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E7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D7537D9-F499-4D6A-B602-1F4F7C39B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733800"/>
            <a:ext cx="47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D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03E871C-3C83-4901-B257-7E9C0B6AC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886200"/>
            <a:ext cx="2438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24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3242E"/>
                </a:solidFill>
                <a:latin typeface="Microsoft YaHei"/>
                <a:ea typeface="Microsoft YaHei"/>
                <a:cs typeface="Microsoft YaHei"/>
              </a:rPr>
              <a:t>租户业务数据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AF3B413-2BE9-4A94-8E11-31A8E87CE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171950"/>
            <a:ext cx="2438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A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A6B74"/>
                </a:solidFill>
                <a:latin typeface="Microsoft YaHei"/>
                <a:ea typeface="Microsoft YaHei"/>
                <a:cs typeface="Microsoft YaHei"/>
              </a:rPr>
              <a:t>订单 / 会员 / 车辆 / 企业账单 / 费用 / 快照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F8D74DB-57CF-4C01-81DB-2EFE97166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29150"/>
            <a:ext cx="1257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E7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27654AD-941A-4C5E-8ED6-3D79DD170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2915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4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2A119AC-3A1D-4A89-BA7E-C3B542762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781550"/>
            <a:ext cx="914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1324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1">
                <a:solidFill>
                  <a:srgbClr val="13242E"/>
                </a:solidFill>
                <a:latin typeface="Microsoft YaHei"/>
                <a:ea typeface="Microsoft YaHei"/>
                <a:cs typeface="Microsoft YaHei"/>
              </a:rPr>
              <a:t>组织权限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21DFFCE-3546-4A3E-96B5-2448779FE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06730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A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5A6B74"/>
                </a:solidFill>
                <a:latin typeface="Microsoft YaHei"/>
                <a:ea typeface="Microsoft YaHei"/>
                <a:cs typeface="Microsoft YaHei"/>
              </a:rPr>
              <a:t>车行 / 门市 / 据点 / 角色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E7AA85A-9EEE-4286-AC0C-885DDCD9B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629150"/>
            <a:ext cx="1257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E7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8AC6426-4ED9-4837-A5B1-0A0A9A924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62915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D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E625259-CACD-4F9D-86DF-8DFB43A06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781550"/>
            <a:ext cx="914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1324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1">
                <a:solidFill>
                  <a:srgbClr val="13242E"/>
                </a:solidFill>
                <a:latin typeface="Microsoft YaHei"/>
                <a:ea typeface="Microsoft YaHei"/>
                <a:cs typeface="Microsoft YaHei"/>
              </a:rPr>
              <a:t>会员企业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7605C28-28E1-4312-8AF1-6BF205D55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06730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A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5A6B74"/>
                </a:solidFill>
                <a:latin typeface="Microsoft YaHei"/>
                <a:ea typeface="Microsoft YaHei"/>
                <a:cs typeface="Microsoft YaHei"/>
              </a:rPr>
              <a:t>个人会员 / 企业身份 / 企业客户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A41DC41-1B69-4598-9803-D8BCFD9EA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629150"/>
            <a:ext cx="1257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E7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0939B5E-E590-4183-A60D-F8DD517A1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62915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8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C32F0DE-8106-448E-BC72-CF48FB1E1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781550"/>
            <a:ext cx="914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1324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1">
                <a:solidFill>
                  <a:srgbClr val="13242E"/>
                </a:solidFill>
                <a:latin typeface="Microsoft YaHei"/>
                <a:ea typeface="Microsoft YaHei"/>
                <a:cs typeface="Microsoft YaHei"/>
              </a:rPr>
              <a:t>车辆站点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94DFC83-1DFA-4AFE-A090-CB773142E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6730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A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5A6B74"/>
                </a:solidFill>
                <a:latin typeface="Microsoft YaHei"/>
                <a:ea typeface="Microsoft YaHei"/>
                <a:cs typeface="Microsoft YaHei"/>
              </a:rPr>
              <a:t>车辆 / 车组 / 车机 / 服务能力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860CCEB-298E-4331-883B-4E721BDCB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629150"/>
            <a:ext cx="1257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E7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98F329F-9BE8-46D1-8801-470D5FB17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62915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DB42490-B7AA-4F3A-AE30-1C932869B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781550"/>
            <a:ext cx="914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1324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1">
                <a:solidFill>
                  <a:srgbClr val="13242E"/>
                </a:solidFill>
                <a:latin typeface="Microsoft YaHei"/>
                <a:ea typeface="Microsoft YaHei"/>
                <a:cs typeface="Microsoft YaHei"/>
              </a:rPr>
              <a:t>价格行销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F7D5C26-5B25-4CDD-9FD0-738515F03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06730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A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5A6B74"/>
                </a:solidFill>
                <a:latin typeface="Microsoft YaHei"/>
                <a:ea typeface="Microsoft YaHei"/>
                <a:cs typeface="Microsoft YaHei"/>
              </a:rPr>
              <a:t>标准价 / 动态调价 / 方案 / 增值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3DA6D2D-A152-484F-93C8-695A669F2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353050"/>
            <a:ext cx="1257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E7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231DB85-C792-4488-9237-1F5D8F2EA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35305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8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914C707-4026-4B60-87C6-36E398847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505450"/>
            <a:ext cx="914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1324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1">
                <a:solidFill>
                  <a:srgbClr val="13242E"/>
                </a:solidFill>
                <a:latin typeface="Microsoft YaHei"/>
                <a:ea typeface="Microsoft YaHei"/>
                <a:cs typeface="Microsoft YaHei"/>
              </a:rPr>
              <a:t>订单履约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BC9087B-1F10-45F0-83EC-C71614B23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79120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A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5A6B74"/>
                </a:solidFill>
                <a:latin typeface="Microsoft YaHei"/>
                <a:ea typeface="Microsoft YaHei"/>
                <a:cs typeface="Microsoft YaHei"/>
              </a:rPr>
              <a:t>状态流 / 快照 / 取还车 / 追缴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4A2E201-9056-441D-9391-62243E830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353050"/>
            <a:ext cx="1257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E7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312AD4B8-D6B1-47C0-BC77-DF3A70D44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35305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4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5D0B6C5-5E46-4C87-823F-08666EF6D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505450"/>
            <a:ext cx="914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1324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1">
                <a:solidFill>
                  <a:srgbClr val="13242E"/>
                </a:solidFill>
                <a:latin typeface="Microsoft YaHei"/>
                <a:ea typeface="Microsoft YaHei"/>
                <a:cs typeface="Microsoft YaHei"/>
              </a:rPr>
              <a:t>调度排程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D31551F7-0E29-4D81-AD4D-37D043D28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79120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A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5A6B74"/>
                </a:solidFill>
                <a:latin typeface="Microsoft YaHei"/>
                <a:ea typeface="Microsoft YaHei"/>
                <a:cs typeface="Microsoft YaHei"/>
              </a:rPr>
              <a:t>预分配 / 硬锁 / 人工 / AI 分析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BD9F8A1F-D965-4BB7-823A-21C79C992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353050"/>
            <a:ext cx="1257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E7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90BD9BB1-9D10-4672-AC37-F49AC6EE8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35305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D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DEFA4BC9-9B21-48B7-834D-75C930964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505450"/>
            <a:ext cx="914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1324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1">
                <a:solidFill>
                  <a:srgbClr val="13242E"/>
                </a:solidFill>
                <a:latin typeface="Microsoft YaHei"/>
                <a:ea typeface="Microsoft YaHei"/>
                <a:cs typeface="Microsoft YaHei"/>
              </a:rPr>
              <a:t>费用账务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A916A48-5E9C-4AC6-8321-EF7E4EAD9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79120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A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5A6B74"/>
                </a:solidFill>
                <a:latin typeface="Microsoft YaHei"/>
                <a:ea typeface="Microsoft YaHei"/>
                <a:cs typeface="Microsoft YaHei"/>
              </a:rPr>
              <a:t>支付 / 退款 / 月结 / 车行结算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2D390C8-60DB-4098-A69B-5A459CF2B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353050"/>
            <a:ext cx="1257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E7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981B0FE-25D5-47BD-97F5-4A3E4518B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35305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BF88745B-C256-4E44-8322-DAC85EB91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505450"/>
            <a:ext cx="914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1324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1">
                <a:solidFill>
                  <a:srgbClr val="13242E"/>
                </a:solidFill>
                <a:latin typeface="Microsoft YaHei"/>
                <a:ea typeface="Microsoft YaHei"/>
                <a:cs typeface="Microsoft YaHei"/>
              </a:rPr>
              <a:t>通知审计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CC6E5EB2-7663-480C-ABC2-4D00E60DA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79120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A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5A6B74"/>
                </a:solidFill>
                <a:latin typeface="Microsoft YaHei"/>
                <a:ea typeface="Microsoft YaHei"/>
                <a:cs typeface="Microsoft YaHei"/>
              </a:rPr>
              <a:t>通知中心 / 操作记录 / 日志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B8B6DD3-1061-4FB2-8AA2-23514D9BB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981700"/>
            <a:ext cx="5562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0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BC70290-9D39-40E7-B103-0167DF6F7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6038850"/>
            <a:ext cx="51816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689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0689E"/>
                </a:solidFill>
                <a:latin typeface="Microsoft YaHei"/>
                <a:ea typeface="Microsoft YaHei"/>
                <a:cs typeface="Microsoft YaHei"/>
              </a:rPr>
              <a:t>业务线复用同一底座：分时租赁 / 门市租赁 / 公务车 / 合作渠道团体票券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C7665F07-6DC5-4E48-BEB9-04DF7E172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1390650"/>
            <a:ext cx="302895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DFF"/>
          </a:solidFill>
          <a:ln xmlns:a="http://schemas.openxmlformats.org/drawingml/2006/main" w="9525">
            <a:solidFill>
              <a:srgbClr val="C9DDE7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51DEE618-34FE-492A-8F66-E8502CD1C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1390650"/>
            <a:ext cx="5715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8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E220101D-1989-43D7-BE86-AF05AFCB4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1638300"/>
            <a:ext cx="1028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0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FD25ED3-9968-4A52-910A-308D990BB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1695450"/>
            <a:ext cx="800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689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0689E"/>
                </a:solidFill>
                <a:latin typeface="Microsoft YaHei"/>
                <a:ea typeface="Microsoft YaHei"/>
                <a:cs typeface="Microsoft YaHei"/>
              </a:rPr>
              <a:t>客户端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E60EB36D-75FB-4EE4-9C99-DCCB434B4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1685925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A6B74"/>
                </a:solidFill>
                <a:latin typeface="Microsoft YaHei"/>
                <a:ea typeface="Microsoft YaHei"/>
                <a:cs typeface="Microsoft YaHei"/>
              </a:rPr>
              <a:t>业务入口层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D26BC71D-633C-4541-BDA3-44F9F45D0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2076450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E7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74C80F0B-5654-4DC3-84FD-8E9476A49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2076450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8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AA09CDEE-EAF9-4A3B-BFC7-65E270F99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2228850"/>
            <a:ext cx="1847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689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689E"/>
                </a:solidFill>
                <a:latin typeface="Microsoft YaHei"/>
                <a:ea typeface="Microsoft YaHei"/>
                <a:cs typeface="Microsoft YaHei"/>
              </a:rPr>
              <a:t>营运平台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CA2DD0BF-D80F-429E-8824-C1F940505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2514600"/>
            <a:ext cx="1847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A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5A6B74"/>
                </a:solidFill>
                <a:latin typeface="Microsoft YaHei"/>
                <a:ea typeface="Microsoft YaHei"/>
                <a:cs typeface="Microsoft YaHei"/>
              </a:rPr>
              <a:t>租户日常营运后台：订单、车辆、价格、调度、账务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8C0F9A29-49B3-4EBE-A170-47F9B098B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2971800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E7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841D884C-919A-40CE-A8B1-801F6698E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2971800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D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289C736C-9EFE-474C-89F5-CB5431016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3124200"/>
            <a:ext cx="1847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4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242E"/>
                </a:solidFill>
                <a:latin typeface="Microsoft YaHei"/>
                <a:ea typeface="Microsoft YaHei"/>
                <a:cs typeface="Microsoft YaHei"/>
              </a:rPr>
              <a:t>企业端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6F31BDF6-4495-42D3-9F36-1F4498E00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3409950"/>
            <a:ext cx="1847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A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5A6B74"/>
                </a:solidFill>
                <a:latin typeface="Microsoft YaHei"/>
                <a:ea typeface="Microsoft YaHei"/>
                <a:cs typeface="Microsoft YaHei"/>
              </a:rPr>
              <a:t>员工审核、企业订单、企业月结、公务车管理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C88F7940-044A-49C1-BE19-468A92AC5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3867150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E7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801C2A8C-BEF6-4486-990D-6EA3E68EB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3867150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1A2B2A64-0334-4E52-AB9D-1AEB284BE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4019550"/>
            <a:ext cx="1847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4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242E"/>
                </a:solidFill>
                <a:latin typeface="Microsoft YaHei"/>
                <a:ea typeface="Microsoft YaHei"/>
                <a:cs typeface="Microsoft YaHei"/>
              </a:rPr>
              <a:t>公开 APP / 官网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1AF1CEA8-E92B-46CA-8527-C230DD29B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4305300"/>
            <a:ext cx="1847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A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5A6B74"/>
                </a:solidFill>
                <a:latin typeface="Microsoft YaHei"/>
                <a:ea typeface="Microsoft YaHei"/>
                <a:cs typeface="Microsoft YaHei"/>
              </a:rPr>
              <a:t>个人会员与企业身份用户预约、取还车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78888CE-2C0A-4E80-86D9-BEDC9C5B7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4762500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E7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B09CA587-521F-4C1F-B876-78A667D3B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4762500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4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334BF8D2-2BEC-4FBA-B93C-C92E94D59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4914900"/>
            <a:ext cx="1847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4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242E"/>
                </a:solidFill>
                <a:latin typeface="Microsoft YaHei"/>
                <a:ea typeface="Microsoft YaHei"/>
                <a:cs typeface="Microsoft YaHei"/>
              </a:rPr>
              <a:t>公务车 APP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9E2058D2-040F-4693-B940-91A4714D7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5200650"/>
            <a:ext cx="1847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A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5A6B74"/>
                </a:solidFill>
                <a:latin typeface="Microsoft YaHei"/>
                <a:ea typeface="Microsoft YaHei"/>
                <a:cs typeface="Microsoft YaHei"/>
              </a:rPr>
              <a:t>企业员工公务车预约与用车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4F3AEAD4-DF16-484D-B118-8AD285C3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57721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0F8"/>
          </a:solidFill>
          <a:ln xmlns:a="http://schemas.openxmlformats.org/drawingml/2006/main" w="9525">
            <a:solidFill>
              <a:srgbClr val="C9DDE7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A1924FAC-2086-4106-BD6B-49E554327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5924550"/>
            <a:ext cx="1847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00689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00689E"/>
                </a:solidFill>
                <a:latin typeface="Microsoft YaHei"/>
                <a:ea typeface="Microsoft YaHei"/>
                <a:cs typeface="Microsoft YaHei"/>
              </a:rPr>
              <a:t>前端只负责展示与操作入口；核心判断在后端完成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9E88E332-EFA6-4C4F-A038-7B3F48A09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29450"/>
            <a:ext cx="141351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E7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8398FD9F-C33A-409C-90E6-3C8EEE58B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29450"/>
            <a:ext cx="57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8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3A4D3215-5F9F-4B33-B7D3-3C3034459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58050"/>
            <a:ext cx="1028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0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1BC4C994-6EE6-47BA-B4F6-856CC46F1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315200"/>
            <a:ext cx="800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689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0689E"/>
                </a:solidFill>
                <a:latin typeface="Microsoft YaHei"/>
                <a:ea typeface="Microsoft YaHei"/>
                <a:cs typeface="Microsoft YaHei"/>
              </a:rPr>
              <a:t>外部服务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06663F02-0B4F-4FE2-A6B7-C54568D5E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7305675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A6B74"/>
                </a:solidFill>
                <a:latin typeface="Microsoft YaHei"/>
                <a:ea typeface="Microsoft YaHei"/>
                <a:cs typeface="Microsoft YaHei"/>
              </a:rPr>
              <a:t>按租户或业务能力接入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70889892-7219-4774-81E5-6BA85F3F6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7372350"/>
            <a:ext cx="1600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E7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9406FB33-7340-4F6C-8594-9F62ACAE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7372350"/>
            <a:ext cx="47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8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6719BF5C-BA08-4236-BA30-D64898744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752475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324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3242E"/>
                </a:solidFill>
                <a:latin typeface="Microsoft YaHei"/>
                <a:ea typeface="Microsoft YaHei"/>
                <a:cs typeface="Microsoft YaHei"/>
              </a:rPr>
              <a:t>支付渠道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E81D48E5-8CAD-45DC-838E-6CB31A9F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7810500"/>
            <a:ext cx="1257300" cy="-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A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5A6B74"/>
                </a:solidFill>
                <a:latin typeface="Microsoft YaHei"/>
                <a:ea typeface="Microsoft YaHei"/>
                <a:cs typeface="Microsoft YaHei"/>
              </a:rPr>
              <a:t>预授权 / 收款 / 退款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2FD6E49E-85FB-45DD-BF64-88FCA5645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7372350"/>
            <a:ext cx="1600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E7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64E00D08-6D14-437F-8DA4-FEA165151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7372350"/>
            <a:ext cx="47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D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A015254F-6909-4760-9886-6A2CC429C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752475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324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3242E"/>
                </a:solidFill>
                <a:latin typeface="Microsoft YaHei"/>
                <a:ea typeface="Microsoft YaHei"/>
                <a:cs typeface="Microsoft YaHei"/>
              </a:rPr>
              <a:t>短信渠道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3FFC9F76-C5DF-40AB-BDF1-1C96EEA05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7810500"/>
            <a:ext cx="1257300" cy="-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A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5A6B74"/>
                </a:solidFill>
                <a:latin typeface="Microsoft YaHei"/>
                <a:ea typeface="Microsoft YaHei"/>
                <a:cs typeface="Microsoft YaHei"/>
              </a:rPr>
              <a:t>验证码 / 通知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FCB86E43-3C54-4D21-A467-FB3150341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7372350"/>
            <a:ext cx="1600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E7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23E02CFA-2D2E-44A4-9059-B8E856A38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7372350"/>
            <a:ext cx="47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8D616467-904D-4926-B5D9-2AEBA6F7F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752475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324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3242E"/>
                </a:solidFill>
                <a:latin typeface="Microsoft YaHei"/>
                <a:ea typeface="Microsoft YaHei"/>
                <a:cs typeface="Microsoft YaHei"/>
              </a:rPr>
              <a:t>发票平台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D5562A21-54D3-492E-9D31-ED915F286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7810500"/>
            <a:ext cx="1257300" cy="-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A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5A6B74"/>
                </a:solidFill>
                <a:latin typeface="Microsoft YaHei"/>
                <a:ea typeface="Microsoft YaHei"/>
                <a:cs typeface="Microsoft YaHei"/>
              </a:rPr>
              <a:t>开票结果 / 退款同步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A33795E3-994D-4A1D-8229-DD220C18C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7372350"/>
            <a:ext cx="1600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E7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7825F5F9-C80B-4323-853C-84DFC5796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7372350"/>
            <a:ext cx="47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4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B1439CAE-77CC-4666-BA70-F52C5D1E0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752475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324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3242E"/>
                </a:solidFill>
                <a:latin typeface="Microsoft YaHei"/>
                <a:ea typeface="Microsoft YaHei"/>
                <a:cs typeface="Microsoft YaHei"/>
              </a:rPr>
              <a:t>车机 / 控车平台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0CF9D8B8-719C-4FA0-ABBC-3969DB788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7810500"/>
            <a:ext cx="1257300" cy="-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A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5A6B74"/>
                </a:solidFill>
                <a:latin typeface="Microsoft YaHei"/>
                <a:ea typeface="Microsoft YaHei"/>
                <a:cs typeface="Microsoft YaHei"/>
              </a:rPr>
              <a:t>开关锁 / 里程 / 油电量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75DA537A-B475-438E-BEBE-3A36A7F40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7372350"/>
            <a:ext cx="1600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E7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7279A0AF-E785-488D-A39C-7DCE089A4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7372350"/>
            <a:ext cx="47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8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FB789422-0AA4-48BF-A8ED-6D0EAC757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752475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324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3242E"/>
                </a:solidFill>
                <a:latin typeface="Microsoft YaHei"/>
                <a:ea typeface="Microsoft YaHei"/>
                <a:cs typeface="Microsoft YaHei"/>
              </a:rPr>
              <a:t>AI 模型提供商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284E2F9B-111F-46A5-8BFF-664F0A35F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7810500"/>
            <a:ext cx="1257300" cy="-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A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5A6B74"/>
                </a:solidFill>
                <a:latin typeface="Microsoft YaHei"/>
                <a:ea typeface="Microsoft YaHei"/>
                <a:cs typeface="Microsoft YaHei"/>
              </a:rPr>
              <a:t>调度分析 Agent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2A1812B4-17B6-4837-BEA4-AAE47EA9E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7372350"/>
            <a:ext cx="1600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E7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C1EF46D5-5252-4C33-AB1B-58CF4AF43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7372350"/>
            <a:ext cx="47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D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313B74AD-90D3-4BA8-A05B-7B38FEBE5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752475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324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3242E"/>
                </a:solidFill>
                <a:latin typeface="Microsoft YaHei"/>
                <a:ea typeface="Microsoft YaHei"/>
                <a:cs typeface="Microsoft YaHei"/>
              </a:rPr>
              <a:t>地图 / 地址服务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1CFADB4A-106E-41F7-9C4C-B0EE11F62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7810500"/>
            <a:ext cx="1257300" cy="-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A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5A6B74"/>
                </a:solidFill>
                <a:latin typeface="Microsoft YaHei"/>
                <a:ea typeface="Microsoft YaHei"/>
                <a:cs typeface="Microsoft YaHei"/>
              </a:rPr>
              <a:t>地址 / 导航 / 据点定位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566EE705-3EFC-4849-A169-5A1C8BE37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081463"/>
            <a:ext cx="428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8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F55D34B6-4822-438B-9C09-DC12C20AF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0386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68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7932EFCF-2068-4FDA-835A-3188AB039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7719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00689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00689E"/>
                </a:solidFill>
                <a:latin typeface="Microsoft YaHei"/>
                <a:ea typeface="Microsoft YaHei"/>
                <a:cs typeface="Microsoft YaHei"/>
              </a:rPr>
              <a:t>授权/配置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E764AD61-C9F2-4194-BC55-D8B801520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81463"/>
            <a:ext cx="409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8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C38CF3D4-F29E-4871-AF8E-D6172F6A3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40386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68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820C6373-3858-4448-9758-8740864B3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77190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00689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00689E"/>
                </a:solidFill>
                <a:latin typeface="Microsoft YaHei"/>
                <a:ea typeface="Microsoft YaHei"/>
                <a:cs typeface="Microsoft YaHei"/>
              </a:rPr>
              <a:t>API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BB532995-FDA4-4603-B4B1-46C8BA230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5713" y="6343650"/>
            <a:ext cx="285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8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4E6698E6-C076-414F-A1C5-B12601142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562850" y="69151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68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C19C71A7-AE4C-4E05-BF78-87AE7D853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6103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A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A6B74"/>
                </a:solidFill>
                <a:latin typeface="Microsoft YaHei"/>
                <a:ea typeface="Microsoft YaHei"/>
                <a:cs typeface="Microsoft YaHei"/>
              </a:rPr>
              <a:t>渠道 / 设备 / 模型调用</a:t>
            </a:r>
          </a:p>
        </p:txBody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FAAB4ECE-438A-45CB-A002-6DE8D33E2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72450"/>
            <a:ext cx="88582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C3DA3459-7FAC-4869-9D4D-58BA8AB44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86750"/>
            <a:ext cx="876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A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5A6B74"/>
                </a:solidFill>
                <a:latin typeface="Microsoft YaHei"/>
                <a:ea typeface="Microsoft YaHei"/>
                <a:cs typeface="Microsoft YaHei"/>
              </a:rPr>
              <a:t>注：本图为产品业务架构图，不表达具体代码模块、服务器数量或网络部署拓扑。当前车辆资源仍按服务类型隔离，统一排程中心属于后续规划。</a:t>
            </a: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6A8723E5-DB1D-4886-A0EE-AEFEF9083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28675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10" b="0">
                <a:solidFill>
                  <a:srgbClr val="5A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5A6B74"/>
                </a:solidFill>
                <a:latin typeface="Microsoft YaHei"/>
                <a:ea typeface="Microsoft YaHei"/>
                <a:cs typeface="Microsoft YaHei"/>
              </a:rPr>
              <a:t>2026-05-21</a:t>
            </a:r>
          </a:p>
        </p:txBody>
      </p:sp>
    </p:spTree>
    <p:extLst>
      <p:ext uri="{BB962C8B-B14F-4D97-AF65-F5344CB8AC3E}">
        <p14:creationId xmlns:p14="http://schemas.microsoft.com/office/powerpoint/2010/main" val="4121713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2026-05-21T02:57:17.9630000Z</dcterms:created>
  <dcterms:modified xsi:type="dcterms:W3CDTF">2026-05-21T02:57:17.9630000Z</dcterms:modified>
</coreProperties>
</file>