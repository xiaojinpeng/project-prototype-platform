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wide"/>
  <p:notesSz cx="6858000" cy="9144000"/>
  <p:defaultTextStyle>
    <a:defPPr>
      <a:defRPr lang="zh-CN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C"/>
          </a:solidFill>
          <a:ln w="1270">
            <a:solidFill>
              <a:srgbClr val="F6F9FC"/>
            </a:solidFill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444500" y="266700"/>
            <a:ext cx="469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2850" b="1">
                <a:solidFill>
                  <a:srgbClr val="102333"/>
                </a:solidFill>
                <a:latin typeface="Microsoft YaHei"/>
                <a:ea typeface="Microsoft YaHei"/>
              </a:rPr>
              <a:t>RIMO Rental 平台整体架构图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444500" y="609600"/>
            <a:ext cx="7493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275">
                <a:solidFill>
                  <a:srgbClr val="5D6977"/>
                </a:solidFill>
                <a:latin typeface="Microsoft YaHei"/>
                <a:ea typeface="Microsoft YaHei"/>
              </a:rPr>
              <a:t>以 SaaS 多租户为边界，统一沉淀车辆、站点、订单、账务、调度、快照与外部服务能力。</a:t>
            </a:r>
          </a:p>
        </p:txBody>
      </p:sp>
      <p:sp>
        <p:nvSpPr>
          <p:cNvPr id="5" name="Badge 已上线 / 基础"/>
          <p:cNvSpPr/>
          <p:nvPr/>
        </p:nvSpPr>
        <p:spPr>
          <a:xfrm>
            <a:off x="9639300" y="317500"/>
            <a:ext cx="838200" cy="152400"/>
          </a:xfrm>
          <a:prstGeom prst="roundRect">
            <a:avLst/>
          </a:prstGeom>
          <a:solidFill>
            <a:srgbClr val="E7F6EE"/>
          </a:solidFill>
          <a:ln w="3175">
            <a:solidFill>
              <a:srgbClr val="E7F6EE"/>
            </a:solidFill>
          </a:ln>
        </p:spPr>
        <p:txBody>
          <a:bodyPr/>
          <a:lstStyle/>
          <a:p/>
        </p:txBody>
      </p:sp>
      <p:sp>
        <p:nvSpPr>
          <p:cNvPr id="6" name="Badge Text 已上线 / 基础"/>
          <p:cNvSpPr txBox="1"/>
          <p:nvPr/>
        </p:nvSpPr>
        <p:spPr>
          <a:xfrm>
            <a:off x="9639300" y="342900"/>
            <a:ext cx="838200" cy="10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900" b="1">
                <a:solidFill>
                  <a:srgbClr val="14784A"/>
                </a:solidFill>
                <a:latin typeface="Microsoft YaHei"/>
                <a:ea typeface="Microsoft YaHei"/>
              </a:rPr>
              <a:t>已上线 / 基础</a:t>
            </a:r>
          </a:p>
        </p:txBody>
      </p:sp>
      <p:sp>
        <p:nvSpPr>
          <p:cNvPr id="7" name="Badge 规划扩展"/>
          <p:cNvSpPr/>
          <p:nvPr/>
        </p:nvSpPr>
        <p:spPr>
          <a:xfrm>
            <a:off x="10591800" y="317500"/>
            <a:ext cx="482600" cy="152400"/>
          </a:xfrm>
          <a:prstGeom prst="roundRect">
            <a:avLst/>
          </a:prstGeom>
          <a:solidFill>
            <a:srgbClr val="FFF2D1"/>
          </a:solidFill>
          <a:ln w="3175">
            <a:solidFill>
              <a:srgbClr val="FFF2D1"/>
            </a:solidFill>
          </a:ln>
        </p:spPr>
        <p:txBody>
          <a:bodyPr/>
          <a:lstStyle/>
          <a:p/>
        </p:txBody>
      </p:sp>
      <p:sp>
        <p:nvSpPr>
          <p:cNvPr id="8" name="Badge Text 规划扩展"/>
          <p:cNvSpPr txBox="1"/>
          <p:nvPr/>
        </p:nvSpPr>
        <p:spPr>
          <a:xfrm>
            <a:off x="10591800" y="342900"/>
            <a:ext cx="482600" cy="10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900" b="1">
                <a:solidFill>
                  <a:srgbClr val="9B5E00"/>
                </a:solidFill>
                <a:latin typeface="Microsoft YaHei"/>
                <a:ea typeface="Microsoft YaHei"/>
              </a:rPr>
              <a:t>规划扩展</a:t>
            </a:r>
          </a:p>
        </p:txBody>
      </p:sp>
      <p:sp>
        <p:nvSpPr>
          <p:cNvPr id="9" name="Shape"/>
          <p:cNvSpPr/>
          <p:nvPr/>
        </p:nvSpPr>
        <p:spPr>
          <a:xfrm>
            <a:off x="11366500" y="317500"/>
            <a:ext cx="571500" cy="190500"/>
          </a:xfrm>
          <a:prstGeom prst="roundRect">
            <a:avLst/>
          </a:prstGeom>
          <a:solidFill>
            <a:srgbClr val="00689E"/>
          </a:solidFill>
          <a:ln w="6350">
            <a:solidFill>
              <a:srgbClr val="00689E"/>
            </a:solidFill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11366500" y="361950"/>
            <a:ext cx="571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#00689E</a:t>
            </a:r>
          </a:p>
        </p:txBody>
      </p:sp>
      <p:sp>
        <p:nvSpPr>
          <p:cNvPr id="11" name="Section 访问入口层"/>
          <p:cNvSpPr/>
          <p:nvPr/>
        </p:nvSpPr>
        <p:spPr>
          <a:xfrm>
            <a:off x="444500" y="952500"/>
            <a:ext cx="11303000" cy="7493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BFD5E3"/>
            </a:solidFill>
          </a:ln>
        </p:spPr>
        <p:txBody>
          <a:bodyPr/>
          <a:lstStyle/>
          <a:p/>
        </p:txBody>
      </p:sp>
      <p:sp>
        <p:nvSpPr>
          <p:cNvPr id="12" name="Section Label 访问入口层"/>
          <p:cNvSpPr/>
          <p:nvPr/>
        </p:nvSpPr>
        <p:spPr>
          <a:xfrm>
            <a:off x="558800" y="850900"/>
            <a:ext cx="800100" cy="203200"/>
          </a:xfrm>
          <a:prstGeom prst="roundRect">
            <a:avLst/>
          </a:prstGeom>
          <a:solidFill>
            <a:srgbClr val="00689E"/>
          </a:solidFill>
          <a:ln w="3175">
            <a:solidFill>
              <a:srgbClr val="00689E"/>
            </a:solidFill>
          </a:ln>
        </p:spPr>
        <p:txBody>
          <a:bodyPr/>
          <a:lstStyle/>
          <a:p/>
        </p:txBody>
      </p:sp>
      <p:sp>
        <p:nvSpPr>
          <p:cNvPr id="13" name="Section Title 访问入口层"/>
          <p:cNvSpPr txBox="1"/>
          <p:nvPr/>
        </p:nvSpPr>
        <p:spPr>
          <a:xfrm>
            <a:off x="666750" y="895350"/>
            <a:ext cx="609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访问入口层</a:t>
            </a:r>
          </a:p>
        </p:txBody>
      </p:sp>
      <p:sp>
        <p:nvSpPr>
          <p:cNvPr id="14" name="Section Subtitle 访问入口层"/>
          <p:cNvSpPr txBox="1"/>
          <p:nvPr/>
        </p:nvSpPr>
        <p:spPr>
          <a:xfrm>
            <a:off x="1460500" y="908050"/>
            <a:ext cx="101727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125">
                <a:solidFill>
                  <a:srgbClr val="5D6977"/>
                </a:solidFill>
                <a:latin typeface="Microsoft YaHei"/>
                <a:ea typeface="Microsoft YaHei"/>
              </a:rPr>
              <a:t>面向不同角色的操作入口，统一调用租户业务能力。</a:t>
            </a:r>
          </a:p>
        </p:txBody>
      </p:sp>
      <p:sp>
        <p:nvSpPr>
          <p:cNvPr id="15" name="Card 客服系统"/>
          <p:cNvSpPr/>
          <p:nvPr/>
        </p:nvSpPr>
        <p:spPr>
          <a:xfrm>
            <a:off x="762000" y="1206500"/>
            <a:ext cx="2000250" cy="3683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16" name="Card Title 客服系统"/>
          <p:cNvSpPr txBox="1"/>
          <p:nvPr/>
        </p:nvSpPr>
        <p:spPr>
          <a:xfrm>
            <a:off x="876300" y="1301750"/>
            <a:ext cx="139065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500" b="1">
                <a:solidFill>
                  <a:srgbClr val="102333"/>
                </a:solidFill>
                <a:latin typeface="Microsoft YaHei"/>
                <a:ea typeface="Microsoft YaHei"/>
              </a:rPr>
              <a:t>客服系统</a:t>
            </a:r>
          </a:p>
        </p:txBody>
      </p:sp>
      <p:sp>
        <p:nvSpPr>
          <p:cNvPr id="17" name="Badge 已上线"/>
          <p:cNvSpPr/>
          <p:nvPr/>
        </p:nvSpPr>
        <p:spPr>
          <a:xfrm>
            <a:off x="2292350" y="1295400"/>
            <a:ext cx="393700" cy="152400"/>
          </a:xfrm>
          <a:prstGeom prst="roundRect">
            <a:avLst/>
          </a:prstGeom>
          <a:solidFill>
            <a:srgbClr val="E7F6EE"/>
          </a:solidFill>
          <a:ln w="3175">
            <a:solidFill>
              <a:srgbClr val="E7F6EE"/>
            </a:solidFill>
          </a:ln>
        </p:spPr>
        <p:txBody>
          <a:bodyPr/>
          <a:lstStyle/>
          <a:p/>
        </p:txBody>
      </p:sp>
      <p:sp>
        <p:nvSpPr>
          <p:cNvPr id="18" name="Badge Text 已上线"/>
          <p:cNvSpPr txBox="1"/>
          <p:nvPr/>
        </p:nvSpPr>
        <p:spPr>
          <a:xfrm>
            <a:off x="2292350" y="1320800"/>
            <a:ext cx="393700" cy="10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900" b="1">
                <a:solidFill>
                  <a:srgbClr val="14784A"/>
                </a:solidFill>
                <a:latin typeface="Microsoft YaHei"/>
                <a:ea typeface="Microsoft YaHei"/>
              </a:rPr>
              <a:t>已上线</a:t>
            </a:r>
          </a:p>
        </p:txBody>
      </p:sp>
      <p:sp>
        <p:nvSpPr>
          <p:cNvPr id="19" name="Card Desc 客服系统"/>
          <p:cNvSpPr txBox="1"/>
          <p:nvPr/>
        </p:nvSpPr>
        <p:spPr>
          <a:xfrm>
            <a:off x="876300" y="1504950"/>
            <a:ext cx="17716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75">
                <a:solidFill>
                  <a:srgbClr val="5D6977"/>
                </a:solidFill>
                <a:latin typeface="Microsoft YaHei"/>
                <a:ea typeface="Microsoft YaHei"/>
              </a:rPr>
              <a:t>实例与租户开通</a:t>
            </a:r>
          </a:p>
        </p:txBody>
      </p:sp>
      <p:sp>
        <p:nvSpPr>
          <p:cNvPr id="20" name="Card 营运平台"/>
          <p:cNvSpPr/>
          <p:nvPr/>
        </p:nvSpPr>
        <p:spPr>
          <a:xfrm>
            <a:off x="2927350" y="1206500"/>
            <a:ext cx="2000250" cy="3683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21" name="Card Title 营运平台"/>
          <p:cNvSpPr txBox="1"/>
          <p:nvPr/>
        </p:nvSpPr>
        <p:spPr>
          <a:xfrm>
            <a:off x="3041650" y="1301750"/>
            <a:ext cx="139065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500" b="1">
                <a:solidFill>
                  <a:srgbClr val="102333"/>
                </a:solidFill>
                <a:latin typeface="Microsoft YaHei"/>
                <a:ea typeface="Microsoft YaHei"/>
              </a:rPr>
              <a:t>营运平台</a:t>
            </a:r>
          </a:p>
        </p:txBody>
      </p:sp>
      <p:sp>
        <p:nvSpPr>
          <p:cNvPr id="22" name="Badge 已上线"/>
          <p:cNvSpPr/>
          <p:nvPr/>
        </p:nvSpPr>
        <p:spPr>
          <a:xfrm>
            <a:off x="4457700" y="1295400"/>
            <a:ext cx="393700" cy="152400"/>
          </a:xfrm>
          <a:prstGeom prst="roundRect">
            <a:avLst/>
          </a:prstGeom>
          <a:solidFill>
            <a:srgbClr val="E7F6EE"/>
          </a:solidFill>
          <a:ln w="3175">
            <a:solidFill>
              <a:srgbClr val="E7F6EE"/>
            </a:solidFill>
          </a:ln>
        </p:spPr>
        <p:txBody>
          <a:bodyPr/>
          <a:lstStyle/>
          <a:p/>
        </p:txBody>
      </p:sp>
      <p:sp>
        <p:nvSpPr>
          <p:cNvPr id="23" name="Badge Text 已上线"/>
          <p:cNvSpPr txBox="1"/>
          <p:nvPr/>
        </p:nvSpPr>
        <p:spPr>
          <a:xfrm>
            <a:off x="4457700" y="1320800"/>
            <a:ext cx="393700" cy="10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900" b="1">
                <a:solidFill>
                  <a:srgbClr val="14784A"/>
                </a:solidFill>
                <a:latin typeface="Microsoft YaHei"/>
                <a:ea typeface="Microsoft YaHei"/>
              </a:rPr>
              <a:t>已上线</a:t>
            </a:r>
          </a:p>
        </p:txBody>
      </p:sp>
      <p:sp>
        <p:nvSpPr>
          <p:cNvPr id="24" name="Card Desc 营运平台"/>
          <p:cNvSpPr txBox="1"/>
          <p:nvPr/>
        </p:nvSpPr>
        <p:spPr>
          <a:xfrm>
            <a:off x="3041650" y="1504950"/>
            <a:ext cx="17716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75">
                <a:solidFill>
                  <a:srgbClr val="5D6977"/>
                </a:solidFill>
                <a:latin typeface="Microsoft YaHei"/>
                <a:ea typeface="Microsoft YaHei"/>
              </a:rPr>
              <a:t>租户运营后台</a:t>
            </a:r>
          </a:p>
        </p:txBody>
      </p:sp>
      <p:sp>
        <p:nvSpPr>
          <p:cNvPr id="25" name="Card 企业端"/>
          <p:cNvSpPr/>
          <p:nvPr/>
        </p:nvSpPr>
        <p:spPr>
          <a:xfrm>
            <a:off x="5092700" y="1206500"/>
            <a:ext cx="2000250" cy="3683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26" name="Card Title 企业端"/>
          <p:cNvSpPr txBox="1"/>
          <p:nvPr/>
        </p:nvSpPr>
        <p:spPr>
          <a:xfrm>
            <a:off x="5207000" y="1301750"/>
            <a:ext cx="139065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500" b="1">
                <a:solidFill>
                  <a:srgbClr val="102333"/>
                </a:solidFill>
                <a:latin typeface="Microsoft YaHei"/>
                <a:ea typeface="Microsoft YaHei"/>
              </a:rPr>
              <a:t>企业端</a:t>
            </a:r>
          </a:p>
        </p:txBody>
      </p:sp>
      <p:sp>
        <p:nvSpPr>
          <p:cNvPr id="27" name="Badge 已上线"/>
          <p:cNvSpPr/>
          <p:nvPr/>
        </p:nvSpPr>
        <p:spPr>
          <a:xfrm>
            <a:off x="6623050" y="1295400"/>
            <a:ext cx="393700" cy="152400"/>
          </a:xfrm>
          <a:prstGeom prst="roundRect">
            <a:avLst/>
          </a:prstGeom>
          <a:solidFill>
            <a:srgbClr val="E7F6EE"/>
          </a:solidFill>
          <a:ln w="3175">
            <a:solidFill>
              <a:srgbClr val="E7F6EE"/>
            </a:solidFill>
          </a:ln>
        </p:spPr>
        <p:txBody>
          <a:bodyPr/>
          <a:lstStyle/>
          <a:p/>
        </p:txBody>
      </p:sp>
      <p:sp>
        <p:nvSpPr>
          <p:cNvPr id="28" name="Badge Text 已上线"/>
          <p:cNvSpPr txBox="1"/>
          <p:nvPr/>
        </p:nvSpPr>
        <p:spPr>
          <a:xfrm>
            <a:off x="6623050" y="1320800"/>
            <a:ext cx="393700" cy="10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900" b="1">
                <a:solidFill>
                  <a:srgbClr val="14784A"/>
                </a:solidFill>
                <a:latin typeface="Microsoft YaHei"/>
                <a:ea typeface="Microsoft YaHei"/>
              </a:rPr>
              <a:t>已上线</a:t>
            </a:r>
          </a:p>
        </p:txBody>
      </p:sp>
      <p:sp>
        <p:nvSpPr>
          <p:cNvPr id="29" name="Card Desc 企业端"/>
          <p:cNvSpPr txBox="1"/>
          <p:nvPr/>
        </p:nvSpPr>
        <p:spPr>
          <a:xfrm>
            <a:off x="5207000" y="1504950"/>
            <a:ext cx="17716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75">
                <a:solidFill>
                  <a:srgbClr val="5D6977"/>
                </a:solidFill>
                <a:latin typeface="Microsoft YaHei"/>
                <a:ea typeface="Microsoft YaHei"/>
              </a:rPr>
              <a:t>企业用车与账单</a:t>
            </a:r>
          </a:p>
        </p:txBody>
      </p:sp>
      <p:sp>
        <p:nvSpPr>
          <p:cNvPr id="30" name="Card 公开 APP / 官网"/>
          <p:cNvSpPr/>
          <p:nvPr/>
        </p:nvSpPr>
        <p:spPr>
          <a:xfrm>
            <a:off x="7258050" y="1206500"/>
            <a:ext cx="2000250" cy="3683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31" name="Card Title 公开 APP / 官网"/>
          <p:cNvSpPr txBox="1"/>
          <p:nvPr/>
        </p:nvSpPr>
        <p:spPr>
          <a:xfrm>
            <a:off x="7372350" y="1301750"/>
            <a:ext cx="139065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500" b="1">
                <a:solidFill>
                  <a:srgbClr val="102333"/>
                </a:solidFill>
                <a:latin typeface="Microsoft YaHei"/>
                <a:ea typeface="Microsoft YaHei"/>
              </a:rPr>
              <a:t>公开 APP / 官网</a:t>
            </a:r>
          </a:p>
        </p:txBody>
      </p:sp>
      <p:sp>
        <p:nvSpPr>
          <p:cNvPr id="32" name="Badge 已上线"/>
          <p:cNvSpPr/>
          <p:nvPr/>
        </p:nvSpPr>
        <p:spPr>
          <a:xfrm>
            <a:off x="8788400" y="1295400"/>
            <a:ext cx="393700" cy="152400"/>
          </a:xfrm>
          <a:prstGeom prst="roundRect">
            <a:avLst/>
          </a:prstGeom>
          <a:solidFill>
            <a:srgbClr val="E7F6EE"/>
          </a:solidFill>
          <a:ln w="3175">
            <a:solidFill>
              <a:srgbClr val="E7F6EE"/>
            </a:solidFill>
          </a:ln>
        </p:spPr>
        <p:txBody>
          <a:bodyPr/>
          <a:lstStyle/>
          <a:p/>
        </p:txBody>
      </p:sp>
      <p:sp>
        <p:nvSpPr>
          <p:cNvPr id="33" name="Badge Text 已上线"/>
          <p:cNvSpPr txBox="1"/>
          <p:nvPr/>
        </p:nvSpPr>
        <p:spPr>
          <a:xfrm>
            <a:off x="8788400" y="1320800"/>
            <a:ext cx="393700" cy="10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900" b="1">
                <a:solidFill>
                  <a:srgbClr val="14784A"/>
                </a:solidFill>
                <a:latin typeface="Microsoft YaHei"/>
                <a:ea typeface="Microsoft YaHei"/>
              </a:rPr>
              <a:t>已上线</a:t>
            </a:r>
          </a:p>
        </p:txBody>
      </p:sp>
      <p:sp>
        <p:nvSpPr>
          <p:cNvPr id="34" name="Card Desc 公开 APP / 官网"/>
          <p:cNvSpPr txBox="1"/>
          <p:nvPr/>
        </p:nvSpPr>
        <p:spPr>
          <a:xfrm>
            <a:off x="7372350" y="1504950"/>
            <a:ext cx="17716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75">
                <a:solidFill>
                  <a:srgbClr val="5D6977"/>
                </a:solidFill>
                <a:latin typeface="Microsoft YaHei"/>
                <a:ea typeface="Microsoft YaHei"/>
              </a:rPr>
              <a:t>个人与企业身份预约</a:t>
            </a:r>
          </a:p>
        </p:txBody>
      </p:sp>
      <p:sp>
        <p:nvSpPr>
          <p:cNvPr id="35" name="Card 公务车 APP"/>
          <p:cNvSpPr/>
          <p:nvPr/>
        </p:nvSpPr>
        <p:spPr>
          <a:xfrm>
            <a:off x="9423400" y="1206500"/>
            <a:ext cx="2000250" cy="3683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36" name="Card Title 公务车 APP"/>
          <p:cNvSpPr txBox="1"/>
          <p:nvPr/>
        </p:nvSpPr>
        <p:spPr>
          <a:xfrm>
            <a:off x="9537700" y="1301750"/>
            <a:ext cx="139065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500" b="1">
                <a:solidFill>
                  <a:srgbClr val="102333"/>
                </a:solidFill>
                <a:latin typeface="Microsoft YaHei"/>
                <a:ea typeface="Microsoft YaHei"/>
              </a:rPr>
              <a:t>公务车 APP</a:t>
            </a:r>
          </a:p>
        </p:txBody>
      </p:sp>
      <p:sp>
        <p:nvSpPr>
          <p:cNvPr id="37" name="Badge 已上线"/>
          <p:cNvSpPr/>
          <p:nvPr/>
        </p:nvSpPr>
        <p:spPr>
          <a:xfrm>
            <a:off x="10953750" y="1295400"/>
            <a:ext cx="393700" cy="152400"/>
          </a:xfrm>
          <a:prstGeom prst="roundRect">
            <a:avLst/>
          </a:prstGeom>
          <a:solidFill>
            <a:srgbClr val="E7F6EE"/>
          </a:solidFill>
          <a:ln w="3175">
            <a:solidFill>
              <a:srgbClr val="E7F6EE"/>
            </a:solidFill>
          </a:ln>
        </p:spPr>
        <p:txBody>
          <a:bodyPr/>
          <a:lstStyle/>
          <a:p/>
        </p:txBody>
      </p:sp>
      <p:sp>
        <p:nvSpPr>
          <p:cNvPr id="38" name="Badge Text 已上线"/>
          <p:cNvSpPr txBox="1"/>
          <p:nvPr/>
        </p:nvSpPr>
        <p:spPr>
          <a:xfrm>
            <a:off x="10953750" y="1320800"/>
            <a:ext cx="393700" cy="10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900" b="1">
                <a:solidFill>
                  <a:srgbClr val="14784A"/>
                </a:solidFill>
                <a:latin typeface="Microsoft YaHei"/>
                <a:ea typeface="Microsoft YaHei"/>
              </a:rPr>
              <a:t>已上线</a:t>
            </a:r>
          </a:p>
        </p:txBody>
      </p:sp>
      <p:sp>
        <p:nvSpPr>
          <p:cNvPr id="39" name="Card Desc 公务车 APP"/>
          <p:cNvSpPr txBox="1"/>
          <p:nvPr/>
        </p:nvSpPr>
        <p:spPr>
          <a:xfrm>
            <a:off x="9537700" y="1504950"/>
            <a:ext cx="17716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75">
                <a:solidFill>
                  <a:srgbClr val="5D6977"/>
                </a:solidFill>
                <a:latin typeface="Microsoft YaHei"/>
                <a:ea typeface="Microsoft YaHei"/>
              </a:rPr>
              <a:t>员工公务车用车</a:t>
            </a:r>
          </a:p>
        </p:txBody>
      </p:sp>
      <p:sp>
        <p:nvSpPr>
          <p:cNvPr id="40" name="Arrow Line"/>
          <p:cNvSpPr/>
          <p:nvPr/>
        </p:nvSpPr>
        <p:spPr>
          <a:xfrm>
            <a:off x="6086475" y="1714500"/>
            <a:ext cx="19050" cy="6985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/>
        </p:txBody>
      </p:sp>
      <p:sp>
        <p:nvSpPr>
          <p:cNvPr id="41" name="Arrow Head"/>
          <p:cNvSpPr/>
          <p:nvPr/>
        </p:nvSpPr>
        <p:spPr>
          <a:xfrm rot="10800000">
            <a:off x="6045200" y="1765300"/>
            <a:ext cx="101600" cy="88900"/>
          </a:xfrm>
          <a:prstGeom prst="triangle">
            <a:avLst/>
          </a:prstGeom>
          <a:solidFill>
            <a:srgbClr val="00689E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Arrow Label Bg"/>
          <p:cNvSpPr/>
          <p:nvPr/>
        </p:nvSpPr>
        <p:spPr>
          <a:xfrm>
            <a:off x="5600700" y="1689100"/>
            <a:ext cx="990600" cy="165100"/>
          </a:xfrm>
          <a:prstGeom prst="roundRect">
            <a:avLst/>
          </a:prstGeom>
          <a:solidFill>
            <a:srgbClr val="F6F9FC"/>
          </a:solidFill>
          <a:ln w="1270">
            <a:solidFill>
              <a:srgbClr val="F6F9FC"/>
            </a:solidFill>
          </a:ln>
        </p:spPr>
        <p:txBody>
          <a:bodyPr/>
          <a:lstStyle/>
          <a:p/>
        </p:txBody>
      </p:sp>
      <p:sp>
        <p:nvSpPr>
          <p:cNvPr id="43" name="Arrow Label API / 鉴权"/>
          <p:cNvSpPr txBox="1"/>
          <p:nvPr/>
        </p:nvSpPr>
        <p:spPr>
          <a:xfrm>
            <a:off x="5600700" y="1720850"/>
            <a:ext cx="9906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975" b="1">
                <a:solidFill>
                  <a:srgbClr val="00689E"/>
                </a:solidFill>
                <a:latin typeface="Microsoft YaHei"/>
                <a:ea typeface="Microsoft YaHei"/>
              </a:rPr>
              <a:t>API / 鉴权</a:t>
            </a:r>
          </a:p>
        </p:txBody>
      </p:sp>
      <p:sp>
        <p:nvSpPr>
          <p:cNvPr id="44" name="Section SaaS 控制层"/>
          <p:cNvSpPr/>
          <p:nvPr/>
        </p:nvSpPr>
        <p:spPr>
          <a:xfrm>
            <a:off x="444500" y="1892300"/>
            <a:ext cx="11303000" cy="8001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BFD5E3"/>
            </a:solidFill>
          </a:ln>
        </p:spPr>
        <p:txBody>
          <a:bodyPr/>
          <a:lstStyle/>
          <a:p/>
        </p:txBody>
      </p:sp>
      <p:sp>
        <p:nvSpPr>
          <p:cNvPr id="45" name="Section Label SaaS 控制层"/>
          <p:cNvSpPr/>
          <p:nvPr/>
        </p:nvSpPr>
        <p:spPr>
          <a:xfrm>
            <a:off x="558800" y="1790700"/>
            <a:ext cx="1130300" cy="203200"/>
          </a:xfrm>
          <a:prstGeom prst="roundRect">
            <a:avLst/>
          </a:prstGeom>
          <a:solidFill>
            <a:srgbClr val="00689E"/>
          </a:solidFill>
          <a:ln w="3175">
            <a:solidFill>
              <a:srgbClr val="00689E"/>
            </a:solidFill>
          </a:ln>
        </p:spPr>
        <p:txBody>
          <a:bodyPr/>
          <a:lstStyle/>
          <a:p/>
        </p:txBody>
      </p:sp>
      <p:sp>
        <p:nvSpPr>
          <p:cNvPr id="46" name="Section Title SaaS 控制层"/>
          <p:cNvSpPr txBox="1"/>
          <p:nvPr/>
        </p:nvSpPr>
        <p:spPr>
          <a:xfrm>
            <a:off x="666750" y="1835150"/>
            <a:ext cx="939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SaaS 控制层</a:t>
            </a:r>
          </a:p>
        </p:txBody>
      </p:sp>
      <p:sp>
        <p:nvSpPr>
          <p:cNvPr id="47" name="Section Subtitle SaaS 控制层"/>
          <p:cNvSpPr txBox="1"/>
          <p:nvPr/>
        </p:nvSpPr>
        <p:spPr>
          <a:xfrm>
            <a:off x="1790700" y="1847850"/>
            <a:ext cx="98425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125">
                <a:solidFill>
                  <a:srgbClr val="5D6977"/>
                </a:solidFill>
                <a:latin typeface="Microsoft YaHei"/>
                <a:ea typeface="Microsoft YaHei"/>
              </a:rPr>
              <a:t>平台侧控制租户开通、实例归属、业务能力授权和第三方渠道配置。</a:t>
            </a:r>
          </a:p>
        </p:txBody>
      </p:sp>
      <p:sp>
        <p:nvSpPr>
          <p:cNvPr id="48" name="Card 客服系统控制面"/>
          <p:cNvSpPr/>
          <p:nvPr/>
        </p:nvSpPr>
        <p:spPr>
          <a:xfrm>
            <a:off x="762000" y="2197100"/>
            <a:ext cx="2508250" cy="3683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49" name="Card Title 客服系统控制面"/>
          <p:cNvSpPr txBox="1"/>
          <p:nvPr/>
        </p:nvSpPr>
        <p:spPr>
          <a:xfrm>
            <a:off x="876300" y="2292350"/>
            <a:ext cx="189865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500" b="1">
                <a:solidFill>
                  <a:srgbClr val="102333"/>
                </a:solidFill>
                <a:latin typeface="Microsoft YaHei"/>
                <a:ea typeface="Microsoft YaHei"/>
              </a:rPr>
              <a:t>客服系统控制面</a:t>
            </a:r>
          </a:p>
        </p:txBody>
      </p:sp>
      <p:sp>
        <p:nvSpPr>
          <p:cNvPr id="50" name="Badge 已上线"/>
          <p:cNvSpPr/>
          <p:nvPr/>
        </p:nvSpPr>
        <p:spPr>
          <a:xfrm>
            <a:off x="2800350" y="2286000"/>
            <a:ext cx="393700" cy="152400"/>
          </a:xfrm>
          <a:prstGeom prst="roundRect">
            <a:avLst/>
          </a:prstGeom>
          <a:solidFill>
            <a:srgbClr val="E7F6EE"/>
          </a:solidFill>
          <a:ln w="3175">
            <a:solidFill>
              <a:srgbClr val="E7F6EE"/>
            </a:solidFill>
          </a:ln>
        </p:spPr>
        <p:txBody>
          <a:bodyPr/>
          <a:lstStyle/>
          <a:p/>
        </p:txBody>
      </p:sp>
      <p:sp>
        <p:nvSpPr>
          <p:cNvPr id="51" name="Badge Text 已上线"/>
          <p:cNvSpPr txBox="1"/>
          <p:nvPr/>
        </p:nvSpPr>
        <p:spPr>
          <a:xfrm>
            <a:off x="2800350" y="2311400"/>
            <a:ext cx="393700" cy="10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900" b="1">
                <a:solidFill>
                  <a:srgbClr val="14784A"/>
                </a:solidFill>
                <a:latin typeface="Microsoft YaHei"/>
                <a:ea typeface="Microsoft YaHei"/>
              </a:rPr>
              <a:t>已上线</a:t>
            </a:r>
          </a:p>
        </p:txBody>
      </p:sp>
      <p:sp>
        <p:nvSpPr>
          <p:cNvPr id="52" name="Card Desc 客服系统控制面"/>
          <p:cNvSpPr txBox="1"/>
          <p:nvPr/>
        </p:nvSpPr>
        <p:spPr>
          <a:xfrm>
            <a:off x="876300" y="2495550"/>
            <a:ext cx="22796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75">
                <a:solidFill>
                  <a:srgbClr val="5D6977"/>
                </a:solidFill>
                <a:latin typeface="Microsoft YaHei"/>
                <a:ea typeface="Microsoft YaHei"/>
              </a:rPr>
              <a:t>租户、实例、业务线</a:t>
            </a:r>
          </a:p>
        </p:txBody>
      </p:sp>
      <p:sp>
        <p:nvSpPr>
          <p:cNvPr id="53" name="Card 租户运行边界"/>
          <p:cNvSpPr/>
          <p:nvPr/>
        </p:nvSpPr>
        <p:spPr>
          <a:xfrm>
            <a:off x="3492500" y="2197100"/>
            <a:ext cx="2508250" cy="3683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54" name="Card Title 租户运行边界"/>
          <p:cNvSpPr txBox="1"/>
          <p:nvPr/>
        </p:nvSpPr>
        <p:spPr>
          <a:xfrm>
            <a:off x="3606800" y="2292350"/>
            <a:ext cx="189865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500" b="1">
                <a:solidFill>
                  <a:srgbClr val="102333"/>
                </a:solidFill>
                <a:latin typeface="Microsoft YaHei"/>
                <a:ea typeface="Microsoft YaHei"/>
              </a:rPr>
              <a:t>租户运行边界</a:t>
            </a:r>
          </a:p>
        </p:txBody>
      </p:sp>
      <p:sp>
        <p:nvSpPr>
          <p:cNvPr id="55" name="Badge 已上线"/>
          <p:cNvSpPr/>
          <p:nvPr/>
        </p:nvSpPr>
        <p:spPr>
          <a:xfrm>
            <a:off x="5530850" y="2286000"/>
            <a:ext cx="393700" cy="152400"/>
          </a:xfrm>
          <a:prstGeom prst="roundRect">
            <a:avLst/>
          </a:prstGeom>
          <a:solidFill>
            <a:srgbClr val="E7F6EE"/>
          </a:solidFill>
          <a:ln w="3175">
            <a:solidFill>
              <a:srgbClr val="E7F6EE"/>
            </a:solidFill>
          </a:ln>
        </p:spPr>
        <p:txBody>
          <a:bodyPr/>
          <a:lstStyle/>
          <a:p/>
        </p:txBody>
      </p:sp>
      <p:sp>
        <p:nvSpPr>
          <p:cNvPr id="56" name="Badge Text 已上线"/>
          <p:cNvSpPr txBox="1"/>
          <p:nvPr/>
        </p:nvSpPr>
        <p:spPr>
          <a:xfrm>
            <a:off x="5530850" y="2311400"/>
            <a:ext cx="393700" cy="10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900" b="1">
                <a:solidFill>
                  <a:srgbClr val="14784A"/>
                </a:solidFill>
                <a:latin typeface="Microsoft YaHei"/>
                <a:ea typeface="Microsoft YaHei"/>
              </a:rPr>
              <a:t>已上线</a:t>
            </a:r>
          </a:p>
        </p:txBody>
      </p:sp>
      <p:sp>
        <p:nvSpPr>
          <p:cNvPr id="57" name="Card Desc 租户运行边界"/>
          <p:cNvSpPr txBox="1"/>
          <p:nvPr/>
        </p:nvSpPr>
        <p:spPr>
          <a:xfrm>
            <a:off x="3606800" y="2495550"/>
            <a:ext cx="22796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75">
                <a:solidFill>
                  <a:srgbClr val="5D6977"/>
                </a:solidFill>
                <a:latin typeface="Microsoft YaHei"/>
                <a:ea typeface="Microsoft YaHei"/>
              </a:rPr>
              <a:t>租户配置、角色权限</a:t>
            </a:r>
          </a:p>
        </p:txBody>
      </p:sp>
      <p:sp>
        <p:nvSpPr>
          <p:cNvPr id="58" name="Card 实例部署边界"/>
          <p:cNvSpPr/>
          <p:nvPr/>
        </p:nvSpPr>
        <p:spPr>
          <a:xfrm>
            <a:off x="6223000" y="2197100"/>
            <a:ext cx="2508250" cy="3683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59" name="Card Title 实例部署边界"/>
          <p:cNvSpPr txBox="1"/>
          <p:nvPr/>
        </p:nvSpPr>
        <p:spPr>
          <a:xfrm>
            <a:off x="6337300" y="2292350"/>
            <a:ext cx="189865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500" b="1">
                <a:solidFill>
                  <a:srgbClr val="102333"/>
                </a:solidFill>
                <a:latin typeface="Microsoft YaHei"/>
                <a:ea typeface="Microsoft YaHei"/>
              </a:rPr>
              <a:t>实例部署边界</a:t>
            </a:r>
          </a:p>
        </p:txBody>
      </p:sp>
      <p:sp>
        <p:nvSpPr>
          <p:cNvPr id="60" name="Badge 已上线"/>
          <p:cNvSpPr/>
          <p:nvPr/>
        </p:nvSpPr>
        <p:spPr>
          <a:xfrm>
            <a:off x="8261350" y="2286000"/>
            <a:ext cx="393700" cy="152400"/>
          </a:xfrm>
          <a:prstGeom prst="roundRect">
            <a:avLst/>
          </a:prstGeom>
          <a:solidFill>
            <a:srgbClr val="E7F6EE"/>
          </a:solidFill>
          <a:ln w="3175">
            <a:solidFill>
              <a:srgbClr val="E7F6EE"/>
            </a:solidFill>
          </a:ln>
        </p:spPr>
        <p:txBody>
          <a:bodyPr/>
          <a:lstStyle/>
          <a:p/>
        </p:txBody>
      </p:sp>
      <p:sp>
        <p:nvSpPr>
          <p:cNvPr id="61" name="Badge Text 已上线"/>
          <p:cNvSpPr txBox="1"/>
          <p:nvPr/>
        </p:nvSpPr>
        <p:spPr>
          <a:xfrm>
            <a:off x="8261350" y="2311400"/>
            <a:ext cx="393700" cy="10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900" b="1">
                <a:solidFill>
                  <a:srgbClr val="14784A"/>
                </a:solidFill>
                <a:latin typeface="Microsoft YaHei"/>
                <a:ea typeface="Microsoft YaHei"/>
              </a:rPr>
              <a:t>已上线</a:t>
            </a:r>
          </a:p>
        </p:txBody>
      </p:sp>
      <p:sp>
        <p:nvSpPr>
          <p:cNvPr id="62" name="Card Desc 实例部署边界"/>
          <p:cNvSpPr txBox="1"/>
          <p:nvPr/>
        </p:nvSpPr>
        <p:spPr>
          <a:xfrm>
            <a:off x="6337300" y="2495550"/>
            <a:ext cx="22796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75">
                <a:solidFill>
                  <a:srgbClr val="5D6977"/>
                </a:solidFill>
                <a:latin typeface="Microsoft YaHei"/>
                <a:ea typeface="Microsoft YaHei"/>
              </a:rPr>
              <a:t>台湾 / 新加坡 / 欧盟</a:t>
            </a:r>
          </a:p>
        </p:txBody>
      </p:sp>
      <p:sp>
        <p:nvSpPr>
          <p:cNvPr id="63" name="Card 渠道与能力配置"/>
          <p:cNvSpPr/>
          <p:nvPr/>
        </p:nvSpPr>
        <p:spPr>
          <a:xfrm>
            <a:off x="8953500" y="2197100"/>
            <a:ext cx="2508250" cy="3683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9A63A"/>
            </a:solidFill>
            <a:prstDash val="dash"/>
          </a:ln>
        </p:spPr>
        <p:txBody>
          <a:bodyPr/>
          <a:lstStyle/>
          <a:p/>
        </p:txBody>
      </p:sp>
      <p:sp>
        <p:nvSpPr>
          <p:cNvPr id="64" name="Card Title 渠道与能力配置"/>
          <p:cNvSpPr txBox="1"/>
          <p:nvPr/>
        </p:nvSpPr>
        <p:spPr>
          <a:xfrm>
            <a:off x="9067800" y="2292350"/>
            <a:ext cx="189865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500" b="1">
                <a:solidFill>
                  <a:srgbClr val="102333"/>
                </a:solidFill>
                <a:latin typeface="Microsoft YaHei"/>
                <a:ea typeface="Microsoft YaHei"/>
              </a:rPr>
              <a:t>渠道与能力配置</a:t>
            </a:r>
          </a:p>
        </p:txBody>
      </p:sp>
      <p:sp>
        <p:nvSpPr>
          <p:cNvPr id="65" name="Badge 规划"/>
          <p:cNvSpPr/>
          <p:nvPr/>
        </p:nvSpPr>
        <p:spPr>
          <a:xfrm>
            <a:off x="10991850" y="2286000"/>
            <a:ext cx="304800" cy="152400"/>
          </a:xfrm>
          <a:prstGeom prst="roundRect">
            <a:avLst/>
          </a:prstGeom>
          <a:solidFill>
            <a:srgbClr val="FFF2D1"/>
          </a:solidFill>
          <a:ln w="3175">
            <a:solidFill>
              <a:srgbClr val="FFF2D1"/>
            </a:solidFill>
          </a:ln>
        </p:spPr>
        <p:txBody>
          <a:bodyPr/>
          <a:lstStyle/>
          <a:p/>
        </p:txBody>
      </p:sp>
      <p:sp>
        <p:nvSpPr>
          <p:cNvPr id="66" name="Badge Text 规划"/>
          <p:cNvSpPr txBox="1"/>
          <p:nvPr/>
        </p:nvSpPr>
        <p:spPr>
          <a:xfrm>
            <a:off x="10991850" y="2311400"/>
            <a:ext cx="304800" cy="10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900" b="1">
                <a:solidFill>
                  <a:srgbClr val="9B5E00"/>
                </a:solidFill>
                <a:latin typeface="Microsoft YaHei"/>
                <a:ea typeface="Microsoft YaHei"/>
              </a:rPr>
              <a:t>规划</a:t>
            </a:r>
          </a:p>
        </p:txBody>
      </p:sp>
      <p:sp>
        <p:nvSpPr>
          <p:cNvPr id="67" name="Card Desc 渠道与能力配置"/>
          <p:cNvSpPr txBox="1"/>
          <p:nvPr/>
        </p:nvSpPr>
        <p:spPr>
          <a:xfrm>
            <a:off x="9067800" y="2495550"/>
            <a:ext cx="22796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75">
                <a:solidFill>
                  <a:srgbClr val="5D6977"/>
                </a:solidFill>
                <a:latin typeface="Microsoft YaHei"/>
                <a:ea typeface="Microsoft YaHei"/>
              </a:rPr>
              <a:t>支付、短信、发票、车机、模型</a:t>
            </a:r>
          </a:p>
        </p:txBody>
      </p:sp>
      <p:sp>
        <p:nvSpPr>
          <p:cNvPr id="68" name="Arrow Line"/>
          <p:cNvSpPr/>
          <p:nvPr/>
        </p:nvSpPr>
        <p:spPr>
          <a:xfrm>
            <a:off x="6086475" y="2705100"/>
            <a:ext cx="19050" cy="8255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/>
        </p:txBody>
      </p:sp>
      <p:sp>
        <p:nvSpPr>
          <p:cNvPr id="69" name="Arrow Head"/>
          <p:cNvSpPr/>
          <p:nvPr/>
        </p:nvSpPr>
        <p:spPr>
          <a:xfrm rot="10800000">
            <a:off x="6045200" y="2768600"/>
            <a:ext cx="101600" cy="88900"/>
          </a:xfrm>
          <a:prstGeom prst="triangle">
            <a:avLst/>
          </a:prstGeom>
          <a:solidFill>
            <a:srgbClr val="00689E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Arrow Label Bg"/>
          <p:cNvSpPr/>
          <p:nvPr/>
        </p:nvSpPr>
        <p:spPr>
          <a:xfrm>
            <a:off x="5600700" y="2686050"/>
            <a:ext cx="990600" cy="165100"/>
          </a:xfrm>
          <a:prstGeom prst="roundRect">
            <a:avLst/>
          </a:prstGeom>
          <a:solidFill>
            <a:srgbClr val="F6F9FC"/>
          </a:solidFill>
          <a:ln w="1270">
            <a:solidFill>
              <a:srgbClr val="F6F9FC"/>
            </a:solidFill>
          </a:ln>
        </p:spPr>
        <p:txBody>
          <a:bodyPr/>
          <a:lstStyle/>
          <a:p/>
        </p:txBody>
      </p:sp>
      <p:sp>
        <p:nvSpPr>
          <p:cNvPr id="71" name="Arrow Label 业务能力调用"/>
          <p:cNvSpPr txBox="1"/>
          <p:nvPr/>
        </p:nvSpPr>
        <p:spPr>
          <a:xfrm>
            <a:off x="5600700" y="2717800"/>
            <a:ext cx="9906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975" b="1">
                <a:solidFill>
                  <a:srgbClr val="00689E"/>
                </a:solidFill>
                <a:latin typeface="Microsoft YaHei"/>
                <a:ea typeface="Microsoft YaHei"/>
              </a:rPr>
              <a:t>业务能力调用</a:t>
            </a:r>
          </a:p>
        </p:txBody>
      </p:sp>
      <p:sp>
        <p:nvSpPr>
          <p:cNvPr id="72" name="Section 租户业务层"/>
          <p:cNvSpPr/>
          <p:nvPr/>
        </p:nvSpPr>
        <p:spPr>
          <a:xfrm>
            <a:off x="444500" y="2895600"/>
            <a:ext cx="11303000" cy="13589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BFD5E3"/>
            </a:solidFill>
          </a:ln>
        </p:spPr>
        <p:txBody>
          <a:bodyPr/>
          <a:lstStyle/>
          <a:p/>
        </p:txBody>
      </p:sp>
      <p:sp>
        <p:nvSpPr>
          <p:cNvPr id="73" name="Section Label 租户业务层"/>
          <p:cNvSpPr/>
          <p:nvPr/>
        </p:nvSpPr>
        <p:spPr>
          <a:xfrm>
            <a:off x="558800" y="2794000"/>
            <a:ext cx="800100" cy="203200"/>
          </a:xfrm>
          <a:prstGeom prst="roundRect">
            <a:avLst/>
          </a:prstGeom>
          <a:solidFill>
            <a:srgbClr val="00689E"/>
          </a:solidFill>
          <a:ln w="3175">
            <a:solidFill>
              <a:srgbClr val="00689E"/>
            </a:solidFill>
          </a:ln>
        </p:spPr>
        <p:txBody>
          <a:bodyPr/>
          <a:lstStyle/>
          <a:p/>
        </p:txBody>
      </p:sp>
      <p:sp>
        <p:nvSpPr>
          <p:cNvPr id="74" name="Section Title 租户业务层"/>
          <p:cNvSpPr txBox="1"/>
          <p:nvPr/>
        </p:nvSpPr>
        <p:spPr>
          <a:xfrm>
            <a:off x="666750" y="2838450"/>
            <a:ext cx="609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租户业务层</a:t>
            </a:r>
          </a:p>
        </p:txBody>
      </p:sp>
      <p:sp>
        <p:nvSpPr>
          <p:cNvPr id="75" name="Section Subtitle 租户业务层"/>
          <p:cNvSpPr txBox="1"/>
          <p:nvPr/>
        </p:nvSpPr>
        <p:spPr>
          <a:xfrm>
            <a:off x="1460500" y="2851150"/>
            <a:ext cx="101727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125">
                <a:solidFill>
                  <a:srgbClr val="5D6977"/>
                </a:solidFill>
                <a:latin typeface="Microsoft YaHei"/>
                <a:ea typeface="Microsoft YaHei"/>
              </a:rPr>
              <a:t>业务线差异体现在入口流程、规则、权限、资源占用和费用归属，底层能力尽量复用。</a:t>
            </a:r>
          </a:p>
        </p:txBody>
      </p:sp>
      <p:sp>
        <p:nvSpPr>
          <p:cNvPr id="76" name="Card 分时租赁"/>
          <p:cNvSpPr/>
          <p:nvPr/>
        </p:nvSpPr>
        <p:spPr>
          <a:xfrm>
            <a:off x="762000" y="3175000"/>
            <a:ext cx="2000250" cy="3937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77" name="Card Title 分时租赁"/>
          <p:cNvSpPr txBox="1"/>
          <p:nvPr/>
        </p:nvSpPr>
        <p:spPr>
          <a:xfrm>
            <a:off x="876300" y="3270250"/>
            <a:ext cx="139065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500" b="1">
                <a:solidFill>
                  <a:srgbClr val="102333"/>
                </a:solidFill>
                <a:latin typeface="Microsoft YaHei"/>
                <a:ea typeface="Microsoft YaHei"/>
              </a:rPr>
              <a:t>分时租赁</a:t>
            </a:r>
          </a:p>
        </p:txBody>
      </p:sp>
      <p:sp>
        <p:nvSpPr>
          <p:cNvPr id="78" name="Badge 已上线"/>
          <p:cNvSpPr/>
          <p:nvPr/>
        </p:nvSpPr>
        <p:spPr>
          <a:xfrm>
            <a:off x="2292350" y="3263900"/>
            <a:ext cx="393700" cy="152400"/>
          </a:xfrm>
          <a:prstGeom prst="roundRect">
            <a:avLst/>
          </a:prstGeom>
          <a:solidFill>
            <a:srgbClr val="E7F6EE"/>
          </a:solidFill>
          <a:ln w="3175">
            <a:solidFill>
              <a:srgbClr val="E7F6EE"/>
            </a:solidFill>
          </a:ln>
        </p:spPr>
        <p:txBody>
          <a:bodyPr/>
          <a:lstStyle/>
          <a:p/>
        </p:txBody>
      </p:sp>
      <p:sp>
        <p:nvSpPr>
          <p:cNvPr id="79" name="Badge Text 已上线"/>
          <p:cNvSpPr txBox="1"/>
          <p:nvPr/>
        </p:nvSpPr>
        <p:spPr>
          <a:xfrm>
            <a:off x="2292350" y="3289300"/>
            <a:ext cx="393700" cy="10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900" b="1">
                <a:solidFill>
                  <a:srgbClr val="14784A"/>
                </a:solidFill>
                <a:latin typeface="Microsoft YaHei"/>
                <a:ea typeface="Microsoft YaHei"/>
              </a:rPr>
              <a:t>已上线</a:t>
            </a:r>
          </a:p>
        </p:txBody>
      </p:sp>
      <p:sp>
        <p:nvSpPr>
          <p:cNvPr id="80" name="Card Desc 分时租赁"/>
          <p:cNvSpPr txBox="1"/>
          <p:nvPr/>
        </p:nvSpPr>
        <p:spPr>
          <a:xfrm>
            <a:off x="876300" y="3473450"/>
            <a:ext cx="17716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75">
                <a:solidFill>
                  <a:srgbClr val="5D6977"/>
                </a:solidFill>
                <a:latin typeface="Microsoft YaHei"/>
                <a:ea typeface="Microsoft YaHei"/>
              </a:rPr>
              <a:t>同站租还 / 甲租乙还</a:t>
            </a:r>
          </a:p>
        </p:txBody>
      </p:sp>
      <p:sp>
        <p:nvSpPr>
          <p:cNvPr id="81" name="Card 公务车"/>
          <p:cNvSpPr/>
          <p:nvPr/>
        </p:nvSpPr>
        <p:spPr>
          <a:xfrm>
            <a:off x="2927350" y="3175000"/>
            <a:ext cx="2000250" cy="3937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82" name="Card Title 公务车"/>
          <p:cNvSpPr txBox="1"/>
          <p:nvPr/>
        </p:nvSpPr>
        <p:spPr>
          <a:xfrm>
            <a:off x="3041650" y="3270250"/>
            <a:ext cx="139065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500" b="1">
                <a:solidFill>
                  <a:srgbClr val="102333"/>
                </a:solidFill>
                <a:latin typeface="Microsoft YaHei"/>
                <a:ea typeface="Microsoft YaHei"/>
              </a:rPr>
              <a:t>公务车</a:t>
            </a:r>
          </a:p>
        </p:txBody>
      </p:sp>
      <p:sp>
        <p:nvSpPr>
          <p:cNvPr id="83" name="Badge 已上线"/>
          <p:cNvSpPr/>
          <p:nvPr/>
        </p:nvSpPr>
        <p:spPr>
          <a:xfrm>
            <a:off x="4457700" y="3263900"/>
            <a:ext cx="393700" cy="152400"/>
          </a:xfrm>
          <a:prstGeom prst="roundRect">
            <a:avLst/>
          </a:prstGeom>
          <a:solidFill>
            <a:srgbClr val="E7F6EE"/>
          </a:solidFill>
          <a:ln w="3175">
            <a:solidFill>
              <a:srgbClr val="E7F6EE"/>
            </a:solidFill>
          </a:ln>
        </p:spPr>
        <p:txBody>
          <a:bodyPr/>
          <a:lstStyle/>
          <a:p/>
        </p:txBody>
      </p:sp>
      <p:sp>
        <p:nvSpPr>
          <p:cNvPr id="84" name="Badge Text 已上线"/>
          <p:cNvSpPr txBox="1"/>
          <p:nvPr/>
        </p:nvSpPr>
        <p:spPr>
          <a:xfrm>
            <a:off x="4457700" y="3289300"/>
            <a:ext cx="393700" cy="10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900" b="1">
                <a:solidFill>
                  <a:srgbClr val="14784A"/>
                </a:solidFill>
                <a:latin typeface="Microsoft YaHei"/>
                <a:ea typeface="Microsoft YaHei"/>
              </a:rPr>
              <a:t>已上线</a:t>
            </a:r>
          </a:p>
        </p:txBody>
      </p:sp>
      <p:sp>
        <p:nvSpPr>
          <p:cNvPr id="85" name="Card Desc 公务车"/>
          <p:cNvSpPr txBox="1"/>
          <p:nvPr/>
        </p:nvSpPr>
        <p:spPr>
          <a:xfrm>
            <a:off x="3041650" y="3473450"/>
            <a:ext cx="17716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75">
                <a:solidFill>
                  <a:srgbClr val="5D6977"/>
                </a:solidFill>
                <a:latin typeface="Microsoft YaHei"/>
                <a:ea typeface="Microsoft YaHei"/>
              </a:rPr>
              <a:t>企业合约与员工用车</a:t>
            </a:r>
          </a:p>
        </p:txBody>
      </p:sp>
      <p:sp>
        <p:nvSpPr>
          <p:cNvPr id="86" name="Card 门市租赁"/>
          <p:cNvSpPr/>
          <p:nvPr/>
        </p:nvSpPr>
        <p:spPr>
          <a:xfrm>
            <a:off x="5092700" y="3175000"/>
            <a:ext cx="2000250" cy="3937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9A63A"/>
            </a:solidFill>
            <a:prstDash val="dash"/>
          </a:ln>
        </p:spPr>
        <p:txBody>
          <a:bodyPr/>
          <a:lstStyle/>
          <a:p/>
        </p:txBody>
      </p:sp>
      <p:sp>
        <p:nvSpPr>
          <p:cNvPr id="87" name="Card Title 门市租赁"/>
          <p:cNvSpPr txBox="1"/>
          <p:nvPr/>
        </p:nvSpPr>
        <p:spPr>
          <a:xfrm>
            <a:off x="5207000" y="3270250"/>
            <a:ext cx="139065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500" b="1">
                <a:solidFill>
                  <a:srgbClr val="102333"/>
                </a:solidFill>
                <a:latin typeface="Microsoft YaHei"/>
                <a:ea typeface="Microsoft YaHei"/>
              </a:rPr>
              <a:t>门市租赁</a:t>
            </a:r>
          </a:p>
        </p:txBody>
      </p:sp>
      <p:sp>
        <p:nvSpPr>
          <p:cNvPr id="88" name="Badge 规划"/>
          <p:cNvSpPr/>
          <p:nvPr/>
        </p:nvSpPr>
        <p:spPr>
          <a:xfrm>
            <a:off x="6623050" y="3263900"/>
            <a:ext cx="304800" cy="152400"/>
          </a:xfrm>
          <a:prstGeom prst="roundRect">
            <a:avLst/>
          </a:prstGeom>
          <a:solidFill>
            <a:srgbClr val="FFF2D1"/>
          </a:solidFill>
          <a:ln w="3175">
            <a:solidFill>
              <a:srgbClr val="FFF2D1"/>
            </a:solidFill>
          </a:ln>
        </p:spPr>
        <p:txBody>
          <a:bodyPr/>
          <a:lstStyle/>
          <a:p/>
        </p:txBody>
      </p:sp>
      <p:sp>
        <p:nvSpPr>
          <p:cNvPr id="89" name="Badge Text 规划"/>
          <p:cNvSpPr txBox="1"/>
          <p:nvPr/>
        </p:nvSpPr>
        <p:spPr>
          <a:xfrm>
            <a:off x="6623050" y="3289300"/>
            <a:ext cx="304800" cy="10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900" b="1">
                <a:solidFill>
                  <a:srgbClr val="9B5E00"/>
                </a:solidFill>
                <a:latin typeface="Microsoft YaHei"/>
                <a:ea typeface="Microsoft YaHei"/>
              </a:rPr>
              <a:t>规划</a:t>
            </a:r>
          </a:p>
        </p:txBody>
      </p:sp>
      <p:sp>
        <p:nvSpPr>
          <p:cNvPr id="90" name="Card Desc 门市租赁"/>
          <p:cNvSpPr txBox="1"/>
          <p:nvPr/>
        </p:nvSpPr>
        <p:spPr>
          <a:xfrm>
            <a:off x="5207000" y="3473450"/>
            <a:ext cx="17716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75">
                <a:solidFill>
                  <a:srgbClr val="5D6977"/>
                </a:solidFill>
                <a:latin typeface="Microsoft YaHei"/>
                <a:ea typeface="Microsoft YaHei"/>
              </a:rPr>
              <a:t>门市租车 / 24H 自助</a:t>
            </a:r>
          </a:p>
        </p:txBody>
      </p:sp>
      <p:sp>
        <p:nvSpPr>
          <p:cNvPr id="91" name="Card 团体票券"/>
          <p:cNvSpPr/>
          <p:nvPr/>
        </p:nvSpPr>
        <p:spPr>
          <a:xfrm>
            <a:off x="7258050" y="3175000"/>
            <a:ext cx="2000250" cy="3937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9A63A"/>
            </a:solidFill>
            <a:prstDash val="dash"/>
          </a:ln>
        </p:spPr>
        <p:txBody>
          <a:bodyPr/>
          <a:lstStyle/>
          <a:p/>
        </p:txBody>
      </p:sp>
      <p:sp>
        <p:nvSpPr>
          <p:cNvPr id="92" name="Card Title 团体票券"/>
          <p:cNvSpPr txBox="1"/>
          <p:nvPr/>
        </p:nvSpPr>
        <p:spPr>
          <a:xfrm>
            <a:off x="7372350" y="3270250"/>
            <a:ext cx="139065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500" b="1">
                <a:solidFill>
                  <a:srgbClr val="102333"/>
                </a:solidFill>
                <a:latin typeface="Microsoft YaHei"/>
                <a:ea typeface="Microsoft YaHei"/>
              </a:rPr>
              <a:t>团体票券</a:t>
            </a:r>
          </a:p>
        </p:txBody>
      </p:sp>
      <p:sp>
        <p:nvSpPr>
          <p:cNvPr id="93" name="Badge 规划"/>
          <p:cNvSpPr/>
          <p:nvPr/>
        </p:nvSpPr>
        <p:spPr>
          <a:xfrm>
            <a:off x="8788400" y="3263900"/>
            <a:ext cx="304800" cy="152400"/>
          </a:xfrm>
          <a:prstGeom prst="roundRect">
            <a:avLst/>
          </a:prstGeom>
          <a:solidFill>
            <a:srgbClr val="FFF2D1"/>
          </a:solidFill>
          <a:ln w="3175">
            <a:solidFill>
              <a:srgbClr val="FFF2D1"/>
            </a:solidFill>
          </a:ln>
        </p:spPr>
        <p:txBody>
          <a:bodyPr/>
          <a:lstStyle/>
          <a:p/>
        </p:txBody>
      </p:sp>
      <p:sp>
        <p:nvSpPr>
          <p:cNvPr id="94" name="Badge Text 规划"/>
          <p:cNvSpPr txBox="1"/>
          <p:nvPr/>
        </p:nvSpPr>
        <p:spPr>
          <a:xfrm>
            <a:off x="8788400" y="3289300"/>
            <a:ext cx="304800" cy="10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900" b="1">
                <a:solidFill>
                  <a:srgbClr val="9B5E00"/>
                </a:solidFill>
                <a:latin typeface="Microsoft YaHei"/>
                <a:ea typeface="Microsoft YaHei"/>
              </a:rPr>
              <a:t>规划</a:t>
            </a:r>
          </a:p>
        </p:txBody>
      </p:sp>
      <p:sp>
        <p:nvSpPr>
          <p:cNvPr id="95" name="Card Desc 团体票券"/>
          <p:cNvSpPr txBox="1"/>
          <p:nvPr/>
        </p:nvSpPr>
        <p:spPr>
          <a:xfrm>
            <a:off x="7372350" y="3473450"/>
            <a:ext cx="17716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75">
                <a:solidFill>
                  <a:srgbClr val="5D6977"/>
                </a:solidFill>
                <a:latin typeface="Microsoft YaHei"/>
                <a:ea typeface="Microsoft YaHei"/>
              </a:rPr>
              <a:t>旅行社名单与核销码</a:t>
            </a:r>
          </a:p>
        </p:txBody>
      </p:sp>
      <p:sp>
        <p:nvSpPr>
          <p:cNvPr id="96" name="Card 智能调度 Agent"/>
          <p:cNvSpPr/>
          <p:nvPr/>
        </p:nvSpPr>
        <p:spPr>
          <a:xfrm>
            <a:off x="9423400" y="3175000"/>
            <a:ext cx="2000250" cy="3937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9A63A"/>
            </a:solidFill>
            <a:prstDash val="dash"/>
          </a:ln>
        </p:spPr>
        <p:txBody>
          <a:bodyPr/>
          <a:lstStyle/>
          <a:p/>
        </p:txBody>
      </p:sp>
      <p:sp>
        <p:nvSpPr>
          <p:cNvPr id="97" name="Card Title 智能调度 Agent"/>
          <p:cNvSpPr txBox="1"/>
          <p:nvPr/>
        </p:nvSpPr>
        <p:spPr>
          <a:xfrm>
            <a:off x="9537700" y="3270250"/>
            <a:ext cx="139065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500" b="1">
                <a:solidFill>
                  <a:srgbClr val="102333"/>
                </a:solidFill>
                <a:latin typeface="Microsoft YaHei"/>
                <a:ea typeface="Microsoft YaHei"/>
              </a:rPr>
              <a:t>智能调度 Agent</a:t>
            </a:r>
          </a:p>
        </p:txBody>
      </p:sp>
      <p:sp>
        <p:nvSpPr>
          <p:cNvPr id="98" name="Badge 规划"/>
          <p:cNvSpPr/>
          <p:nvPr/>
        </p:nvSpPr>
        <p:spPr>
          <a:xfrm>
            <a:off x="10953750" y="3263900"/>
            <a:ext cx="304800" cy="152400"/>
          </a:xfrm>
          <a:prstGeom prst="roundRect">
            <a:avLst/>
          </a:prstGeom>
          <a:solidFill>
            <a:srgbClr val="FFF2D1"/>
          </a:solidFill>
          <a:ln w="3175">
            <a:solidFill>
              <a:srgbClr val="FFF2D1"/>
            </a:solidFill>
          </a:ln>
        </p:spPr>
        <p:txBody>
          <a:bodyPr/>
          <a:lstStyle/>
          <a:p/>
        </p:txBody>
      </p:sp>
      <p:sp>
        <p:nvSpPr>
          <p:cNvPr id="99" name="Badge Text 规划"/>
          <p:cNvSpPr txBox="1"/>
          <p:nvPr/>
        </p:nvSpPr>
        <p:spPr>
          <a:xfrm>
            <a:off x="10953750" y="3289300"/>
            <a:ext cx="304800" cy="10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900" b="1">
                <a:solidFill>
                  <a:srgbClr val="9B5E00"/>
                </a:solidFill>
                <a:latin typeface="Microsoft YaHei"/>
                <a:ea typeface="Microsoft YaHei"/>
              </a:rPr>
              <a:t>规划</a:t>
            </a:r>
          </a:p>
        </p:txBody>
      </p:sp>
      <p:sp>
        <p:nvSpPr>
          <p:cNvPr id="100" name="Card Desc 智能调度 Agent"/>
          <p:cNvSpPr txBox="1"/>
          <p:nvPr/>
        </p:nvSpPr>
        <p:spPr>
          <a:xfrm>
            <a:off x="9537700" y="3473450"/>
            <a:ext cx="177165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75">
                <a:solidFill>
                  <a:srgbClr val="5D6977"/>
                </a:solidFill>
                <a:latin typeface="Microsoft YaHei"/>
                <a:ea typeface="Microsoft YaHei"/>
              </a:rPr>
              <a:t>模型分析与调度优化</a:t>
            </a:r>
          </a:p>
        </p:txBody>
      </p:sp>
      <p:sp>
        <p:nvSpPr>
          <p:cNvPr id="101" name="Chip 台湾实例"/>
          <p:cNvSpPr/>
          <p:nvPr/>
        </p:nvSpPr>
        <p:spPr>
          <a:xfrm>
            <a:off x="762000" y="3778250"/>
            <a:ext cx="1651000" cy="2413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102" name="Chip Text 台湾实例"/>
          <p:cNvSpPr txBox="1"/>
          <p:nvPr/>
        </p:nvSpPr>
        <p:spPr>
          <a:xfrm>
            <a:off x="762000" y="3822700"/>
            <a:ext cx="1651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102333"/>
                </a:solidFill>
                <a:latin typeface="Microsoft YaHei"/>
                <a:ea typeface="Microsoft YaHei"/>
              </a:rPr>
              <a:t>台湾实例</a:t>
            </a:r>
          </a:p>
        </p:txBody>
      </p:sp>
      <p:sp>
        <p:nvSpPr>
          <p:cNvPr id="103" name="Chip 新加坡 AWS"/>
          <p:cNvSpPr/>
          <p:nvPr/>
        </p:nvSpPr>
        <p:spPr>
          <a:xfrm>
            <a:off x="2590800" y="3778250"/>
            <a:ext cx="1651000" cy="2413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104" name="Chip Text 新加坡 AWS"/>
          <p:cNvSpPr txBox="1"/>
          <p:nvPr/>
        </p:nvSpPr>
        <p:spPr>
          <a:xfrm>
            <a:off x="2590800" y="3822700"/>
            <a:ext cx="1651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102333"/>
                </a:solidFill>
                <a:latin typeface="Microsoft YaHei"/>
                <a:ea typeface="Microsoft YaHei"/>
              </a:rPr>
              <a:t>新加坡 AWS</a:t>
            </a:r>
          </a:p>
        </p:txBody>
      </p:sp>
      <p:sp>
        <p:nvSpPr>
          <p:cNvPr id="105" name="Chip 欧盟 / 其他实例"/>
          <p:cNvSpPr/>
          <p:nvPr/>
        </p:nvSpPr>
        <p:spPr>
          <a:xfrm>
            <a:off x="4419600" y="3778250"/>
            <a:ext cx="1651000" cy="2413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106" name="Chip Text 欧盟 / 其他实例"/>
          <p:cNvSpPr txBox="1"/>
          <p:nvPr/>
        </p:nvSpPr>
        <p:spPr>
          <a:xfrm>
            <a:off x="4419600" y="3822700"/>
            <a:ext cx="1651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102333"/>
                </a:solidFill>
                <a:latin typeface="Microsoft YaHei"/>
                <a:ea typeface="Microsoft YaHei"/>
              </a:rPr>
              <a:t>欧盟 / 其他实例</a:t>
            </a:r>
          </a:p>
        </p:txBody>
      </p:sp>
      <p:sp>
        <p:nvSpPr>
          <p:cNvPr id="107" name="Chip 租户 A"/>
          <p:cNvSpPr/>
          <p:nvPr/>
        </p:nvSpPr>
        <p:spPr>
          <a:xfrm>
            <a:off x="6248400" y="3778250"/>
            <a:ext cx="1651000" cy="2413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108" name="Chip Text 租户 A"/>
          <p:cNvSpPr txBox="1"/>
          <p:nvPr/>
        </p:nvSpPr>
        <p:spPr>
          <a:xfrm>
            <a:off x="6248400" y="3822700"/>
            <a:ext cx="1651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102333"/>
                </a:solidFill>
                <a:latin typeface="Microsoft YaHei"/>
                <a:ea typeface="Microsoft YaHei"/>
              </a:rPr>
              <a:t>租户 A</a:t>
            </a:r>
          </a:p>
        </p:txBody>
      </p:sp>
      <p:sp>
        <p:nvSpPr>
          <p:cNvPr id="109" name="Chip 租户 B"/>
          <p:cNvSpPr/>
          <p:nvPr/>
        </p:nvSpPr>
        <p:spPr>
          <a:xfrm>
            <a:off x="8077200" y="3778250"/>
            <a:ext cx="1651000" cy="2413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110" name="Chip Text 租户 B"/>
          <p:cNvSpPr txBox="1"/>
          <p:nvPr/>
        </p:nvSpPr>
        <p:spPr>
          <a:xfrm>
            <a:off x="8077200" y="3822700"/>
            <a:ext cx="1651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102333"/>
                </a:solidFill>
                <a:latin typeface="Microsoft YaHei"/>
                <a:ea typeface="Microsoft YaHei"/>
              </a:rPr>
              <a:t>租户 B</a:t>
            </a:r>
          </a:p>
        </p:txBody>
      </p:sp>
      <p:sp>
        <p:nvSpPr>
          <p:cNvPr id="111" name="Chip 租户业务数据隔离"/>
          <p:cNvSpPr/>
          <p:nvPr/>
        </p:nvSpPr>
        <p:spPr>
          <a:xfrm>
            <a:off x="9906000" y="3778250"/>
            <a:ext cx="1651000" cy="2413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112" name="Chip Text 租户业务数据隔离"/>
          <p:cNvSpPr txBox="1"/>
          <p:nvPr/>
        </p:nvSpPr>
        <p:spPr>
          <a:xfrm>
            <a:off x="9906000" y="3822700"/>
            <a:ext cx="1651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102333"/>
                </a:solidFill>
                <a:latin typeface="Microsoft YaHei"/>
                <a:ea typeface="Microsoft YaHei"/>
              </a:rPr>
              <a:t>租户业务数据隔离</a:t>
            </a:r>
          </a:p>
        </p:txBody>
      </p:sp>
      <p:sp>
        <p:nvSpPr>
          <p:cNvPr id="113" name="Arrow Line"/>
          <p:cNvSpPr/>
          <p:nvPr/>
        </p:nvSpPr>
        <p:spPr>
          <a:xfrm>
            <a:off x="6086475" y="4267200"/>
            <a:ext cx="19050" cy="8255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/>
        </p:txBody>
      </p:sp>
      <p:sp>
        <p:nvSpPr>
          <p:cNvPr id="114" name="Arrow Head"/>
          <p:cNvSpPr/>
          <p:nvPr/>
        </p:nvSpPr>
        <p:spPr>
          <a:xfrm rot="10800000">
            <a:off x="6045200" y="4330700"/>
            <a:ext cx="101600" cy="88900"/>
          </a:xfrm>
          <a:prstGeom prst="triangle">
            <a:avLst/>
          </a:prstGeom>
          <a:solidFill>
            <a:srgbClr val="0068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Arrow Label Bg"/>
          <p:cNvSpPr/>
          <p:nvPr/>
        </p:nvSpPr>
        <p:spPr>
          <a:xfrm>
            <a:off x="5600700" y="4248150"/>
            <a:ext cx="990600" cy="165100"/>
          </a:xfrm>
          <a:prstGeom prst="roundRect">
            <a:avLst/>
          </a:prstGeom>
          <a:solidFill>
            <a:srgbClr val="F6F9FC"/>
          </a:solidFill>
          <a:ln w="1270">
            <a:solidFill>
              <a:srgbClr val="F6F9FC"/>
            </a:solidFill>
          </a:ln>
        </p:spPr>
        <p:txBody>
          <a:bodyPr/>
          <a:lstStyle/>
          <a:p/>
        </p:txBody>
      </p:sp>
      <p:sp>
        <p:nvSpPr>
          <p:cNvPr id="116" name="Arrow Label 统一能力底座"/>
          <p:cNvSpPr txBox="1"/>
          <p:nvPr/>
        </p:nvSpPr>
        <p:spPr>
          <a:xfrm>
            <a:off x="5600700" y="4279900"/>
            <a:ext cx="9906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975" b="1">
                <a:solidFill>
                  <a:srgbClr val="00689E"/>
                </a:solidFill>
                <a:latin typeface="Microsoft YaHei"/>
                <a:ea typeface="Microsoft YaHei"/>
              </a:rPr>
              <a:t>统一能力底座</a:t>
            </a:r>
          </a:p>
        </p:txBody>
      </p:sp>
      <p:sp>
        <p:nvSpPr>
          <p:cNvPr id="117" name="Section 统一业务中台"/>
          <p:cNvSpPr/>
          <p:nvPr/>
        </p:nvSpPr>
        <p:spPr>
          <a:xfrm>
            <a:off x="444500" y="4457700"/>
            <a:ext cx="11303000" cy="12446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BFD5E3"/>
            </a:solidFill>
          </a:ln>
        </p:spPr>
        <p:txBody>
          <a:bodyPr/>
          <a:lstStyle/>
          <a:p/>
        </p:txBody>
      </p:sp>
      <p:sp>
        <p:nvSpPr>
          <p:cNvPr id="118" name="Section Label 统一业务中台"/>
          <p:cNvSpPr/>
          <p:nvPr/>
        </p:nvSpPr>
        <p:spPr>
          <a:xfrm>
            <a:off x="558800" y="4356100"/>
            <a:ext cx="901700" cy="203200"/>
          </a:xfrm>
          <a:prstGeom prst="roundRect">
            <a:avLst/>
          </a:prstGeom>
          <a:solidFill>
            <a:srgbClr val="00689E"/>
          </a:solidFill>
          <a:ln w="3175">
            <a:solidFill>
              <a:srgbClr val="00689E"/>
            </a:solidFill>
          </a:ln>
        </p:spPr>
        <p:txBody>
          <a:bodyPr/>
          <a:lstStyle/>
          <a:p/>
        </p:txBody>
      </p:sp>
      <p:sp>
        <p:nvSpPr>
          <p:cNvPr id="119" name="Section Title 统一业务中台"/>
          <p:cNvSpPr txBox="1"/>
          <p:nvPr/>
        </p:nvSpPr>
        <p:spPr>
          <a:xfrm>
            <a:off x="666750" y="4400550"/>
            <a:ext cx="711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统一业务中台</a:t>
            </a:r>
          </a:p>
        </p:txBody>
      </p:sp>
      <p:sp>
        <p:nvSpPr>
          <p:cNvPr id="120" name="Section Subtitle 统一业务中台"/>
          <p:cNvSpPr txBox="1"/>
          <p:nvPr/>
        </p:nvSpPr>
        <p:spPr>
          <a:xfrm>
            <a:off x="1562100" y="4413250"/>
            <a:ext cx="100711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125">
                <a:solidFill>
                  <a:srgbClr val="5D6977"/>
                </a:solidFill>
                <a:latin typeface="Microsoft YaHei"/>
                <a:ea typeface="Microsoft YaHei"/>
              </a:rPr>
              <a:t>沉淀跨业务线复用能力，减少新业务重复建设。</a:t>
            </a:r>
          </a:p>
        </p:txBody>
      </p:sp>
      <p:sp>
        <p:nvSpPr>
          <p:cNvPr id="121" name="Shape"/>
          <p:cNvSpPr/>
          <p:nvPr/>
        </p:nvSpPr>
        <p:spPr>
          <a:xfrm>
            <a:off x="762000" y="4730750"/>
            <a:ext cx="2508250" cy="787400"/>
          </a:xfrm>
          <a:prstGeom prst="roundRect">
            <a:avLst/>
          </a:prstGeom>
          <a:solidFill>
            <a:srgbClr val="E2F2F8"/>
          </a:solidFill>
          <a:ln w="9525">
            <a:solidFill>
              <a:srgbClr val="BFD5E3"/>
            </a:solidFill>
          </a:ln>
        </p:spPr>
        <p:txBody>
          <a:bodyPr/>
          <a:lstStyle/>
          <a:p/>
        </p:txBody>
      </p:sp>
      <p:sp>
        <p:nvSpPr>
          <p:cNvPr id="122" name="Text"/>
          <p:cNvSpPr txBox="1"/>
          <p:nvPr/>
        </p:nvSpPr>
        <p:spPr>
          <a:xfrm>
            <a:off x="876300" y="4813300"/>
            <a:ext cx="227965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425" b="1">
                <a:solidFill>
                  <a:srgbClr val="004C73"/>
                </a:solidFill>
                <a:latin typeface="Microsoft YaHei"/>
                <a:ea typeface="Microsoft YaHei"/>
              </a:rPr>
              <a:t>资源中心</a:t>
            </a:r>
          </a:p>
        </p:txBody>
      </p:sp>
      <p:sp>
        <p:nvSpPr>
          <p:cNvPr id="123" name="Chip 组织 / 权限"/>
          <p:cNvSpPr/>
          <p:nvPr/>
        </p:nvSpPr>
        <p:spPr>
          <a:xfrm>
            <a:off x="876300" y="5029200"/>
            <a:ext cx="1016000" cy="1778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124" name="Chip Text 组织 / 权限"/>
          <p:cNvSpPr txBox="1"/>
          <p:nvPr/>
        </p:nvSpPr>
        <p:spPr>
          <a:xfrm>
            <a:off x="876300" y="5073650"/>
            <a:ext cx="1016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102333"/>
                </a:solidFill>
                <a:latin typeface="Microsoft YaHei"/>
                <a:ea typeface="Microsoft YaHei"/>
              </a:rPr>
              <a:t>组织 / 权限</a:t>
            </a:r>
          </a:p>
        </p:txBody>
      </p:sp>
      <p:sp>
        <p:nvSpPr>
          <p:cNvPr id="125" name="Chip 会员 / 企业"/>
          <p:cNvSpPr/>
          <p:nvPr/>
        </p:nvSpPr>
        <p:spPr>
          <a:xfrm>
            <a:off x="2006600" y="5029200"/>
            <a:ext cx="1016000" cy="1778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126" name="Chip Text 会员 / 企业"/>
          <p:cNvSpPr txBox="1"/>
          <p:nvPr/>
        </p:nvSpPr>
        <p:spPr>
          <a:xfrm>
            <a:off x="2006600" y="5073650"/>
            <a:ext cx="1016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102333"/>
                </a:solidFill>
                <a:latin typeface="Microsoft YaHei"/>
                <a:ea typeface="Microsoft YaHei"/>
              </a:rPr>
              <a:t>会员 / 企业</a:t>
            </a:r>
          </a:p>
        </p:txBody>
      </p:sp>
      <p:sp>
        <p:nvSpPr>
          <p:cNvPr id="127" name="Chip 车辆 / 车组"/>
          <p:cNvSpPr/>
          <p:nvPr/>
        </p:nvSpPr>
        <p:spPr>
          <a:xfrm>
            <a:off x="876300" y="5270500"/>
            <a:ext cx="1016000" cy="1778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128" name="Chip Text 车辆 / 车组"/>
          <p:cNvSpPr txBox="1"/>
          <p:nvPr/>
        </p:nvSpPr>
        <p:spPr>
          <a:xfrm>
            <a:off x="876300" y="5314950"/>
            <a:ext cx="1016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102333"/>
                </a:solidFill>
                <a:latin typeface="Microsoft YaHei"/>
                <a:ea typeface="Microsoft YaHei"/>
              </a:rPr>
              <a:t>车辆 / 车组</a:t>
            </a:r>
          </a:p>
        </p:txBody>
      </p:sp>
      <p:sp>
        <p:nvSpPr>
          <p:cNvPr id="129" name="Chip 站点 / 服务能力"/>
          <p:cNvSpPr/>
          <p:nvPr/>
        </p:nvSpPr>
        <p:spPr>
          <a:xfrm>
            <a:off x="2006600" y="5270500"/>
            <a:ext cx="1016000" cy="1778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130" name="Chip Text 站点 / 服务能力"/>
          <p:cNvSpPr txBox="1"/>
          <p:nvPr/>
        </p:nvSpPr>
        <p:spPr>
          <a:xfrm>
            <a:off x="2006600" y="5314950"/>
            <a:ext cx="1016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102333"/>
                </a:solidFill>
                <a:latin typeface="Microsoft YaHei"/>
                <a:ea typeface="Microsoft YaHei"/>
              </a:rPr>
              <a:t>站点 / 服务能力</a:t>
            </a:r>
          </a:p>
        </p:txBody>
      </p:sp>
      <p:sp>
        <p:nvSpPr>
          <p:cNvPr id="131" name="Shape"/>
          <p:cNvSpPr/>
          <p:nvPr/>
        </p:nvSpPr>
        <p:spPr>
          <a:xfrm>
            <a:off x="3492500" y="4730750"/>
            <a:ext cx="2508250" cy="787400"/>
          </a:xfrm>
          <a:prstGeom prst="roundRect">
            <a:avLst/>
          </a:prstGeom>
          <a:solidFill>
            <a:srgbClr val="E2F2F8"/>
          </a:solidFill>
          <a:ln w="9525">
            <a:solidFill>
              <a:srgbClr val="BFD5E3"/>
            </a:solidFill>
          </a:ln>
        </p:spPr>
        <p:txBody>
          <a:bodyPr/>
          <a:lstStyle/>
          <a:p/>
        </p:txBody>
      </p:sp>
      <p:sp>
        <p:nvSpPr>
          <p:cNvPr id="132" name="Text"/>
          <p:cNvSpPr txBox="1"/>
          <p:nvPr/>
        </p:nvSpPr>
        <p:spPr>
          <a:xfrm>
            <a:off x="3606800" y="4813300"/>
            <a:ext cx="227965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425" b="1">
                <a:solidFill>
                  <a:srgbClr val="004C73"/>
                </a:solidFill>
                <a:latin typeface="Microsoft YaHei"/>
                <a:ea typeface="Microsoft YaHei"/>
              </a:rPr>
              <a:t>交易履约中心</a:t>
            </a:r>
          </a:p>
        </p:txBody>
      </p:sp>
      <p:sp>
        <p:nvSpPr>
          <p:cNvPr id="133" name="Chip 价格 / 行销 / 规则"/>
          <p:cNvSpPr/>
          <p:nvPr/>
        </p:nvSpPr>
        <p:spPr>
          <a:xfrm>
            <a:off x="3606800" y="5029200"/>
            <a:ext cx="1016000" cy="1778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134" name="Chip Text 价格 / 行销 / 规则"/>
          <p:cNvSpPr txBox="1"/>
          <p:nvPr/>
        </p:nvSpPr>
        <p:spPr>
          <a:xfrm>
            <a:off x="3606800" y="5073650"/>
            <a:ext cx="1016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102333"/>
                </a:solidFill>
                <a:latin typeface="Microsoft YaHei"/>
                <a:ea typeface="Microsoft YaHei"/>
              </a:rPr>
              <a:t>价格 / 行销 / 规则</a:t>
            </a:r>
          </a:p>
        </p:txBody>
      </p:sp>
      <p:sp>
        <p:nvSpPr>
          <p:cNvPr id="135" name="Chip 订单 / 状态"/>
          <p:cNvSpPr/>
          <p:nvPr/>
        </p:nvSpPr>
        <p:spPr>
          <a:xfrm>
            <a:off x="4737100" y="5029200"/>
            <a:ext cx="1016000" cy="1778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136" name="Chip Text 订单 / 状态"/>
          <p:cNvSpPr txBox="1"/>
          <p:nvPr/>
        </p:nvSpPr>
        <p:spPr>
          <a:xfrm>
            <a:off x="4737100" y="5073650"/>
            <a:ext cx="1016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102333"/>
                </a:solidFill>
                <a:latin typeface="Microsoft YaHei"/>
                <a:ea typeface="Microsoft YaHei"/>
              </a:rPr>
              <a:t>订单 / 状态</a:t>
            </a:r>
          </a:p>
        </p:txBody>
      </p:sp>
      <p:sp>
        <p:nvSpPr>
          <p:cNvPr id="137" name="Chip 排程 / 占用"/>
          <p:cNvSpPr/>
          <p:nvPr/>
        </p:nvSpPr>
        <p:spPr>
          <a:xfrm>
            <a:off x="3606800" y="5270500"/>
            <a:ext cx="1016000" cy="1778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138" name="Chip Text 排程 / 占用"/>
          <p:cNvSpPr txBox="1"/>
          <p:nvPr/>
        </p:nvSpPr>
        <p:spPr>
          <a:xfrm>
            <a:off x="3606800" y="5314950"/>
            <a:ext cx="1016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102333"/>
                </a:solidFill>
                <a:latin typeface="Microsoft YaHei"/>
                <a:ea typeface="Microsoft YaHei"/>
              </a:rPr>
              <a:t>排程 / 占用</a:t>
            </a:r>
          </a:p>
        </p:txBody>
      </p:sp>
      <p:sp>
        <p:nvSpPr>
          <p:cNvPr id="139" name="Chip 取还车 / 验车"/>
          <p:cNvSpPr/>
          <p:nvPr/>
        </p:nvSpPr>
        <p:spPr>
          <a:xfrm>
            <a:off x="4737100" y="5270500"/>
            <a:ext cx="1016000" cy="1778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140" name="Chip Text 取还车 / 验车"/>
          <p:cNvSpPr txBox="1"/>
          <p:nvPr/>
        </p:nvSpPr>
        <p:spPr>
          <a:xfrm>
            <a:off x="4737100" y="5314950"/>
            <a:ext cx="1016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102333"/>
                </a:solidFill>
                <a:latin typeface="Microsoft YaHei"/>
                <a:ea typeface="Microsoft YaHei"/>
              </a:rPr>
              <a:t>取还车 / 验车</a:t>
            </a:r>
          </a:p>
        </p:txBody>
      </p:sp>
      <p:sp>
        <p:nvSpPr>
          <p:cNvPr id="141" name="Shape"/>
          <p:cNvSpPr/>
          <p:nvPr/>
        </p:nvSpPr>
        <p:spPr>
          <a:xfrm>
            <a:off x="6223000" y="4730750"/>
            <a:ext cx="2508250" cy="787400"/>
          </a:xfrm>
          <a:prstGeom prst="roundRect">
            <a:avLst/>
          </a:prstGeom>
          <a:solidFill>
            <a:srgbClr val="E2F2F8"/>
          </a:solidFill>
          <a:ln w="9525">
            <a:solidFill>
              <a:srgbClr val="BFD5E3"/>
            </a:solidFill>
          </a:ln>
        </p:spPr>
        <p:txBody>
          <a:bodyPr/>
          <a:lstStyle/>
          <a:p/>
        </p:txBody>
      </p:sp>
      <p:sp>
        <p:nvSpPr>
          <p:cNvPr id="142" name="Text"/>
          <p:cNvSpPr txBox="1"/>
          <p:nvPr/>
        </p:nvSpPr>
        <p:spPr>
          <a:xfrm>
            <a:off x="6337300" y="4813300"/>
            <a:ext cx="227965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425" b="1">
                <a:solidFill>
                  <a:srgbClr val="004C73"/>
                </a:solidFill>
                <a:latin typeface="Microsoft YaHei"/>
                <a:ea typeface="Microsoft YaHei"/>
              </a:rPr>
              <a:t>费用账务中心</a:t>
            </a:r>
          </a:p>
        </p:txBody>
      </p:sp>
      <p:sp>
        <p:nvSpPr>
          <p:cNvPr id="143" name="Chip 押金 / 支付"/>
          <p:cNvSpPr/>
          <p:nvPr/>
        </p:nvSpPr>
        <p:spPr>
          <a:xfrm>
            <a:off x="6337300" y="5029200"/>
            <a:ext cx="1016000" cy="1778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144" name="Chip Text 押金 / 支付"/>
          <p:cNvSpPr txBox="1"/>
          <p:nvPr/>
        </p:nvSpPr>
        <p:spPr>
          <a:xfrm>
            <a:off x="6337300" y="5073650"/>
            <a:ext cx="1016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102333"/>
                </a:solidFill>
                <a:latin typeface="Microsoft YaHei"/>
                <a:ea typeface="Microsoft YaHei"/>
              </a:rPr>
              <a:t>押金 / 支付</a:t>
            </a:r>
          </a:p>
        </p:txBody>
      </p:sp>
      <p:sp>
        <p:nvSpPr>
          <p:cNvPr id="145" name="Chip 退款 / 月结"/>
          <p:cNvSpPr/>
          <p:nvPr/>
        </p:nvSpPr>
        <p:spPr>
          <a:xfrm>
            <a:off x="7467600" y="5029200"/>
            <a:ext cx="1016000" cy="1778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146" name="Chip Text 退款 / 月结"/>
          <p:cNvSpPr txBox="1"/>
          <p:nvPr/>
        </p:nvSpPr>
        <p:spPr>
          <a:xfrm>
            <a:off x="7467600" y="5073650"/>
            <a:ext cx="1016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102333"/>
                </a:solidFill>
                <a:latin typeface="Microsoft YaHei"/>
                <a:ea typeface="Microsoft YaHei"/>
              </a:rPr>
              <a:t>退款 / 月结</a:t>
            </a:r>
          </a:p>
        </p:txBody>
      </p:sp>
      <p:sp>
        <p:nvSpPr>
          <p:cNvPr id="147" name="Chip 费用快照"/>
          <p:cNvSpPr/>
          <p:nvPr/>
        </p:nvSpPr>
        <p:spPr>
          <a:xfrm>
            <a:off x="6337300" y="5270500"/>
            <a:ext cx="1016000" cy="1778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148" name="Chip Text 费用快照"/>
          <p:cNvSpPr txBox="1"/>
          <p:nvPr/>
        </p:nvSpPr>
        <p:spPr>
          <a:xfrm>
            <a:off x="6337300" y="5314950"/>
            <a:ext cx="1016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102333"/>
                </a:solidFill>
                <a:latin typeface="Microsoft YaHei"/>
                <a:ea typeface="Microsoft YaHei"/>
              </a:rPr>
              <a:t>费用快照</a:t>
            </a:r>
          </a:p>
        </p:txBody>
      </p:sp>
      <p:sp>
        <p:nvSpPr>
          <p:cNvPr id="149" name="Chip 企业账单"/>
          <p:cNvSpPr/>
          <p:nvPr/>
        </p:nvSpPr>
        <p:spPr>
          <a:xfrm>
            <a:off x="7467600" y="5270500"/>
            <a:ext cx="1016000" cy="1778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150" name="Chip Text 企业账单"/>
          <p:cNvSpPr txBox="1"/>
          <p:nvPr/>
        </p:nvSpPr>
        <p:spPr>
          <a:xfrm>
            <a:off x="7467600" y="5314950"/>
            <a:ext cx="1016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102333"/>
                </a:solidFill>
                <a:latin typeface="Microsoft YaHei"/>
                <a:ea typeface="Microsoft YaHei"/>
              </a:rPr>
              <a:t>企业账单</a:t>
            </a:r>
          </a:p>
        </p:txBody>
      </p:sp>
      <p:sp>
        <p:nvSpPr>
          <p:cNvPr id="151" name="Shape"/>
          <p:cNvSpPr/>
          <p:nvPr/>
        </p:nvSpPr>
        <p:spPr>
          <a:xfrm>
            <a:off x="8953500" y="4730750"/>
            <a:ext cx="2508250" cy="787400"/>
          </a:xfrm>
          <a:prstGeom prst="roundRect">
            <a:avLst/>
          </a:prstGeom>
          <a:solidFill>
            <a:srgbClr val="E2F2F8"/>
          </a:solidFill>
          <a:ln w="9525">
            <a:solidFill>
              <a:srgbClr val="BFD5E3"/>
            </a:solidFill>
          </a:ln>
        </p:spPr>
        <p:txBody>
          <a:bodyPr/>
          <a:lstStyle/>
          <a:p/>
        </p:txBody>
      </p:sp>
      <p:sp>
        <p:nvSpPr>
          <p:cNvPr id="152" name="Text"/>
          <p:cNvSpPr txBox="1"/>
          <p:nvPr/>
        </p:nvSpPr>
        <p:spPr>
          <a:xfrm>
            <a:off x="9067800" y="4813300"/>
            <a:ext cx="227965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425" b="1">
                <a:solidFill>
                  <a:srgbClr val="004C73"/>
                </a:solidFill>
                <a:latin typeface="Microsoft YaHei"/>
                <a:ea typeface="Microsoft YaHei"/>
              </a:rPr>
              <a:t>治理与智能中心</a:t>
            </a:r>
          </a:p>
        </p:txBody>
      </p:sp>
      <p:sp>
        <p:nvSpPr>
          <p:cNvPr id="153" name="Chip 通知 / 审计"/>
          <p:cNvSpPr/>
          <p:nvPr/>
        </p:nvSpPr>
        <p:spPr>
          <a:xfrm>
            <a:off x="9067800" y="5029200"/>
            <a:ext cx="1016000" cy="1778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154" name="Chip Text 通知 / 审计"/>
          <p:cNvSpPr txBox="1"/>
          <p:nvPr/>
        </p:nvSpPr>
        <p:spPr>
          <a:xfrm>
            <a:off x="9067800" y="5073650"/>
            <a:ext cx="1016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102333"/>
                </a:solidFill>
                <a:latin typeface="Microsoft YaHei"/>
                <a:ea typeface="Microsoft YaHei"/>
              </a:rPr>
              <a:t>通知 / 审计</a:t>
            </a:r>
          </a:p>
        </p:txBody>
      </p:sp>
      <p:sp>
        <p:nvSpPr>
          <p:cNvPr id="155" name="Chip 请求日志"/>
          <p:cNvSpPr/>
          <p:nvPr/>
        </p:nvSpPr>
        <p:spPr>
          <a:xfrm>
            <a:off x="10198100" y="5029200"/>
            <a:ext cx="1016000" cy="1778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156" name="Chip Text 请求日志"/>
          <p:cNvSpPr txBox="1"/>
          <p:nvPr/>
        </p:nvSpPr>
        <p:spPr>
          <a:xfrm>
            <a:off x="10198100" y="5073650"/>
            <a:ext cx="1016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102333"/>
                </a:solidFill>
                <a:latin typeface="Microsoft YaHei"/>
                <a:ea typeface="Microsoft YaHei"/>
              </a:rPr>
              <a:t>请求日志</a:t>
            </a:r>
          </a:p>
        </p:txBody>
      </p:sp>
      <p:sp>
        <p:nvSpPr>
          <p:cNvPr id="157" name="Chip 报表 / 监测"/>
          <p:cNvSpPr/>
          <p:nvPr/>
        </p:nvSpPr>
        <p:spPr>
          <a:xfrm>
            <a:off x="9067800" y="5270500"/>
            <a:ext cx="1016000" cy="1778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D9A63A"/>
            </a:solidFill>
            <a:prstDash val="dash"/>
          </a:ln>
        </p:spPr>
        <p:txBody>
          <a:bodyPr/>
          <a:lstStyle/>
          <a:p/>
        </p:txBody>
      </p:sp>
      <p:sp>
        <p:nvSpPr>
          <p:cNvPr id="158" name="Chip Text 报表 / 监测"/>
          <p:cNvSpPr txBox="1"/>
          <p:nvPr/>
        </p:nvSpPr>
        <p:spPr>
          <a:xfrm>
            <a:off x="9067800" y="5314950"/>
            <a:ext cx="1016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102333"/>
                </a:solidFill>
                <a:latin typeface="Microsoft YaHei"/>
                <a:ea typeface="Microsoft YaHei"/>
              </a:rPr>
              <a:t>报表 / 监测</a:t>
            </a:r>
          </a:p>
        </p:txBody>
      </p:sp>
      <p:sp>
        <p:nvSpPr>
          <p:cNvPr id="159" name="Chip AI 分析"/>
          <p:cNvSpPr/>
          <p:nvPr/>
        </p:nvSpPr>
        <p:spPr>
          <a:xfrm>
            <a:off x="10198100" y="5270500"/>
            <a:ext cx="1016000" cy="1778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D9A63A"/>
            </a:solidFill>
            <a:prstDash val="dash"/>
          </a:ln>
        </p:spPr>
        <p:txBody>
          <a:bodyPr/>
          <a:lstStyle/>
          <a:p/>
        </p:txBody>
      </p:sp>
      <p:sp>
        <p:nvSpPr>
          <p:cNvPr id="160" name="Chip Text AI 分析"/>
          <p:cNvSpPr txBox="1"/>
          <p:nvPr/>
        </p:nvSpPr>
        <p:spPr>
          <a:xfrm>
            <a:off x="10198100" y="5314950"/>
            <a:ext cx="1016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102333"/>
                </a:solidFill>
                <a:latin typeface="Microsoft YaHei"/>
                <a:ea typeface="Microsoft YaHei"/>
              </a:rPr>
              <a:t>AI 分析</a:t>
            </a:r>
          </a:p>
        </p:txBody>
      </p:sp>
      <p:sp>
        <p:nvSpPr>
          <p:cNvPr id="161" name="Arrow Line"/>
          <p:cNvSpPr/>
          <p:nvPr/>
        </p:nvSpPr>
        <p:spPr>
          <a:xfrm>
            <a:off x="6086475" y="5715000"/>
            <a:ext cx="19050" cy="9525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/>
        </p:txBody>
      </p:sp>
      <p:sp>
        <p:nvSpPr>
          <p:cNvPr id="162" name="Arrow Head"/>
          <p:cNvSpPr/>
          <p:nvPr/>
        </p:nvSpPr>
        <p:spPr>
          <a:xfrm rot="10800000">
            <a:off x="6045200" y="5791200"/>
            <a:ext cx="101600" cy="88900"/>
          </a:xfrm>
          <a:prstGeom prst="triangle">
            <a:avLst/>
          </a:prstGeom>
          <a:solidFill>
            <a:srgbClr val="0068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" name="Arrow Label Bg"/>
          <p:cNvSpPr/>
          <p:nvPr/>
        </p:nvSpPr>
        <p:spPr>
          <a:xfrm>
            <a:off x="5600700" y="5702300"/>
            <a:ext cx="990600" cy="165100"/>
          </a:xfrm>
          <a:prstGeom prst="roundRect">
            <a:avLst/>
          </a:prstGeom>
          <a:solidFill>
            <a:srgbClr val="F6F9FC"/>
          </a:solidFill>
          <a:ln w="1270">
            <a:solidFill>
              <a:srgbClr val="F6F9FC"/>
            </a:solidFill>
          </a:ln>
        </p:spPr>
        <p:txBody>
          <a:bodyPr/>
          <a:lstStyle/>
          <a:p/>
        </p:txBody>
      </p:sp>
      <p:sp>
        <p:nvSpPr>
          <p:cNvPr id="164" name="Arrow Label 数据沉淀 / 外部调用"/>
          <p:cNvSpPr txBox="1"/>
          <p:nvPr/>
        </p:nvSpPr>
        <p:spPr>
          <a:xfrm>
            <a:off x="5600700" y="5734050"/>
            <a:ext cx="9906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975" b="1">
                <a:solidFill>
                  <a:srgbClr val="00689E"/>
                </a:solidFill>
                <a:latin typeface="Microsoft YaHei"/>
                <a:ea typeface="Microsoft YaHei"/>
              </a:rPr>
              <a:t>数据沉淀 / 外部调用</a:t>
            </a:r>
          </a:p>
        </p:txBody>
      </p:sp>
      <p:sp>
        <p:nvSpPr>
          <p:cNvPr id="165" name="Section 数据治理与外部能力"/>
          <p:cNvSpPr/>
          <p:nvPr/>
        </p:nvSpPr>
        <p:spPr>
          <a:xfrm>
            <a:off x="444500" y="5918200"/>
            <a:ext cx="11303000" cy="5715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BFD5E3"/>
            </a:solidFill>
          </a:ln>
        </p:spPr>
        <p:txBody>
          <a:bodyPr/>
          <a:lstStyle/>
          <a:p/>
        </p:txBody>
      </p:sp>
      <p:sp>
        <p:nvSpPr>
          <p:cNvPr id="166" name="Section Label 数据治理与外部能力"/>
          <p:cNvSpPr/>
          <p:nvPr/>
        </p:nvSpPr>
        <p:spPr>
          <a:xfrm>
            <a:off x="558800" y="5816600"/>
            <a:ext cx="1244600" cy="203200"/>
          </a:xfrm>
          <a:prstGeom prst="roundRect">
            <a:avLst/>
          </a:prstGeom>
          <a:solidFill>
            <a:srgbClr val="00689E"/>
          </a:solidFill>
          <a:ln w="3175">
            <a:solidFill>
              <a:srgbClr val="00689E"/>
            </a:solidFill>
          </a:ln>
        </p:spPr>
        <p:txBody>
          <a:bodyPr/>
          <a:lstStyle/>
          <a:p/>
        </p:txBody>
      </p:sp>
      <p:sp>
        <p:nvSpPr>
          <p:cNvPr id="167" name="Section Title 数据治理与外部能力"/>
          <p:cNvSpPr txBox="1"/>
          <p:nvPr/>
        </p:nvSpPr>
        <p:spPr>
          <a:xfrm>
            <a:off x="666750" y="5861050"/>
            <a:ext cx="10541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数据治理与外部能力</a:t>
            </a:r>
          </a:p>
        </p:txBody>
      </p:sp>
      <p:sp>
        <p:nvSpPr>
          <p:cNvPr id="168" name="Section Subtitle 数据治理与外部能力"/>
          <p:cNvSpPr txBox="1"/>
          <p:nvPr/>
        </p:nvSpPr>
        <p:spPr>
          <a:xfrm>
            <a:off x="1905000" y="5873750"/>
            <a:ext cx="97282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125">
                <a:solidFill>
                  <a:srgbClr val="5D6977"/>
                </a:solidFill>
                <a:latin typeface="Microsoft YaHei"/>
                <a:ea typeface="Microsoft YaHei"/>
              </a:rPr>
              <a:t>通过统一数据、审计和外部集成支撑多租户经营、履约追溯和后续智能化。</a:t>
            </a:r>
          </a:p>
        </p:txBody>
      </p:sp>
      <p:sp>
        <p:nvSpPr>
          <p:cNvPr id="169" name="Chip 租户数据隔离"/>
          <p:cNvSpPr/>
          <p:nvPr/>
        </p:nvSpPr>
        <p:spPr>
          <a:xfrm>
            <a:off x="666750" y="6197600"/>
            <a:ext cx="1460500" cy="2159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170" name="Chip Text 租户数据隔离"/>
          <p:cNvSpPr txBox="1"/>
          <p:nvPr/>
        </p:nvSpPr>
        <p:spPr>
          <a:xfrm>
            <a:off x="666750" y="6242050"/>
            <a:ext cx="14605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102333"/>
                </a:solidFill>
                <a:latin typeface="Microsoft YaHei"/>
                <a:ea typeface="Microsoft YaHei"/>
              </a:rPr>
              <a:t>租户数据隔离</a:t>
            </a:r>
          </a:p>
        </p:txBody>
      </p:sp>
      <p:sp>
        <p:nvSpPr>
          <p:cNvPr id="171" name="Chip 订单 / 费用快照"/>
          <p:cNvSpPr/>
          <p:nvPr/>
        </p:nvSpPr>
        <p:spPr>
          <a:xfrm>
            <a:off x="2228850" y="6197600"/>
            <a:ext cx="1460500" cy="2159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172" name="Chip Text 订单 / 费用快照"/>
          <p:cNvSpPr txBox="1"/>
          <p:nvPr/>
        </p:nvSpPr>
        <p:spPr>
          <a:xfrm>
            <a:off x="2228850" y="6242050"/>
            <a:ext cx="14605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102333"/>
                </a:solidFill>
                <a:latin typeface="Microsoft YaHei"/>
                <a:ea typeface="Microsoft YaHei"/>
              </a:rPr>
              <a:t>订单 / 费用快照</a:t>
            </a:r>
          </a:p>
        </p:txBody>
      </p:sp>
      <p:sp>
        <p:nvSpPr>
          <p:cNvPr id="173" name="Chip 车辆排程占用"/>
          <p:cNvSpPr/>
          <p:nvPr/>
        </p:nvSpPr>
        <p:spPr>
          <a:xfrm>
            <a:off x="3790950" y="6197600"/>
            <a:ext cx="1460500" cy="2159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174" name="Chip Text 车辆排程占用"/>
          <p:cNvSpPr txBox="1"/>
          <p:nvPr/>
        </p:nvSpPr>
        <p:spPr>
          <a:xfrm>
            <a:off x="3790950" y="6242050"/>
            <a:ext cx="14605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102333"/>
                </a:solidFill>
                <a:latin typeface="Microsoft YaHei"/>
                <a:ea typeface="Microsoft YaHei"/>
              </a:rPr>
              <a:t>车辆排程占用</a:t>
            </a:r>
          </a:p>
        </p:txBody>
      </p:sp>
      <p:sp>
        <p:nvSpPr>
          <p:cNvPr id="175" name="Chip 审计 / 请求日志"/>
          <p:cNvSpPr/>
          <p:nvPr/>
        </p:nvSpPr>
        <p:spPr>
          <a:xfrm>
            <a:off x="5353050" y="6197600"/>
            <a:ext cx="1460500" cy="2159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176" name="Chip Text 审计 / 请求日志"/>
          <p:cNvSpPr txBox="1"/>
          <p:nvPr/>
        </p:nvSpPr>
        <p:spPr>
          <a:xfrm>
            <a:off x="5353050" y="6242050"/>
            <a:ext cx="14605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102333"/>
                </a:solidFill>
                <a:latin typeface="Microsoft YaHei"/>
                <a:ea typeface="Microsoft YaHei"/>
              </a:rPr>
              <a:t>审计 / 请求日志</a:t>
            </a:r>
          </a:p>
        </p:txBody>
      </p:sp>
      <p:sp>
        <p:nvSpPr>
          <p:cNvPr id="177" name="Chip 支付 / 短信 / 发票"/>
          <p:cNvSpPr/>
          <p:nvPr/>
        </p:nvSpPr>
        <p:spPr>
          <a:xfrm>
            <a:off x="6915150" y="6197600"/>
            <a:ext cx="1460500" cy="2159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/>
        </p:txBody>
      </p:sp>
      <p:sp>
        <p:nvSpPr>
          <p:cNvPr id="178" name="Chip Text 支付 / 短信 / 发票"/>
          <p:cNvSpPr txBox="1"/>
          <p:nvPr/>
        </p:nvSpPr>
        <p:spPr>
          <a:xfrm>
            <a:off x="6915150" y="6242050"/>
            <a:ext cx="14605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102333"/>
                </a:solidFill>
                <a:latin typeface="Microsoft YaHei"/>
                <a:ea typeface="Microsoft YaHei"/>
              </a:rPr>
              <a:t>支付 / 短信 / 发票</a:t>
            </a:r>
          </a:p>
        </p:txBody>
      </p:sp>
      <p:sp>
        <p:nvSpPr>
          <p:cNvPr id="179" name="Chip 车机 / 地图 / 模型"/>
          <p:cNvSpPr/>
          <p:nvPr/>
        </p:nvSpPr>
        <p:spPr>
          <a:xfrm>
            <a:off x="8477250" y="6197600"/>
            <a:ext cx="1460500" cy="2159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D9A63A"/>
            </a:solidFill>
            <a:prstDash val="dash"/>
          </a:ln>
        </p:spPr>
        <p:txBody>
          <a:bodyPr/>
          <a:lstStyle/>
          <a:p/>
        </p:txBody>
      </p:sp>
      <p:sp>
        <p:nvSpPr>
          <p:cNvPr id="180" name="Chip Text 车机 / 地图 / 模型"/>
          <p:cNvSpPr txBox="1"/>
          <p:nvPr/>
        </p:nvSpPr>
        <p:spPr>
          <a:xfrm>
            <a:off x="8477250" y="6242050"/>
            <a:ext cx="14605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102333"/>
                </a:solidFill>
                <a:latin typeface="Microsoft YaHei"/>
                <a:ea typeface="Microsoft YaHei"/>
              </a:rPr>
              <a:t>车机 / 地图 / 模型</a:t>
            </a:r>
          </a:p>
        </p:txBody>
      </p:sp>
      <p:sp>
        <p:nvSpPr>
          <p:cNvPr id="181" name="Chip 系统监测 / 告警"/>
          <p:cNvSpPr/>
          <p:nvPr/>
        </p:nvSpPr>
        <p:spPr>
          <a:xfrm>
            <a:off x="10039350" y="6197600"/>
            <a:ext cx="1460500" cy="2159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D9A63A"/>
            </a:solidFill>
            <a:prstDash val="dash"/>
          </a:ln>
        </p:spPr>
        <p:txBody>
          <a:bodyPr/>
          <a:lstStyle/>
          <a:p/>
        </p:txBody>
      </p:sp>
      <p:sp>
        <p:nvSpPr>
          <p:cNvPr id="182" name="Chip Text 系统监测 / 告警"/>
          <p:cNvSpPr txBox="1"/>
          <p:nvPr/>
        </p:nvSpPr>
        <p:spPr>
          <a:xfrm>
            <a:off x="10039350" y="6242050"/>
            <a:ext cx="14605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50" b="1">
                <a:solidFill>
                  <a:srgbClr val="102333"/>
                </a:solidFill>
                <a:latin typeface="Microsoft YaHei"/>
                <a:ea typeface="Microsoft YaHei"/>
              </a:rPr>
              <a:t>系统监测 / 告警</a:t>
            </a:r>
          </a:p>
        </p:txBody>
      </p:sp>
      <p:sp>
        <p:nvSpPr>
          <p:cNvPr id="183" name="Text"/>
          <p:cNvSpPr txBox="1"/>
          <p:nvPr/>
        </p:nvSpPr>
        <p:spPr>
          <a:xfrm>
            <a:off x="444500" y="6642100"/>
            <a:ext cx="8890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75">
                <a:solidFill>
                  <a:srgbClr val="5D6977"/>
                </a:solidFill>
                <a:latin typeface="Microsoft YaHei"/>
                <a:ea typeface="Microsoft YaHei"/>
              </a:rPr>
              <a:t>注：本图为产品架构视图，不表达服务器数量、代码模块或网络拓扑；虚线边框表示规划或扩展能力。</a:t>
            </a:r>
          </a:p>
        </p:txBody>
      </p:sp>
      <p:sp>
        <p:nvSpPr>
          <p:cNvPr id="184" name="Text"/>
          <p:cNvSpPr txBox="1"/>
          <p:nvPr/>
        </p:nvSpPr>
        <p:spPr>
          <a:xfrm>
            <a:off x="11303000" y="6642100"/>
            <a:ext cx="4445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zh-CN" sz="975">
                <a:solidFill>
                  <a:srgbClr val="5D6977"/>
                </a:solidFill>
                <a:latin typeface="Microsoft YaHei"/>
                <a:ea typeface="Microsoft YaHei"/>
              </a:rPr>
              <a:t>2026-05-21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MO Theme">
  <a:themeElements>
    <a:clrScheme name="RIMO">
      <a:dk1>
        <a:srgbClr val="102333"/>
      </a:dk1>
      <a:lt1>
        <a:srgbClr val="FFFFFF"/>
      </a:lt1>
      <a:dk2>
        <a:srgbClr val="004C73"/>
      </a:dk2>
      <a:lt2>
        <a:srgbClr val="F6F9FC"/>
      </a:lt2>
      <a:accent1>
        <a:srgbClr val="00689E"/>
      </a:accent1>
      <a:accent2>
        <a:srgbClr val="14784A"/>
      </a:accent2>
      <a:accent3>
        <a:srgbClr val="9B5E00"/>
      </a:accent3>
      <a:accent4>
        <a:srgbClr val="5D6977"/>
      </a:accent4>
      <a:accent5>
        <a:srgbClr val="BFD5E3"/>
      </a:accent5>
      <a:accent6>
        <a:srgbClr val="E2F2F8"/>
      </a:accent6>
      <a:hlink>
        <a:srgbClr val="00689E"/>
      </a:hlink>
      <a:folHlink>
        <a:srgbClr val="004C73"/>
      </a:folHlink>
    </a:clrScheme>
    <a:fontScheme name="RIMO Fonts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RIMO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宽屏</PresentationFormat>
  <Slides>1</Slides>
  <Company>RIMO Rental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RIMO Rental 平台整体架构图-重制版</dc:title>
  <dc:creator>RIMO Rental</dc:creator>
  <cp:lastModifiedBy>Codex</cp:lastModifiedBy>
  <dcterms:created xsi:type="dcterms:W3CDTF">2026-05-21T06:31:42Z</dcterms:created>
  <dcterms:modified xsi:type="dcterms:W3CDTF">2026-05-21T06:31:42Z</dcterms:modified>
</cp:coreProperties>
</file>