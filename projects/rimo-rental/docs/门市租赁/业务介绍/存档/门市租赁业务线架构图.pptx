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4x3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" name="Text"/>
          <p:cNvSpPr txBox="1"/>
          <p:nvPr/>
        </p:nvSpPr>
        <p:spPr>
          <a:xfrm>
            <a:off x="444500" y="266700"/>
            <a:ext cx="457200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2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门市租赁业务线架构图</a:t>
            </a:r>
            <a:endParaRPr lang="zh-CN" sz="2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444500" y="609600"/>
            <a:ext cx="78740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门市租车与 24 小时自助租车共用一套车组、价格、规则、调度、费用与快照能力。</a:t>
            </a:r>
            <a:endParaRPr lang="zh-CN" sz="90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adge 本期核心"/>
          <p:cNvSpPr/>
          <p:nvPr/>
        </p:nvSpPr>
        <p:spPr>
          <a:xfrm>
            <a:off x="9613900" y="317500"/>
            <a:ext cx="4953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" name="Badge Text 本期核心"/>
          <p:cNvSpPr txBox="1"/>
          <p:nvPr/>
        </p:nvSpPr>
        <p:spPr>
          <a:xfrm>
            <a:off x="9613900" y="342900"/>
            <a:ext cx="4953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本期核心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Badge 扩展能力"/>
          <p:cNvSpPr/>
          <p:nvPr/>
        </p:nvSpPr>
        <p:spPr>
          <a:xfrm>
            <a:off x="10426700" y="317500"/>
            <a:ext cx="4953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" name="Badge Text 扩展能力"/>
          <p:cNvSpPr txBox="1"/>
          <p:nvPr/>
        </p:nvSpPr>
        <p:spPr>
          <a:xfrm>
            <a:off x="10426700" y="342900"/>
            <a:ext cx="4953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扩展能力</a:t>
            </a:r>
            <a:endParaRPr lang="zh-CN" sz="6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"/>
          <p:cNvSpPr/>
          <p:nvPr/>
        </p:nvSpPr>
        <p:spPr>
          <a:xfrm>
            <a:off x="11353800" y="317500"/>
            <a:ext cx="584200" cy="190500"/>
          </a:xfrm>
          <a:prstGeom prst="roundRect">
            <a:avLst/>
          </a:prstGeom>
          <a:solidFill>
            <a:srgbClr val="00689E"/>
          </a:solidFill>
          <a:ln w="635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" name="Text"/>
          <p:cNvSpPr txBox="1"/>
          <p:nvPr/>
        </p:nvSpPr>
        <p:spPr>
          <a:xfrm>
            <a:off x="11353800" y="361950"/>
            <a:ext cx="584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#00689E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ection 入口与使用角色"/>
          <p:cNvSpPr/>
          <p:nvPr/>
        </p:nvSpPr>
        <p:spPr>
          <a:xfrm>
            <a:off x="444500" y="952500"/>
            <a:ext cx="11303000" cy="749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" name="Section Label 入口与使用角色"/>
          <p:cNvSpPr/>
          <p:nvPr/>
        </p:nvSpPr>
        <p:spPr>
          <a:xfrm>
            <a:off x="558800" y="850900"/>
            <a:ext cx="10160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" name="Section Title 入口与使用角色"/>
          <p:cNvSpPr txBox="1"/>
          <p:nvPr/>
        </p:nvSpPr>
        <p:spPr>
          <a:xfrm>
            <a:off x="666750" y="895350"/>
            <a:ext cx="8255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入口与使用角色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ection Desc 入口与使用角色"/>
          <p:cNvSpPr txBox="1"/>
          <p:nvPr/>
        </p:nvSpPr>
        <p:spPr>
          <a:xfrm>
            <a:off x="1676400" y="908050"/>
            <a:ext cx="99568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前台负责预约与取还车入口，营运端负责订单、调度、履约和结算，企业端查看企业费用结果。</a:t>
            </a:r>
            <a:endParaRPr lang="zh-CN" sz="80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ard 公开 APP / 官网"/>
          <p:cNvSpPr/>
          <p:nvPr/>
        </p:nvSpPr>
        <p:spPr>
          <a:xfrm>
            <a:off x="825500" y="1206500"/>
            <a:ext cx="24447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" name="Card Title 公开 APP / 官网"/>
          <p:cNvSpPr txBox="1"/>
          <p:nvPr/>
        </p:nvSpPr>
        <p:spPr>
          <a:xfrm>
            <a:off x="939800" y="1295400"/>
            <a:ext cx="221615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公开 APP / 官网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Badge 核心"/>
          <p:cNvSpPr/>
          <p:nvPr/>
        </p:nvSpPr>
        <p:spPr>
          <a:xfrm>
            <a:off x="2774950" y="12890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" name="Badge Text 核心"/>
          <p:cNvSpPr txBox="1"/>
          <p:nvPr/>
        </p:nvSpPr>
        <p:spPr>
          <a:xfrm>
            <a:off x="2774950" y="13144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Card Desc 公开 APP / 官网"/>
          <p:cNvSpPr txBox="1"/>
          <p:nvPr/>
        </p:nvSpPr>
        <p:spPr>
          <a:xfrm>
            <a:off x="939800" y="1498600"/>
            <a:ext cx="221615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个人 / 企业身份用户预约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Card 营运平台"/>
          <p:cNvSpPr/>
          <p:nvPr/>
        </p:nvSpPr>
        <p:spPr>
          <a:xfrm>
            <a:off x="3511550" y="1206500"/>
            <a:ext cx="24447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1" name="Card Title 营运平台"/>
          <p:cNvSpPr txBox="1"/>
          <p:nvPr/>
        </p:nvSpPr>
        <p:spPr>
          <a:xfrm>
            <a:off x="3625850" y="1295400"/>
            <a:ext cx="221615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营运平台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Badge 核心"/>
          <p:cNvSpPr/>
          <p:nvPr/>
        </p:nvSpPr>
        <p:spPr>
          <a:xfrm>
            <a:off x="5461000" y="12890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3" name="Badge Text 核心"/>
          <p:cNvSpPr txBox="1"/>
          <p:nvPr/>
        </p:nvSpPr>
        <p:spPr>
          <a:xfrm>
            <a:off x="5461000" y="13144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Card Desc 营运平台"/>
          <p:cNvSpPr txBox="1"/>
          <p:nvPr/>
        </p:nvSpPr>
        <p:spPr>
          <a:xfrm>
            <a:off x="3625850" y="1498600"/>
            <a:ext cx="221615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门店、调度、订单、费用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Card 企业端"/>
          <p:cNvSpPr/>
          <p:nvPr/>
        </p:nvSpPr>
        <p:spPr>
          <a:xfrm>
            <a:off x="6197600" y="1206500"/>
            <a:ext cx="24447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6" name="Card Title 企业端"/>
          <p:cNvSpPr txBox="1"/>
          <p:nvPr/>
        </p:nvSpPr>
        <p:spPr>
          <a:xfrm>
            <a:off x="6311900" y="1295400"/>
            <a:ext cx="221615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企业端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Badge 核心"/>
          <p:cNvSpPr/>
          <p:nvPr/>
        </p:nvSpPr>
        <p:spPr>
          <a:xfrm>
            <a:off x="8147050" y="12890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28" name="Badge Text 核心"/>
          <p:cNvSpPr txBox="1"/>
          <p:nvPr/>
        </p:nvSpPr>
        <p:spPr>
          <a:xfrm>
            <a:off x="8147050" y="13144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Card Desc 企业端"/>
          <p:cNvSpPr txBox="1"/>
          <p:nvPr/>
        </p:nvSpPr>
        <p:spPr>
          <a:xfrm>
            <a:off x="6311900" y="1498600"/>
            <a:ext cx="221615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月结订单与账单查看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ard 车机 / 控车入口"/>
          <p:cNvSpPr/>
          <p:nvPr/>
        </p:nvSpPr>
        <p:spPr>
          <a:xfrm>
            <a:off x="8883650" y="1206500"/>
            <a:ext cx="2444750" cy="368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1" name="Card Title 车机 / 控车入口"/>
          <p:cNvSpPr txBox="1"/>
          <p:nvPr/>
        </p:nvSpPr>
        <p:spPr>
          <a:xfrm>
            <a:off x="8997950" y="1295400"/>
            <a:ext cx="221615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车机 / 控车入口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adge 核心"/>
          <p:cNvSpPr/>
          <p:nvPr/>
        </p:nvSpPr>
        <p:spPr>
          <a:xfrm>
            <a:off x="10833100" y="12890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3" name="Badge Text 核心"/>
          <p:cNvSpPr txBox="1"/>
          <p:nvPr/>
        </p:nvSpPr>
        <p:spPr>
          <a:xfrm>
            <a:off x="10833100" y="13144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Card Desc 车机 / 控车入口"/>
          <p:cNvSpPr txBox="1"/>
          <p:nvPr/>
        </p:nvSpPr>
        <p:spPr>
          <a:xfrm>
            <a:off x="8997950" y="1498600"/>
            <a:ext cx="221615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24H 自助取还车依赖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rrow Line"/>
          <p:cNvSpPr/>
          <p:nvPr/>
        </p:nvSpPr>
        <p:spPr>
          <a:xfrm>
            <a:off x="6086475" y="1714500"/>
            <a:ext cx="19050" cy="952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6" name="Arrow Head"/>
          <p:cNvSpPr/>
          <p:nvPr/>
        </p:nvSpPr>
        <p:spPr>
          <a:xfrm rot="10800000">
            <a:off x="6045200" y="17907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37" name="Arrow Label Bg"/>
          <p:cNvSpPr/>
          <p:nvPr/>
        </p:nvSpPr>
        <p:spPr>
          <a:xfrm>
            <a:off x="5588000" y="1708150"/>
            <a:ext cx="1016000" cy="15875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38" name="Arrow Label 业务请求"/>
          <p:cNvSpPr txBox="1"/>
          <p:nvPr/>
        </p:nvSpPr>
        <p:spPr>
          <a:xfrm>
            <a:off x="5588000" y="1739900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业务请求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ection 业务模式层"/>
          <p:cNvSpPr/>
          <p:nvPr/>
        </p:nvSpPr>
        <p:spPr>
          <a:xfrm>
            <a:off x="444500" y="1917700"/>
            <a:ext cx="11303000" cy="10160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0" name="Section Label 业务模式层"/>
          <p:cNvSpPr/>
          <p:nvPr/>
        </p:nvSpPr>
        <p:spPr>
          <a:xfrm>
            <a:off x="558800" y="1816100"/>
            <a:ext cx="8382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1" name="Section Title 业务模式层"/>
          <p:cNvSpPr txBox="1"/>
          <p:nvPr/>
        </p:nvSpPr>
        <p:spPr>
          <a:xfrm>
            <a:off x="666750" y="1860550"/>
            <a:ext cx="6477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业务模式层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Section Desc 业务模式层"/>
          <p:cNvSpPr txBox="1"/>
          <p:nvPr/>
        </p:nvSpPr>
        <p:spPr>
          <a:xfrm>
            <a:off x="1498600" y="1873250"/>
            <a:ext cx="10134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两种模式共用销售对象和后台能力，差异集中在履约入口、操作人、车机依赖和现场服务方式。</a:t>
            </a:r>
            <a:endParaRPr lang="zh-CN" sz="80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Card 门市租车"/>
          <p:cNvSpPr/>
          <p:nvPr/>
        </p:nvSpPr>
        <p:spPr>
          <a:xfrm>
            <a:off x="762000" y="2197100"/>
            <a:ext cx="33020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4" name="Card Title 门市租车"/>
          <p:cNvSpPr txBox="1"/>
          <p:nvPr/>
        </p:nvSpPr>
        <p:spPr>
          <a:xfrm>
            <a:off x="876300" y="2286000"/>
            <a:ext cx="3073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门市租车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Badge 核心"/>
          <p:cNvSpPr/>
          <p:nvPr/>
        </p:nvSpPr>
        <p:spPr>
          <a:xfrm>
            <a:off x="3568700" y="227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6" name="Badge Text 核心"/>
          <p:cNvSpPr txBox="1"/>
          <p:nvPr/>
        </p:nvSpPr>
        <p:spPr>
          <a:xfrm>
            <a:off x="3568700" y="230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Card Desc 门市租车"/>
          <p:cNvSpPr txBox="1"/>
          <p:nvPr/>
        </p:nvSpPr>
        <p:spPr>
          <a:xfrm>
            <a:off x="876300" y="2489200"/>
            <a:ext cx="3073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用户面向门市预约；店员办理取车、还车、验车、收款与异常处理。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Card 24 小时自助租车"/>
          <p:cNvSpPr/>
          <p:nvPr/>
        </p:nvSpPr>
        <p:spPr>
          <a:xfrm>
            <a:off x="4445000" y="2197100"/>
            <a:ext cx="33020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49" name="Card Title 24 小时自助租车"/>
          <p:cNvSpPr txBox="1"/>
          <p:nvPr/>
        </p:nvSpPr>
        <p:spPr>
          <a:xfrm>
            <a:off x="4559300" y="2286000"/>
            <a:ext cx="3073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24 小时自助租车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Badge 核心"/>
          <p:cNvSpPr/>
          <p:nvPr/>
        </p:nvSpPr>
        <p:spPr>
          <a:xfrm>
            <a:off x="7251700" y="227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1" name="Badge Text 核心"/>
          <p:cNvSpPr txBox="1"/>
          <p:nvPr/>
        </p:nvSpPr>
        <p:spPr>
          <a:xfrm>
            <a:off x="7251700" y="230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Card Desc 24 小时自助租车"/>
          <p:cNvSpPr txBox="1"/>
          <p:nvPr/>
        </p:nvSpPr>
        <p:spPr>
          <a:xfrm>
            <a:off x="4559300" y="2489200"/>
            <a:ext cx="3073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用户面向自助据点预约；APP 自助取还车，必须依赖车辆车机能力。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Card 共用业务底座"/>
          <p:cNvSpPr/>
          <p:nvPr/>
        </p:nvSpPr>
        <p:spPr>
          <a:xfrm>
            <a:off x="8128000" y="2197100"/>
            <a:ext cx="31750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4" name="Card Title 共用业务底座"/>
          <p:cNvSpPr txBox="1"/>
          <p:nvPr/>
        </p:nvSpPr>
        <p:spPr>
          <a:xfrm>
            <a:off x="8242300" y="2286000"/>
            <a:ext cx="2946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共用业务底座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Badge 核心"/>
          <p:cNvSpPr/>
          <p:nvPr/>
        </p:nvSpPr>
        <p:spPr>
          <a:xfrm>
            <a:off x="10807700" y="227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6" name="Badge Text 核心"/>
          <p:cNvSpPr txBox="1"/>
          <p:nvPr/>
        </p:nvSpPr>
        <p:spPr>
          <a:xfrm>
            <a:off x="10807700" y="230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Card Desc 共用业务底座"/>
          <p:cNvSpPr txBox="1"/>
          <p:nvPr/>
        </p:nvSpPr>
        <p:spPr>
          <a:xfrm>
            <a:off x="8242300" y="2489200"/>
            <a:ext cx="29464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车组、标准价、动态调价、行销方案、增值服务、租赁规则与结算规则共用。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Arrow Right Line"/>
          <p:cNvSpPr/>
          <p:nvPr/>
        </p:nvSpPr>
        <p:spPr>
          <a:xfrm>
            <a:off x="4064000" y="2422525"/>
            <a:ext cx="29845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59" name="Arrow Right Head"/>
          <p:cNvSpPr/>
          <p:nvPr/>
        </p:nvSpPr>
        <p:spPr>
          <a:xfrm>
            <a:off x="4356100" y="238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60" name="Arrow Right Line"/>
          <p:cNvSpPr/>
          <p:nvPr/>
        </p:nvSpPr>
        <p:spPr>
          <a:xfrm>
            <a:off x="7747000" y="2422525"/>
            <a:ext cx="29845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1" name="Arrow Right Head"/>
          <p:cNvSpPr/>
          <p:nvPr/>
        </p:nvSpPr>
        <p:spPr>
          <a:xfrm>
            <a:off x="8039100" y="238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62" name="Arrow Line"/>
          <p:cNvSpPr/>
          <p:nvPr/>
        </p:nvSpPr>
        <p:spPr>
          <a:xfrm>
            <a:off x="6086475" y="2946400"/>
            <a:ext cx="19050" cy="1079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3" name="Arrow Head"/>
          <p:cNvSpPr/>
          <p:nvPr/>
        </p:nvSpPr>
        <p:spPr>
          <a:xfrm rot="10800000">
            <a:off x="6045200" y="30353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64" name="Arrow Label Bg"/>
          <p:cNvSpPr/>
          <p:nvPr/>
        </p:nvSpPr>
        <p:spPr>
          <a:xfrm>
            <a:off x="5588000" y="2946400"/>
            <a:ext cx="1016000" cy="15875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5" name="Arrow Label 订单成立"/>
          <p:cNvSpPr txBox="1"/>
          <p:nvPr/>
        </p:nvSpPr>
        <p:spPr>
          <a:xfrm>
            <a:off x="5588000" y="2978150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订单成立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Section 订单履约主链路"/>
          <p:cNvSpPr/>
          <p:nvPr/>
        </p:nvSpPr>
        <p:spPr>
          <a:xfrm>
            <a:off x="444500" y="3162300"/>
            <a:ext cx="11303000" cy="13081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7" name="Section Label 订单履约主链路"/>
          <p:cNvSpPr/>
          <p:nvPr/>
        </p:nvSpPr>
        <p:spPr>
          <a:xfrm>
            <a:off x="558800" y="3060700"/>
            <a:ext cx="10160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68" name="Section Title 订单履约主链路"/>
          <p:cNvSpPr txBox="1"/>
          <p:nvPr/>
        </p:nvSpPr>
        <p:spPr>
          <a:xfrm>
            <a:off x="666750" y="3105150"/>
            <a:ext cx="8255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订单履约主链路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Section Desc 订单履约主链路"/>
          <p:cNvSpPr txBox="1"/>
          <p:nvPr/>
        </p:nvSpPr>
        <p:spPr>
          <a:xfrm>
            <a:off x="1676400" y="3117850"/>
            <a:ext cx="99568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按车组预约，先锁车组库存；取车前完成预分配、硬锁或人工调度，再进入取车、用车、还车和结算。</a:t>
            </a:r>
            <a:endParaRPr lang="zh-CN" sz="80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Card 服务与库存查询"/>
          <p:cNvSpPr/>
          <p:nvPr/>
        </p:nvSpPr>
        <p:spPr>
          <a:xfrm>
            <a:off x="666750" y="3467100"/>
            <a:ext cx="17145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1" name="Card Title 服务与库存查询"/>
          <p:cNvSpPr txBox="1"/>
          <p:nvPr/>
        </p:nvSpPr>
        <p:spPr>
          <a:xfrm>
            <a:off x="781050" y="3556000"/>
            <a:ext cx="14859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服务与库存查询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Badge 核心"/>
          <p:cNvSpPr/>
          <p:nvPr/>
        </p:nvSpPr>
        <p:spPr>
          <a:xfrm>
            <a:off x="1885950" y="354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3" name="Badge Text 核心"/>
          <p:cNvSpPr txBox="1"/>
          <p:nvPr/>
        </p:nvSpPr>
        <p:spPr>
          <a:xfrm>
            <a:off x="1885950" y="357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Card Desc 服务与库存查询"/>
          <p:cNvSpPr txBox="1"/>
          <p:nvPr/>
        </p:nvSpPr>
        <p:spPr>
          <a:xfrm>
            <a:off x="781050" y="3759200"/>
            <a:ext cx="14859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门市 / 据点 + 时间 + 车组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Arrow Right Line"/>
          <p:cNvSpPr/>
          <p:nvPr/>
        </p:nvSpPr>
        <p:spPr>
          <a:xfrm>
            <a:off x="2400300" y="3692525"/>
            <a:ext cx="6350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6" name="Arrow Right Head"/>
          <p:cNvSpPr/>
          <p:nvPr/>
        </p:nvSpPr>
        <p:spPr>
          <a:xfrm>
            <a:off x="2457450" y="365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77" name="Card 订单试算与创建"/>
          <p:cNvSpPr/>
          <p:nvPr/>
        </p:nvSpPr>
        <p:spPr>
          <a:xfrm>
            <a:off x="2565400" y="3467100"/>
            <a:ext cx="17145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78" name="Card Title 订单试算与创建"/>
          <p:cNvSpPr txBox="1"/>
          <p:nvPr/>
        </p:nvSpPr>
        <p:spPr>
          <a:xfrm>
            <a:off x="2679700" y="3556000"/>
            <a:ext cx="14859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订单试算与创建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Badge 核心"/>
          <p:cNvSpPr/>
          <p:nvPr/>
        </p:nvSpPr>
        <p:spPr>
          <a:xfrm>
            <a:off x="3784600" y="354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0" name="Badge Text 核心"/>
          <p:cNvSpPr txBox="1"/>
          <p:nvPr/>
        </p:nvSpPr>
        <p:spPr>
          <a:xfrm>
            <a:off x="3784600" y="357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Card Desc 订单试算与创建"/>
          <p:cNvSpPr txBox="1"/>
          <p:nvPr/>
        </p:nvSpPr>
        <p:spPr>
          <a:xfrm>
            <a:off x="2679700" y="3759200"/>
            <a:ext cx="14859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价格、优惠、增值、押金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Arrow Right Line"/>
          <p:cNvSpPr/>
          <p:nvPr/>
        </p:nvSpPr>
        <p:spPr>
          <a:xfrm>
            <a:off x="4298950" y="3692525"/>
            <a:ext cx="6350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3" name="Arrow Right Head"/>
          <p:cNvSpPr/>
          <p:nvPr/>
        </p:nvSpPr>
        <p:spPr>
          <a:xfrm>
            <a:off x="4356100" y="365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84" name="Card 预授权 / 月结判断"/>
          <p:cNvSpPr/>
          <p:nvPr/>
        </p:nvSpPr>
        <p:spPr>
          <a:xfrm>
            <a:off x="4464050" y="3467100"/>
            <a:ext cx="17145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5" name="Card Title 预授权 / 月结判断"/>
          <p:cNvSpPr txBox="1"/>
          <p:nvPr/>
        </p:nvSpPr>
        <p:spPr>
          <a:xfrm>
            <a:off x="4578350" y="3556000"/>
            <a:ext cx="14859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预授权 / 月结判断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Badge 核心"/>
          <p:cNvSpPr/>
          <p:nvPr/>
        </p:nvSpPr>
        <p:spPr>
          <a:xfrm>
            <a:off x="5683250" y="354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87" name="Badge Text 核心"/>
          <p:cNvSpPr txBox="1"/>
          <p:nvPr/>
        </p:nvSpPr>
        <p:spPr>
          <a:xfrm>
            <a:off x="5683250" y="357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Card Desc 预授权 / 月结判断"/>
          <p:cNvSpPr txBox="1"/>
          <p:nvPr/>
        </p:nvSpPr>
        <p:spPr>
          <a:xfrm>
            <a:off x="4578350" y="3759200"/>
            <a:ext cx="14859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个人自付 / 企业非月结 / 企业月结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Arrow Right Line"/>
          <p:cNvSpPr/>
          <p:nvPr/>
        </p:nvSpPr>
        <p:spPr>
          <a:xfrm>
            <a:off x="6197600" y="3692525"/>
            <a:ext cx="6350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0" name="Arrow Right Head"/>
          <p:cNvSpPr/>
          <p:nvPr/>
        </p:nvSpPr>
        <p:spPr>
          <a:xfrm>
            <a:off x="6254750" y="365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91" name="Card 预分配与硬锁车辆"/>
          <p:cNvSpPr/>
          <p:nvPr/>
        </p:nvSpPr>
        <p:spPr>
          <a:xfrm>
            <a:off x="6362700" y="3467100"/>
            <a:ext cx="17145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2" name="Card Title 预分配与硬锁车辆"/>
          <p:cNvSpPr txBox="1"/>
          <p:nvPr/>
        </p:nvSpPr>
        <p:spPr>
          <a:xfrm>
            <a:off x="6477000" y="3556000"/>
            <a:ext cx="14859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预分配与硬锁车辆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Badge 核心"/>
          <p:cNvSpPr/>
          <p:nvPr/>
        </p:nvSpPr>
        <p:spPr>
          <a:xfrm>
            <a:off x="7581900" y="354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4" name="Badge Text 核心"/>
          <p:cNvSpPr txBox="1"/>
          <p:nvPr/>
        </p:nvSpPr>
        <p:spPr>
          <a:xfrm>
            <a:off x="7581900" y="357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Card Desc 预分配与硬锁车辆"/>
          <p:cNvSpPr txBox="1"/>
          <p:nvPr/>
        </p:nvSpPr>
        <p:spPr>
          <a:xfrm>
            <a:off x="6477000" y="3759200"/>
            <a:ext cx="14859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自动派车、人工改派、AI 分析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Arrow Right Line"/>
          <p:cNvSpPr/>
          <p:nvPr/>
        </p:nvSpPr>
        <p:spPr>
          <a:xfrm>
            <a:off x="8096250" y="3692525"/>
            <a:ext cx="6350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7" name="Arrow Right Head"/>
          <p:cNvSpPr/>
          <p:nvPr/>
        </p:nvSpPr>
        <p:spPr>
          <a:xfrm>
            <a:off x="8153400" y="365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98" name="Card 取还车履约"/>
          <p:cNvSpPr/>
          <p:nvPr/>
        </p:nvSpPr>
        <p:spPr>
          <a:xfrm>
            <a:off x="8261350" y="3467100"/>
            <a:ext cx="17145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99" name="Card Title 取还车履约"/>
          <p:cNvSpPr txBox="1"/>
          <p:nvPr/>
        </p:nvSpPr>
        <p:spPr>
          <a:xfrm>
            <a:off x="8375650" y="3556000"/>
            <a:ext cx="14859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取还车履约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Badge 核心"/>
          <p:cNvSpPr/>
          <p:nvPr/>
        </p:nvSpPr>
        <p:spPr>
          <a:xfrm>
            <a:off x="9480550" y="354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1" name="Badge Text 核心"/>
          <p:cNvSpPr txBox="1"/>
          <p:nvPr/>
        </p:nvSpPr>
        <p:spPr>
          <a:xfrm>
            <a:off x="9480550" y="357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Card Desc 取还车履约"/>
          <p:cNvSpPr txBox="1"/>
          <p:nvPr/>
        </p:nvSpPr>
        <p:spPr>
          <a:xfrm>
            <a:off x="8375650" y="3759200"/>
            <a:ext cx="14859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验车、里程油电、车机控车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Arrow Right Line"/>
          <p:cNvSpPr/>
          <p:nvPr/>
        </p:nvSpPr>
        <p:spPr>
          <a:xfrm>
            <a:off x="9994900" y="3692525"/>
            <a:ext cx="63500" cy="190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4" name="Arrow Right Head"/>
          <p:cNvSpPr/>
          <p:nvPr/>
        </p:nvSpPr>
        <p:spPr>
          <a:xfrm>
            <a:off x="10052050" y="3651250"/>
            <a:ext cx="101600" cy="1016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05" name="Card 费用结算与终态"/>
          <p:cNvSpPr/>
          <p:nvPr/>
        </p:nvSpPr>
        <p:spPr>
          <a:xfrm>
            <a:off x="10160000" y="3467100"/>
            <a:ext cx="1714500" cy="4699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6" name="Card Title 费用结算与终态"/>
          <p:cNvSpPr txBox="1"/>
          <p:nvPr/>
        </p:nvSpPr>
        <p:spPr>
          <a:xfrm>
            <a:off x="10274300" y="3556000"/>
            <a:ext cx="14859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费用结算与终态</a:t>
            </a:r>
            <a:endParaRPr lang="zh-CN" sz="10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Badge 核心"/>
          <p:cNvSpPr/>
          <p:nvPr/>
        </p:nvSpPr>
        <p:spPr>
          <a:xfrm>
            <a:off x="11379200" y="3549650"/>
            <a:ext cx="342900" cy="152400"/>
          </a:xfrm>
          <a:prstGeom prst="roundRect">
            <a:avLst/>
          </a:prstGeom>
          <a:solidFill>
            <a:srgbClr val="E7F6EE"/>
          </a:solidFill>
          <a:ln w="3175">
            <a:solidFill>
              <a:srgbClr val="E7F6E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08" name="Badge Text 核心"/>
          <p:cNvSpPr txBox="1"/>
          <p:nvPr/>
        </p:nvSpPr>
        <p:spPr>
          <a:xfrm>
            <a:off x="11379200" y="357505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14784A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sz="600" b="1">
              <a:solidFill>
                <a:srgbClr val="1478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Card Desc 费用结算与终态"/>
          <p:cNvSpPr txBox="1"/>
          <p:nvPr/>
        </p:nvSpPr>
        <p:spPr>
          <a:xfrm>
            <a:off x="10274300" y="3759200"/>
            <a:ext cx="14859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补缴、退款、月结、追缴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Chip 订单级基线快照"/>
          <p:cNvSpPr/>
          <p:nvPr/>
        </p:nvSpPr>
        <p:spPr>
          <a:xfrm>
            <a:off x="1714500" y="4140200"/>
            <a:ext cx="1905000" cy="215900"/>
          </a:xfrm>
          <a:prstGeom prst="roundRect">
            <a:avLst/>
          </a:prstGeom>
          <a:solidFill>
            <a:srgbClr val="E2F2F8"/>
          </a:solidFill>
          <a:ln w="508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1" name="Chip Text 订单级基线快照"/>
          <p:cNvSpPr txBox="1"/>
          <p:nvPr/>
        </p:nvSpPr>
        <p:spPr>
          <a:xfrm>
            <a:off x="1714500" y="4184650"/>
            <a:ext cx="1905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订单级基线快照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Chip 事件级增量快照"/>
          <p:cNvSpPr/>
          <p:nvPr/>
        </p:nvSpPr>
        <p:spPr>
          <a:xfrm>
            <a:off x="3873500" y="4140200"/>
            <a:ext cx="1905000" cy="215900"/>
          </a:xfrm>
          <a:prstGeom prst="roundRect">
            <a:avLst/>
          </a:prstGeom>
          <a:solidFill>
            <a:srgbClr val="E2F2F8"/>
          </a:solidFill>
          <a:ln w="508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3" name="Chip Text 事件级增量快照"/>
          <p:cNvSpPr txBox="1"/>
          <p:nvPr/>
        </p:nvSpPr>
        <p:spPr>
          <a:xfrm>
            <a:off x="3873500" y="4184650"/>
            <a:ext cx="1905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事件级增量快照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Chip 状态 / 操作 / 费用记录"/>
          <p:cNvSpPr/>
          <p:nvPr/>
        </p:nvSpPr>
        <p:spPr>
          <a:xfrm>
            <a:off x="6032500" y="4140200"/>
            <a:ext cx="1905000" cy="215900"/>
          </a:xfrm>
          <a:prstGeom prst="roundRect">
            <a:avLst/>
          </a:prstGeom>
          <a:solidFill>
            <a:srgbClr val="E2F2F8"/>
          </a:solidFill>
          <a:ln w="508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5" name="Chip Text 状态 / 操作 / 费用记录"/>
          <p:cNvSpPr txBox="1"/>
          <p:nvPr/>
        </p:nvSpPr>
        <p:spPr>
          <a:xfrm>
            <a:off x="6032500" y="4184650"/>
            <a:ext cx="1905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状态 / 操作 / 费用记录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Chip 企业月结费用归属"/>
          <p:cNvSpPr/>
          <p:nvPr/>
        </p:nvSpPr>
        <p:spPr>
          <a:xfrm>
            <a:off x="8191500" y="4140200"/>
            <a:ext cx="1905000" cy="215900"/>
          </a:xfrm>
          <a:prstGeom prst="roundRect">
            <a:avLst/>
          </a:prstGeom>
          <a:solidFill>
            <a:srgbClr val="E2F2F8"/>
          </a:solidFill>
          <a:ln w="508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7" name="Chip Text 企业月结费用归属"/>
          <p:cNvSpPr txBox="1"/>
          <p:nvPr/>
        </p:nvSpPr>
        <p:spPr>
          <a:xfrm>
            <a:off x="8191500" y="4184650"/>
            <a:ext cx="19050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企业月结费用归属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Arrow Line"/>
          <p:cNvSpPr/>
          <p:nvPr/>
        </p:nvSpPr>
        <p:spPr>
          <a:xfrm>
            <a:off x="6086475" y="4483100"/>
            <a:ext cx="19050" cy="1206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19" name="Arrow Head"/>
          <p:cNvSpPr/>
          <p:nvPr/>
        </p:nvSpPr>
        <p:spPr>
          <a:xfrm rot="10800000">
            <a:off x="6045200" y="45847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20" name="Arrow Label Bg"/>
          <p:cNvSpPr/>
          <p:nvPr/>
        </p:nvSpPr>
        <p:spPr>
          <a:xfrm>
            <a:off x="5588000" y="4489450"/>
            <a:ext cx="1016000" cy="15875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1" name="Arrow Label 能力支撑"/>
          <p:cNvSpPr txBox="1"/>
          <p:nvPr/>
        </p:nvSpPr>
        <p:spPr>
          <a:xfrm>
            <a:off x="5588000" y="4521200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能力支撑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Section 核心能力域"/>
          <p:cNvSpPr/>
          <p:nvPr/>
        </p:nvSpPr>
        <p:spPr>
          <a:xfrm>
            <a:off x="444500" y="4711700"/>
            <a:ext cx="11303000" cy="11303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3" name="Section Label 核心能力域"/>
          <p:cNvSpPr/>
          <p:nvPr/>
        </p:nvSpPr>
        <p:spPr>
          <a:xfrm>
            <a:off x="558800" y="4610100"/>
            <a:ext cx="8382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4" name="Section Title 核心能力域"/>
          <p:cNvSpPr txBox="1"/>
          <p:nvPr/>
        </p:nvSpPr>
        <p:spPr>
          <a:xfrm>
            <a:off x="666750" y="4654550"/>
            <a:ext cx="6477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核心能力域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Section Desc 核心能力域"/>
          <p:cNvSpPr txBox="1"/>
          <p:nvPr/>
        </p:nvSpPr>
        <p:spPr>
          <a:xfrm>
            <a:off x="1498600" y="4667250"/>
            <a:ext cx="101346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围绕订单履约沉淀六个能力域，保证两种模式同规则、同口径、可追溯。</a:t>
            </a:r>
            <a:endParaRPr lang="zh-CN" sz="80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Shape"/>
          <p:cNvSpPr/>
          <p:nvPr/>
        </p:nvSpPr>
        <p:spPr>
          <a:xfrm>
            <a:off x="666750" y="4991100"/>
            <a:ext cx="1714500" cy="6350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7" name="Text"/>
          <p:cNvSpPr txBox="1"/>
          <p:nvPr/>
        </p:nvSpPr>
        <p:spPr>
          <a:xfrm>
            <a:off x="768350" y="5067300"/>
            <a:ext cx="15113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资源与站点</a:t>
            </a:r>
            <a:endParaRPr lang="zh-CN" sz="9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Chip 车行 / 门市 / 据点"/>
          <p:cNvSpPr/>
          <p:nvPr/>
        </p:nvSpPr>
        <p:spPr>
          <a:xfrm>
            <a:off x="768350" y="52705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29" name="Chip Text 车行 / 门市 / 据点"/>
          <p:cNvSpPr txBox="1"/>
          <p:nvPr/>
        </p:nvSpPr>
        <p:spPr>
          <a:xfrm>
            <a:off x="768350" y="53149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车行 / 门市 / 据点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Chip 车辆 / 车组 / 车机"/>
          <p:cNvSpPr/>
          <p:nvPr/>
        </p:nvSpPr>
        <p:spPr>
          <a:xfrm>
            <a:off x="768350" y="54483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1" name="Chip Text 车辆 / 车组 / 车机"/>
          <p:cNvSpPr txBox="1"/>
          <p:nvPr/>
        </p:nvSpPr>
        <p:spPr>
          <a:xfrm>
            <a:off x="768350" y="54927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车辆 / 车组 / 车机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Shape"/>
          <p:cNvSpPr/>
          <p:nvPr/>
        </p:nvSpPr>
        <p:spPr>
          <a:xfrm>
            <a:off x="2565400" y="4991100"/>
            <a:ext cx="1714500" cy="6350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3" name="Text"/>
          <p:cNvSpPr txBox="1"/>
          <p:nvPr/>
        </p:nvSpPr>
        <p:spPr>
          <a:xfrm>
            <a:off x="2667000" y="5067300"/>
            <a:ext cx="15113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价格与规则</a:t>
            </a:r>
            <a:endParaRPr lang="zh-CN" sz="9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Chip 标准价 / 动态调价"/>
          <p:cNvSpPr/>
          <p:nvPr/>
        </p:nvSpPr>
        <p:spPr>
          <a:xfrm>
            <a:off x="2667000" y="52705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5" name="Chip Text 标准价 / 动态调价"/>
          <p:cNvSpPr txBox="1"/>
          <p:nvPr/>
        </p:nvSpPr>
        <p:spPr>
          <a:xfrm>
            <a:off x="2667000" y="53149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标准价 / 动态调价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Chip 行销 / 增值 / 押金"/>
          <p:cNvSpPr/>
          <p:nvPr/>
        </p:nvSpPr>
        <p:spPr>
          <a:xfrm>
            <a:off x="2667000" y="54483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7" name="Chip Text 行销 / 增值 / 押金"/>
          <p:cNvSpPr txBox="1"/>
          <p:nvPr/>
        </p:nvSpPr>
        <p:spPr>
          <a:xfrm>
            <a:off x="2667000" y="54927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行销 / 增值 / 押金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Shape"/>
          <p:cNvSpPr/>
          <p:nvPr/>
        </p:nvSpPr>
        <p:spPr>
          <a:xfrm>
            <a:off x="4464050" y="4991100"/>
            <a:ext cx="1714500" cy="6350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39" name="Text"/>
          <p:cNvSpPr txBox="1"/>
          <p:nvPr/>
        </p:nvSpPr>
        <p:spPr>
          <a:xfrm>
            <a:off x="4565650" y="5067300"/>
            <a:ext cx="15113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调度与排程</a:t>
            </a:r>
            <a:endParaRPr lang="zh-CN" sz="9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Chip 车组库存 / 时间窗"/>
          <p:cNvSpPr/>
          <p:nvPr/>
        </p:nvSpPr>
        <p:spPr>
          <a:xfrm>
            <a:off x="4565650" y="52705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1" name="Chip Text 车组库存 / 时间窗"/>
          <p:cNvSpPr txBox="1"/>
          <p:nvPr/>
        </p:nvSpPr>
        <p:spPr>
          <a:xfrm>
            <a:off x="4565650" y="53149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车组库存 / 时间窗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Chip 预分配 / 硬锁 / 改派"/>
          <p:cNvSpPr/>
          <p:nvPr/>
        </p:nvSpPr>
        <p:spPr>
          <a:xfrm>
            <a:off x="4565650" y="54483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3" name="Chip Text 预分配 / 硬锁 / 改派"/>
          <p:cNvSpPr txBox="1"/>
          <p:nvPr/>
        </p:nvSpPr>
        <p:spPr>
          <a:xfrm>
            <a:off x="4565650" y="54927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预分配 / 硬锁 / 改派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Shape"/>
          <p:cNvSpPr/>
          <p:nvPr/>
        </p:nvSpPr>
        <p:spPr>
          <a:xfrm>
            <a:off x="6362700" y="4991100"/>
            <a:ext cx="1714500" cy="6350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5" name="Text"/>
          <p:cNvSpPr txBox="1"/>
          <p:nvPr/>
        </p:nvSpPr>
        <p:spPr>
          <a:xfrm>
            <a:off x="6464300" y="5067300"/>
            <a:ext cx="15113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履约与异常</a:t>
            </a:r>
            <a:endParaRPr lang="zh-CN" sz="9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Chip 取车 / 还车 / 验车"/>
          <p:cNvSpPr/>
          <p:nvPr/>
        </p:nvSpPr>
        <p:spPr>
          <a:xfrm>
            <a:off x="6464300" y="52705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7" name="Chip Text 取车 / 还车 / 验车"/>
          <p:cNvSpPr txBox="1"/>
          <p:nvPr/>
        </p:nvSpPr>
        <p:spPr>
          <a:xfrm>
            <a:off x="6464300" y="53149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取车 / 还车 / 验车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Chip 续租 / 取消 / 爽约 / 事故"/>
          <p:cNvSpPr/>
          <p:nvPr/>
        </p:nvSpPr>
        <p:spPr>
          <a:xfrm>
            <a:off x="6464300" y="54483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49" name="Chip Text 续租 / 取消 / 爽约 / 事故"/>
          <p:cNvSpPr txBox="1"/>
          <p:nvPr/>
        </p:nvSpPr>
        <p:spPr>
          <a:xfrm>
            <a:off x="6464300" y="54927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续租 / 取消 / 爽约 / 事故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Shape"/>
          <p:cNvSpPr/>
          <p:nvPr/>
        </p:nvSpPr>
        <p:spPr>
          <a:xfrm>
            <a:off x="8261350" y="4991100"/>
            <a:ext cx="1714500" cy="6350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1" name="Text"/>
          <p:cNvSpPr txBox="1"/>
          <p:nvPr/>
        </p:nvSpPr>
        <p:spPr>
          <a:xfrm>
            <a:off x="8362950" y="5067300"/>
            <a:ext cx="15113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费用与账务</a:t>
            </a:r>
            <a:endParaRPr lang="zh-CN" sz="9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Chip 支付 / 预授权 / 退款"/>
          <p:cNvSpPr/>
          <p:nvPr/>
        </p:nvSpPr>
        <p:spPr>
          <a:xfrm>
            <a:off x="8362950" y="52705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3" name="Chip Text 支付 / 预授权 / 退款"/>
          <p:cNvSpPr txBox="1"/>
          <p:nvPr/>
        </p:nvSpPr>
        <p:spPr>
          <a:xfrm>
            <a:off x="8362950" y="53149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支付 / 预授权 / 退款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Chip 企业月结 / 完成后追缴"/>
          <p:cNvSpPr/>
          <p:nvPr/>
        </p:nvSpPr>
        <p:spPr>
          <a:xfrm>
            <a:off x="8362950" y="54483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5" name="Chip Text 企业月结 / 完成后追缴"/>
          <p:cNvSpPr txBox="1"/>
          <p:nvPr/>
        </p:nvSpPr>
        <p:spPr>
          <a:xfrm>
            <a:off x="8362950" y="54927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企业月结 / 完成后追缴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Shape"/>
          <p:cNvSpPr/>
          <p:nvPr/>
        </p:nvSpPr>
        <p:spPr>
          <a:xfrm>
            <a:off x="10160000" y="4991100"/>
            <a:ext cx="1714500" cy="635000"/>
          </a:xfrm>
          <a:prstGeom prst="roundRect">
            <a:avLst/>
          </a:prstGeom>
          <a:solidFill>
            <a:srgbClr val="E2F2F8"/>
          </a:solidFill>
          <a:ln w="952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7" name="Text"/>
          <p:cNvSpPr txBox="1"/>
          <p:nvPr/>
        </p:nvSpPr>
        <p:spPr>
          <a:xfrm>
            <a:off x="10261600" y="5067300"/>
            <a:ext cx="15113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04C73"/>
                </a:solidFill>
                <a:latin typeface="微软雅黑" panose="020B0503020204020204" charset="-122"/>
                <a:ea typeface="微软雅黑" panose="020B0503020204020204" charset="-122"/>
              </a:rPr>
              <a:t>快照与审计</a:t>
            </a:r>
            <a:endParaRPr lang="zh-CN" sz="900" b="1">
              <a:solidFill>
                <a:srgbClr val="004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Chip 订单快照 / 事件快照"/>
          <p:cNvSpPr/>
          <p:nvPr/>
        </p:nvSpPr>
        <p:spPr>
          <a:xfrm>
            <a:off x="10261600" y="52705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59" name="Chip Text 订单快照 / 事件快照"/>
          <p:cNvSpPr txBox="1"/>
          <p:nvPr/>
        </p:nvSpPr>
        <p:spPr>
          <a:xfrm>
            <a:off x="10261600" y="53149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订单快照 / 事件快照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Chip 操作记录 / 模型日志"/>
          <p:cNvSpPr/>
          <p:nvPr/>
        </p:nvSpPr>
        <p:spPr>
          <a:xfrm>
            <a:off x="10261600" y="5448300"/>
            <a:ext cx="1511300" cy="1524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1" name="Chip Text 操作记录 / 模型日志"/>
          <p:cNvSpPr txBox="1"/>
          <p:nvPr/>
        </p:nvSpPr>
        <p:spPr>
          <a:xfrm>
            <a:off x="10261600" y="5492750"/>
            <a:ext cx="15113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操作记录 / 模型日志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Arrow Line"/>
          <p:cNvSpPr/>
          <p:nvPr/>
        </p:nvSpPr>
        <p:spPr>
          <a:xfrm>
            <a:off x="6086475" y="5854700"/>
            <a:ext cx="19050" cy="95250"/>
          </a:xfrm>
          <a:prstGeom prst="rect">
            <a:avLst/>
          </a:prstGeom>
          <a:solidFill>
            <a:srgbClr val="00689E"/>
          </a:solidFill>
          <a:ln w="1270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3" name="Arrow Head"/>
          <p:cNvSpPr/>
          <p:nvPr/>
        </p:nvSpPr>
        <p:spPr>
          <a:xfrm rot="10800000">
            <a:off x="6045200" y="5930900"/>
            <a:ext cx="101600" cy="88900"/>
          </a:xfrm>
          <a:prstGeom prst="triangle">
            <a:avLst/>
          </a:prstGeom>
          <a:solidFill>
            <a:srgbClr val="00689E"/>
          </a:solidFill>
          <a:ln>
            <a:noFill/>
          </a:ln>
        </p:spPr>
        <p:txBody>
          <a:bodyPr/>
          <a:lstStyle/>
          <a:p>
            <a:endParaRPr sz="1200"/>
          </a:p>
        </p:txBody>
      </p:sp>
      <p:sp>
        <p:nvSpPr>
          <p:cNvPr id="164" name="Arrow Label Bg"/>
          <p:cNvSpPr/>
          <p:nvPr/>
        </p:nvSpPr>
        <p:spPr>
          <a:xfrm>
            <a:off x="5588000" y="5848350"/>
            <a:ext cx="1016000" cy="158750"/>
          </a:xfrm>
          <a:prstGeom prst="roundRect">
            <a:avLst/>
          </a:prstGeom>
          <a:solidFill>
            <a:srgbClr val="F6F9FC"/>
          </a:solidFill>
          <a:ln w="1270">
            <a:solidFill>
              <a:srgbClr val="F6F9FC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5" name="Arrow Label 外部集成"/>
          <p:cNvSpPr txBox="1"/>
          <p:nvPr/>
        </p:nvSpPr>
        <p:spPr>
          <a:xfrm>
            <a:off x="5588000" y="5880100"/>
            <a:ext cx="1016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8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外部集成</a:t>
            </a:r>
            <a:endParaRPr lang="zh-CN" sz="68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Section 外部依赖与扩展能力"/>
          <p:cNvSpPr/>
          <p:nvPr/>
        </p:nvSpPr>
        <p:spPr>
          <a:xfrm>
            <a:off x="444500" y="6057900"/>
            <a:ext cx="11303000" cy="4572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BFD5E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7" name="Section Label 外部依赖与扩展能力"/>
          <p:cNvSpPr/>
          <p:nvPr/>
        </p:nvSpPr>
        <p:spPr>
          <a:xfrm>
            <a:off x="558800" y="5956300"/>
            <a:ext cx="1244600" cy="203200"/>
          </a:xfrm>
          <a:prstGeom prst="roundRect">
            <a:avLst/>
          </a:prstGeom>
          <a:solidFill>
            <a:srgbClr val="00689E"/>
          </a:solidFill>
          <a:ln w="3175">
            <a:solidFill>
              <a:srgbClr val="00689E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68" name="Section Title 外部依赖与扩展能力"/>
          <p:cNvSpPr txBox="1"/>
          <p:nvPr/>
        </p:nvSpPr>
        <p:spPr>
          <a:xfrm>
            <a:off x="666750" y="6000750"/>
            <a:ext cx="1054100" cy="138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外部依赖与扩展能力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Section Desc 外部依赖与扩展能力"/>
          <p:cNvSpPr txBox="1"/>
          <p:nvPr/>
        </p:nvSpPr>
        <p:spPr>
          <a:xfrm>
            <a:off x="1905000" y="6013450"/>
            <a:ext cx="97282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外部能力按租户或实例配置，门市租赁通过统一接口调用，不在业务线内重复建设。</a:t>
            </a:r>
            <a:endParaRPr lang="zh-CN" sz="80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Chip 支付渠道"/>
          <p:cNvSpPr/>
          <p:nvPr/>
        </p:nvSpPr>
        <p:spPr>
          <a:xfrm>
            <a:off x="6985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1" name="Chip Text 支付渠道"/>
          <p:cNvSpPr txBox="1"/>
          <p:nvPr/>
        </p:nvSpPr>
        <p:spPr>
          <a:xfrm>
            <a:off x="6985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支付渠道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Chip 短信 / 通知"/>
          <p:cNvSpPr/>
          <p:nvPr/>
        </p:nvSpPr>
        <p:spPr>
          <a:xfrm>
            <a:off x="22606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3" name="Chip Text 短信 / 通知"/>
          <p:cNvSpPr txBox="1"/>
          <p:nvPr/>
        </p:nvSpPr>
        <p:spPr>
          <a:xfrm>
            <a:off x="22606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短信 / 通知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Chip 发票平台"/>
          <p:cNvSpPr/>
          <p:nvPr/>
        </p:nvSpPr>
        <p:spPr>
          <a:xfrm>
            <a:off x="38227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5" name="Chip Text 发票平台"/>
          <p:cNvSpPr txBox="1"/>
          <p:nvPr/>
        </p:nvSpPr>
        <p:spPr>
          <a:xfrm>
            <a:off x="38227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发票平台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Chip 车机 / 控车平台"/>
          <p:cNvSpPr/>
          <p:nvPr/>
        </p:nvSpPr>
        <p:spPr>
          <a:xfrm>
            <a:off x="53848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7" name="Chip Text 车机 / 控车平台"/>
          <p:cNvSpPr txBox="1"/>
          <p:nvPr/>
        </p:nvSpPr>
        <p:spPr>
          <a:xfrm>
            <a:off x="53848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车机 / 控车平台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Chip 地图 / 地址服务"/>
          <p:cNvSpPr/>
          <p:nvPr/>
        </p:nvSpPr>
        <p:spPr>
          <a:xfrm>
            <a:off x="69469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79" name="Chip Text 地图 / 地址服务"/>
          <p:cNvSpPr txBox="1"/>
          <p:nvPr/>
        </p:nvSpPr>
        <p:spPr>
          <a:xfrm>
            <a:off x="69469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地图 / 地址服务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Chip AI 模型提供商"/>
          <p:cNvSpPr/>
          <p:nvPr/>
        </p:nvSpPr>
        <p:spPr>
          <a:xfrm>
            <a:off x="85090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1" name="Chip Text AI 模型提供商"/>
          <p:cNvSpPr txBox="1"/>
          <p:nvPr/>
        </p:nvSpPr>
        <p:spPr>
          <a:xfrm>
            <a:off x="85090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AI 模型提供商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Badge 扩展"/>
          <p:cNvSpPr/>
          <p:nvPr/>
        </p:nvSpPr>
        <p:spPr>
          <a:xfrm>
            <a:off x="9575800" y="6311900"/>
            <a:ext cx="3429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3" name="Badge Text 扩展"/>
          <p:cNvSpPr txBox="1"/>
          <p:nvPr/>
        </p:nvSpPr>
        <p:spPr>
          <a:xfrm>
            <a:off x="9575800" y="633730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6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Chip 系统监测 / 告警"/>
          <p:cNvSpPr/>
          <p:nvPr/>
        </p:nvSpPr>
        <p:spPr>
          <a:xfrm>
            <a:off x="10071100" y="6299200"/>
            <a:ext cx="1460500" cy="190500"/>
          </a:xfrm>
          <a:prstGeom prst="roundRect">
            <a:avLst/>
          </a:prstGeom>
          <a:solidFill>
            <a:srgbClr val="F8FAFC"/>
          </a:solidFill>
          <a:ln w="5080">
            <a:solidFill>
              <a:srgbClr val="9FC0D3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5" name="Chip Text 系统监测 / 告警"/>
          <p:cNvSpPr txBox="1"/>
          <p:nvPr/>
        </p:nvSpPr>
        <p:spPr>
          <a:xfrm>
            <a:off x="10071100" y="6343650"/>
            <a:ext cx="1460500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02333"/>
                </a:solidFill>
                <a:latin typeface="微软雅黑" panose="020B0503020204020204" charset="-122"/>
                <a:ea typeface="微软雅黑" panose="020B0503020204020204" charset="-122"/>
              </a:rPr>
              <a:t>系统监测 / 告警</a:t>
            </a:r>
            <a:endParaRPr lang="zh-CN" sz="800" b="1">
              <a:solidFill>
                <a:srgbClr val="102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Badge 扩展"/>
          <p:cNvSpPr/>
          <p:nvPr/>
        </p:nvSpPr>
        <p:spPr>
          <a:xfrm>
            <a:off x="11137900" y="6311900"/>
            <a:ext cx="342900" cy="152400"/>
          </a:xfrm>
          <a:prstGeom prst="roundRect">
            <a:avLst/>
          </a:prstGeom>
          <a:solidFill>
            <a:srgbClr val="FFF2D1"/>
          </a:solidFill>
          <a:ln w="3175">
            <a:solidFill>
              <a:srgbClr val="FFF2D1"/>
            </a:solidFill>
          </a:ln>
        </p:spPr>
        <p:txBody>
          <a:bodyPr/>
          <a:lstStyle/>
          <a:p>
            <a:endParaRPr sz="1200"/>
          </a:p>
        </p:txBody>
      </p:sp>
      <p:sp>
        <p:nvSpPr>
          <p:cNvPr id="187" name="Badge Text 扩展"/>
          <p:cNvSpPr txBox="1"/>
          <p:nvPr/>
        </p:nvSpPr>
        <p:spPr>
          <a:xfrm>
            <a:off x="11137900" y="6337300"/>
            <a:ext cx="34290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600" b="1">
                <a:solidFill>
                  <a:srgbClr val="9B5E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endParaRPr lang="zh-CN" sz="600" b="1">
              <a:solidFill>
                <a:srgbClr val="9B5E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Text"/>
          <p:cNvSpPr txBox="1"/>
          <p:nvPr/>
        </p:nvSpPr>
        <p:spPr>
          <a:xfrm>
            <a:off x="444500" y="6654800"/>
            <a:ext cx="9144000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注：本图为门市租赁业务线产品架构图，不表达服务器数量、代码模块或网络拓扑；具体字段、状态与金额计算以对应 PRD 为准。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Text"/>
          <p:cNvSpPr txBox="1"/>
          <p:nvPr/>
        </p:nvSpPr>
        <p:spPr>
          <a:xfrm>
            <a:off x="11085195" y="6654800"/>
            <a:ext cx="662305" cy="104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680">
                <a:solidFill>
                  <a:srgbClr val="5D6977"/>
                </a:solidFill>
                <a:latin typeface="微软雅黑" panose="020B0503020204020204" charset="-122"/>
                <a:ea typeface="微软雅黑" panose="020B0503020204020204" charset="-122"/>
              </a:rPr>
              <a:t>2026-05-21</a:t>
            </a:r>
            <a:endParaRPr lang="zh-CN" sz="680">
              <a:solidFill>
                <a:srgbClr val="5D69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MO Theme">
  <a:themeElements>
    <a:clrScheme name="RIMO">
      <a:dk1>
        <a:srgbClr val="102333"/>
      </a:dk1>
      <a:lt1>
        <a:srgbClr val="FFFFFF"/>
      </a:lt1>
      <a:dk2>
        <a:srgbClr val="004C73"/>
      </a:dk2>
      <a:lt2>
        <a:srgbClr val="F6F9FC"/>
      </a:lt2>
      <a:accent1>
        <a:srgbClr val="00689E"/>
      </a:accent1>
      <a:accent2>
        <a:srgbClr val="14784A"/>
      </a:accent2>
      <a:accent3>
        <a:srgbClr val="9B5E00"/>
      </a:accent3>
      <a:accent4>
        <a:srgbClr val="5D6977"/>
      </a:accent4>
      <a:accent5>
        <a:srgbClr val="BFD5E3"/>
      </a:accent5>
      <a:accent6>
        <a:srgbClr val="E2F2F8"/>
      </a:accent6>
      <a:hlink>
        <a:srgbClr val="00689E"/>
      </a:hlink>
      <a:folHlink>
        <a:srgbClr val="004C73"/>
      </a:folHlink>
    </a:clrScheme>
    <a:fontScheme name="RIMO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RIMO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</Words>
  <Application>WPS 演示</Application>
  <PresentationFormat>宽屏</PresentationFormat>
  <Paragraphs>182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RIMO Theme</vt:lpstr>
      <vt:lpstr>PowerPoint 演示文稿</vt:lpstr>
    </vt:vector>
  </TitlesOfParts>
  <Company>RIMO Rental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门市租赁业务线架构图</dc:title>
  <dc:creator>RIMO Rental</dc:creator>
  <cp:lastModifiedBy>肖金鹏</cp:lastModifiedBy>
  <cp:revision>1</cp:revision>
  <dcterms:created xsi:type="dcterms:W3CDTF">2026-05-21T06:54:35Z</dcterms:created>
  <dcterms:modified xsi:type="dcterms:W3CDTF">2026-05-21T06:54:35Z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3D710C5A6C9045E89F044ACA1E152247_12</vt:lpwstr>
  </property>
</Properties>
</file>