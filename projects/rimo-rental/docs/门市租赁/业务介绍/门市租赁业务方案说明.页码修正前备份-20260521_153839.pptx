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74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5309"/>
    <a:srgbClr val="F5F9FC"/>
    <a:srgbClr val="00689E"/>
    <a:srgbClr val="D97706"/>
    <a:srgbClr val="2D7D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 userDrawn="1"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8.svg"/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svg"/><Relationship Id="rId7" Type="http://schemas.openxmlformats.org/officeDocument/2006/relationships/image" Target="../media/image16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2" Type="http://schemas.openxmlformats.org/officeDocument/2006/relationships/notesSlide" Target="../notesSlides/notesSlide13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9.sv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6438900"/>
            <a:ext cx="8572500" cy="12383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657225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RIMO Rental | 门市租赁业务方案</a:t>
            </a:r>
            <a:endParaRPr sz="67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609600"/>
            <a:ext cx="68580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RIMO Rental</a:t>
            </a:r>
            <a:endParaRPr sz="16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47700" y="1238250"/>
            <a:ext cx="75247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门市租赁业务方案</a:t>
            </a:r>
            <a:endParaRPr sz="360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2400300"/>
            <a:ext cx="5905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门市租车 + 24 小时自助租车的一体化业务、履约、调度与结算方案</a:t>
            </a:r>
            <a:endParaRPr sz="14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3238500"/>
            <a:ext cx="1066800" cy="228600"/>
          </a:xfrm>
          <a:prstGeom prst="rect">
            <a:avLst/>
          </a:prstGeom>
          <a:solidFill>
            <a:srgbClr val="DDF0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3286125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方案说明版</a:t>
            </a:r>
            <a:endParaRPr sz="8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866900" y="3238500"/>
            <a:ext cx="1295400" cy="228600"/>
          </a:xfrm>
          <a:prstGeom prst="rect">
            <a:avLst/>
          </a:prstGeom>
          <a:solidFill>
            <a:srgbClr val="DDF0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962150" y="3286125"/>
            <a:ext cx="1104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8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</a:t>
            </a:r>
            <a:r>
              <a:rPr sz="8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</a:t>
            </a:r>
            <a:endParaRPr sz="8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276600" y="3238500"/>
            <a:ext cx="1200150" cy="228600"/>
          </a:xfrm>
          <a:prstGeom prst="rect">
            <a:avLst/>
          </a:prstGeom>
          <a:solidFill>
            <a:srgbClr val="FFF1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371850" y="328612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2026-05-21</a:t>
            </a:r>
            <a:endParaRPr sz="85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429500" y="876300"/>
            <a:ext cx="3619500" cy="4191000"/>
          </a:xfrm>
          <a:prstGeom prst="rect">
            <a:avLst/>
          </a:prstGeom>
          <a:solidFill>
            <a:srgbClr val="FDFEFC"/>
          </a:solidFill>
          <a:ln w="9525">
            <a:solidFill>
              <a:srgbClr val="D4E3EA"/>
            </a:solidFill>
            <a:prstDash val="solid"/>
          </a:ln>
        </p:spPr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67650" y="1238250"/>
            <a:ext cx="514350" cy="51435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86900" y="1238250"/>
            <a:ext cx="514350" cy="514350"/>
          </a:xfrm>
          <a:prstGeom prst="rect">
            <a:avLst/>
          </a:prstGeom>
        </p:spPr>
      </p:pic>
      <p:sp>
        <p:nvSpPr>
          <p:cNvPr id="19" name="矩形 18"/>
          <p:cNvSpPr>
            <a:spLocks noGrp="1"/>
          </p:cNvSpPr>
          <p:nvPr/>
        </p:nvSpPr>
        <p:spPr>
          <a:xfrm>
            <a:off x="8477250" y="1485900"/>
            <a:ext cx="838200" cy="1905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829550" y="1981200"/>
            <a:ext cx="13811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有人服务门市租车</a:t>
            </a:r>
            <a:endParaRPr sz="120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382125" y="198120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 小时自助租车</a:t>
            </a:r>
            <a:endParaRPr sz="120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829550" y="2400300"/>
            <a:ext cx="1333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面向门市预约，店员办理取还车、验车、核验、收款和交接。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382125" y="2400300"/>
            <a:ext cx="1333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面向具体据点，自助取还车依赖车机能力、据点指引和远程校验。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962900" y="3695700"/>
            <a:ext cx="2686050" cy="1143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905750" y="3962400"/>
            <a:ext cx="85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共同底座</a:t>
            </a:r>
            <a:endParaRPr sz="12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810625" y="3943350"/>
            <a:ext cx="19526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车组、标准价、动态调价、行销方案、增值服务、租赁业务规则、调度规则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6438900"/>
            <a:ext cx="8572500" cy="12383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657225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RIMO Rental | 门市租赁业务方案</a:t>
            </a:r>
            <a:endParaRPr sz="67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一页结论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门市租赁不是新增一张订单表，而是一条新的履约业务线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方案核心是把“按车组销售”和“按车辆履约”拆开，同时补齐价格、调度、资金、快照和门店作业闭环。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52450" y="1695450"/>
            <a:ext cx="3381375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52450" y="1695450"/>
            <a:ext cx="47625" cy="314325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19431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业务价值</a:t>
            </a:r>
            <a:endParaRPr sz="14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838200" y="2476500"/>
            <a:ext cx="57150" cy="57150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90600" y="2400300"/>
            <a:ext cx="2686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覆盖按天、多天、门店交车和自助取还车场景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838200" y="2876550"/>
            <a:ext cx="57150" cy="57150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90600" y="2800350"/>
            <a:ext cx="2686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统一复用车组、价格、行销、增值服务和业务规则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838200" y="3276600"/>
            <a:ext cx="57150" cy="57150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90600" y="3200400"/>
            <a:ext cx="2686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支持个人、企业非月结、企业月结三种资金</a:t>
            </a:r>
            <a:r>
              <a:rPr lang="zh-CN"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管道</a:t>
            </a:r>
            <a:endParaRPr lang="zh-CN"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838200" y="3676650"/>
            <a:ext cx="57150" cy="57150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90600" y="3600450"/>
            <a:ext cx="2686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通过调度和硬锁机制降低临柜找车风险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400550" y="1695450"/>
            <a:ext cx="3381375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400550" y="1695450"/>
            <a:ext cx="47625" cy="314325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667250" y="19431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</a:t>
            </a:r>
            <a:r>
              <a:rPr lang="zh-CN" sz="14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方式</a:t>
            </a:r>
            <a:endParaRPr lang="zh-CN" sz="14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4686300" y="2476500"/>
            <a:ext cx="57150" cy="57150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838700" y="2400300"/>
            <a:ext cx="2686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订单主状态、派车状态、车辆状态分轴管理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4686300" y="2876550"/>
            <a:ext cx="57150" cy="57150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838700" y="2800350"/>
            <a:ext cx="2686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下单固化订单级基线快照，商业变化生成事件快照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4686300" y="3276600"/>
            <a:ext cx="57150" cy="57150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4838700" y="3200400"/>
            <a:ext cx="2686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取车、还车、续租、改派、事故、追缴都有费用入口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4686300" y="3676650"/>
            <a:ext cx="57150" cy="57150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838700" y="3600450"/>
            <a:ext cx="2686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只做分析推荐，系统硬约束和人工确认仍是最终闸口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362950" y="1695450"/>
            <a:ext cx="1238250" cy="914400"/>
          </a:xfrm>
          <a:prstGeom prst="rect">
            <a:avLst/>
          </a:prstGeom>
          <a:solidFill>
            <a:srgbClr val="E5F2EE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362950" y="1695450"/>
            <a:ext cx="47625" cy="91440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534400" y="1847850"/>
            <a:ext cx="933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80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534400" y="2209800"/>
            <a:ext cx="933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服务模式</a:t>
            </a:r>
            <a:endParaRPr sz="8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810750" y="1695450"/>
            <a:ext cx="1238250" cy="914400"/>
          </a:xfrm>
          <a:prstGeom prst="rect">
            <a:avLst/>
          </a:prstGeom>
          <a:solidFill>
            <a:srgbClr val="FFF1D6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810750" y="1695450"/>
            <a:ext cx="47625" cy="9144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9982200" y="1847850"/>
            <a:ext cx="933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80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982200" y="2209800"/>
            <a:ext cx="933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资金</a:t>
            </a:r>
            <a:r>
              <a:rPr lang="zh-CN" sz="8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管道</a:t>
            </a:r>
            <a:endParaRPr lang="zh-CN" sz="8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362950" y="2857500"/>
            <a:ext cx="1238250" cy="914400"/>
          </a:xfrm>
          <a:prstGeom prst="rect">
            <a:avLst/>
          </a:prstGeom>
          <a:solidFill>
            <a:srgbClr val="DDF0F8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362950" y="2857500"/>
            <a:ext cx="47625" cy="9144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534400" y="3009900"/>
            <a:ext cx="933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80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534400" y="3371850"/>
            <a:ext cx="933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状态轴线</a:t>
            </a:r>
            <a:endParaRPr sz="8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810750" y="2857500"/>
            <a:ext cx="1238250" cy="914400"/>
          </a:xfrm>
          <a:prstGeom prst="rect">
            <a:avLst/>
          </a:prstGeom>
          <a:solidFill>
            <a:srgbClr val="E3F1F8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9810750" y="2857500"/>
            <a:ext cx="47625" cy="9144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9982200" y="3009900"/>
            <a:ext cx="933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80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9982200" y="3371850"/>
            <a:ext cx="933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费用中心</a:t>
            </a:r>
            <a:endParaRPr sz="8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8362950" y="4057650"/>
            <a:ext cx="2686050" cy="78105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8610600" y="4286250"/>
            <a:ext cx="2190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本期先闭合同车行范围内的主链路，跨车行、自动转单、复杂审批流不纳入本期。</a:t>
            </a:r>
            <a:endParaRPr sz="975" b="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B"/>
          </a:solidFill>
          <a:ln w="1270">
            <a:solidFill>
              <a:srgbClr val="F5F8FB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4" name="Text"/>
          <p:cNvSpPr txBox="1"/>
          <p:nvPr/>
        </p:nvSpPr>
        <p:spPr>
          <a:xfrm>
            <a:off x="495300" y="1021715"/>
            <a:ext cx="8001000" cy="1384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围绕门市租车与 24 小时自助租车，沉淀统一的车组、站点、调度、费用、快照和外部服务能力。</a:t>
            </a:r>
            <a:endParaRPr lang="zh-CN" sz="9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Badge 门市租车"/>
          <p:cNvSpPr/>
          <p:nvPr/>
        </p:nvSpPr>
        <p:spPr>
          <a:xfrm>
            <a:off x="9620250" y="657225"/>
            <a:ext cx="609600" cy="171450"/>
          </a:xfrm>
          <a:prstGeom prst="roundRect">
            <a:avLst/>
          </a:prstGeom>
          <a:solidFill>
            <a:srgbClr val="E7F6EE"/>
          </a:solidFill>
          <a:ln w="1905">
            <a:solidFill>
              <a:srgbClr val="E7F6E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6" name="Badge Text 门市租车"/>
          <p:cNvSpPr txBox="1"/>
          <p:nvPr/>
        </p:nvSpPr>
        <p:spPr>
          <a:xfrm>
            <a:off x="9620250" y="688975"/>
            <a:ext cx="6096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4784A"/>
                </a:solidFill>
                <a:latin typeface="微软雅黑" panose="020B0503020204020204" charset="-122"/>
                <a:ea typeface="微软雅黑" panose="020B0503020204020204" charset="-122"/>
              </a:rPr>
              <a:t>门市租车</a:t>
            </a:r>
            <a:endParaRPr lang="zh-CN" sz="800" b="1">
              <a:solidFill>
                <a:srgbClr val="1478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Badge 24H 自助"/>
          <p:cNvSpPr/>
          <p:nvPr/>
        </p:nvSpPr>
        <p:spPr>
          <a:xfrm>
            <a:off x="10445750" y="657225"/>
            <a:ext cx="838200" cy="171450"/>
          </a:xfrm>
          <a:prstGeom prst="roundRect">
            <a:avLst/>
          </a:prstGeom>
          <a:solidFill>
            <a:srgbClr val="FFF2D1"/>
          </a:solidFill>
          <a:ln w="1905">
            <a:solidFill>
              <a:srgbClr val="FFF2D1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8" name="Badge Text 24H 自助"/>
          <p:cNvSpPr txBox="1"/>
          <p:nvPr/>
        </p:nvSpPr>
        <p:spPr>
          <a:xfrm>
            <a:off x="10445750" y="688975"/>
            <a:ext cx="8382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9B5E00"/>
                </a:solidFill>
                <a:latin typeface="微软雅黑" panose="020B0503020204020204" charset="-122"/>
                <a:ea typeface="微软雅黑" panose="020B0503020204020204" charset="-122"/>
              </a:rPr>
              <a:t>24H 自助</a:t>
            </a:r>
            <a:endParaRPr lang="zh-CN" sz="800" b="1">
              <a:solidFill>
                <a:srgbClr val="9B5E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Shape"/>
          <p:cNvSpPr/>
          <p:nvPr/>
        </p:nvSpPr>
        <p:spPr>
          <a:xfrm>
            <a:off x="11353800" y="644525"/>
            <a:ext cx="584200" cy="215900"/>
          </a:xfrm>
          <a:prstGeom prst="roundRect">
            <a:avLst/>
          </a:prstGeom>
          <a:solidFill>
            <a:srgbClr val="00689E"/>
          </a:solidFill>
          <a:ln w="635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0" name="Text"/>
          <p:cNvSpPr txBox="1"/>
          <p:nvPr/>
        </p:nvSpPr>
        <p:spPr>
          <a:xfrm>
            <a:off x="11353800" y="688975"/>
            <a:ext cx="5842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#00689E</a:t>
            </a:r>
            <a:endParaRPr lang="zh-CN" sz="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Section 入口与角色层"/>
          <p:cNvSpPr/>
          <p:nvPr/>
        </p:nvSpPr>
        <p:spPr>
          <a:xfrm>
            <a:off x="444500" y="1323975"/>
            <a:ext cx="11303000" cy="7493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9DCE8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2" name="Section Label 入口与角色层"/>
          <p:cNvSpPr/>
          <p:nvPr/>
        </p:nvSpPr>
        <p:spPr>
          <a:xfrm>
            <a:off x="558800" y="1216025"/>
            <a:ext cx="952500" cy="215900"/>
          </a:xfrm>
          <a:prstGeom prst="roundRect">
            <a:avLst/>
          </a:prstGeom>
          <a:solidFill>
            <a:srgbClr val="00689E"/>
          </a:solidFill>
          <a:ln w="3175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3" name="Section Title 入口与角色层"/>
          <p:cNvSpPr txBox="1"/>
          <p:nvPr/>
        </p:nvSpPr>
        <p:spPr>
          <a:xfrm>
            <a:off x="698500" y="1260475"/>
            <a:ext cx="698500" cy="1384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入口与角色层</a:t>
            </a:r>
            <a:endParaRPr lang="zh-CN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Section Desc 入口与角色层"/>
          <p:cNvSpPr txBox="1"/>
          <p:nvPr/>
        </p:nvSpPr>
        <p:spPr>
          <a:xfrm>
            <a:off x="1638300" y="1273175"/>
            <a:ext cx="99695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不同入口承载不同操作角色，统一调用门市租赁业务域。</a:t>
            </a:r>
            <a:endParaRPr lang="zh-CN" sz="8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Card 公开 APP / 官网"/>
          <p:cNvSpPr/>
          <p:nvPr/>
        </p:nvSpPr>
        <p:spPr>
          <a:xfrm>
            <a:off x="666750" y="1577975"/>
            <a:ext cx="2540000" cy="3683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6" name="Card Bar 公开 APP / 官网"/>
          <p:cNvSpPr/>
          <p:nvPr/>
        </p:nvSpPr>
        <p:spPr>
          <a:xfrm>
            <a:off x="666750" y="1577975"/>
            <a:ext cx="31750" cy="3683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7" name="Card Title 公开 APP / 官网"/>
          <p:cNvSpPr txBox="1"/>
          <p:nvPr/>
        </p:nvSpPr>
        <p:spPr>
          <a:xfrm>
            <a:off x="781050" y="1621790"/>
            <a:ext cx="231140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0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公开 APP / 官网</a:t>
            </a:r>
            <a:endParaRPr lang="zh-CN" sz="10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Card Desc 公开 APP / 官网"/>
          <p:cNvSpPr txBox="1"/>
          <p:nvPr/>
        </p:nvSpPr>
        <p:spPr>
          <a:xfrm>
            <a:off x="781050" y="1805940"/>
            <a:ext cx="231140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8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预约、支付、自助取还车</a:t>
            </a:r>
            <a:endParaRPr lang="zh-CN" sz="68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Card 营运平台"/>
          <p:cNvSpPr/>
          <p:nvPr/>
        </p:nvSpPr>
        <p:spPr>
          <a:xfrm>
            <a:off x="3397250" y="1577975"/>
            <a:ext cx="2540000" cy="3683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0" name="Card Bar 营运平台"/>
          <p:cNvSpPr/>
          <p:nvPr/>
        </p:nvSpPr>
        <p:spPr>
          <a:xfrm>
            <a:off x="3397250" y="1577975"/>
            <a:ext cx="31750" cy="3683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1" name="Card Title 营运平台"/>
          <p:cNvSpPr txBox="1"/>
          <p:nvPr/>
        </p:nvSpPr>
        <p:spPr>
          <a:xfrm>
            <a:off x="3511550" y="1621790"/>
            <a:ext cx="231140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0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营运平台</a:t>
            </a:r>
            <a:endParaRPr lang="zh-CN" sz="10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Card Desc 营运平台"/>
          <p:cNvSpPr txBox="1"/>
          <p:nvPr/>
        </p:nvSpPr>
        <p:spPr>
          <a:xfrm>
            <a:off x="3511550" y="1805940"/>
            <a:ext cx="231140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8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门店、调度、订单、费用</a:t>
            </a:r>
            <a:endParaRPr lang="zh-CN" sz="68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Card 企业端"/>
          <p:cNvSpPr/>
          <p:nvPr/>
        </p:nvSpPr>
        <p:spPr>
          <a:xfrm>
            <a:off x="6127750" y="1577975"/>
            <a:ext cx="2540000" cy="3683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4" name="Card Bar 企业端"/>
          <p:cNvSpPr/>
          <p:nvPr/>
        </p:nvSpPr>
        <p:spPr>
          <a:xfrm>
            <a:off x="6127750" y="1577975"/>
            <a:ext cx="31750" cy="368300"/>
          </a:xfrm>
          <a:prstGeom prst="rect">
            <a:avLst/>
          </a:prstGeom>
          <a:solidFill>
            <a:srgbClr val="2D856C"/>
          </a:solidFill>
          <a:ln w="1270">
            <a:solidFill>
              <a:srgbClr val="2D856C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5" name="Card Title 企业端"/>
          <p:cNvSpPr txBox="1"/>
          <p:nvPr/>
        </p:nvSpPr>
        <p:spPr>
          <a:xfrm>
            <a:off x="6242050" y="1621790"/>
            <a:ext cx="231140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0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企业端</a:t>
            </a:r>
            <a:endParaRPr lang="zh-CN" sz="10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Card Desc 企业端"/>
          <p:cNvSpPr txBox="1"/>
          <p:nvPr/>
        </p:nvSpPr>
        <p:spPr>
          <a:xfrm>
            <a:off x="6242050" y="1805940"/>
            <a:ext cx="231140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8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企业订单与月结账单</a:t>
            </a:r>
            <a:endParaRPr lang="zh-CN" sz="68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Card 车机 / 控车入口"/>
          <p:cNvSpPr/>
          <p:nvPr/>
        </p:nvSpPr>
        <p:spPr>
          <a:xfrm>
            <a:off x="8858250" y="1577975"/>
            <a:ext cx="2540000" cy="3683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8" name="Card Bar 车机 / 控车入口"/>
          <p:cNvSpPr/>
          <p:nvPr/>
        </p:nvSpPr>
        <p:spPr>
          <a:xfrm>
            <a:off x="8858250" y="1577975"/>
            <a:ext cx="31750" cy="368300"/>
          </a:xfrm>
          <a:prstGeom prst="rect">
            <a:avLst/>
          </a:prstGeom>
          <a:solidFill>
            <a:srgbClr val="E07A00"/>
          </a:solidFill>
          <a:ln w="1270">
            <a:solidFill>
              <a:srgbClr val="E07A00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9" name="Card Title 车机 / 控车入口"/>
          <p:cNvSpPr txBox="1"/>
          <p:nvPr/>
        </p:nvSpPr>
        <p:spPr>
          <a:xfrm>
            <a:off x="8972550" y="1621790"/>
            <a:ext cx="231140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0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车机 / 控车入口</a:t>
            </a:r>
            <a:endParaRPr lang="zh-CN" sz="10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Card Desc 车机 / 控车入口"/>
          <p:cNvSpPr txBox="1"/>
          <p:nvPr/>
        </p:nvSpPr>
        <p:spPr>
          <a:xfrm>
            <a:off x="8972550" y="1805940"/>
            <a:ext cx="231140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8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24H 自助取还车依赖</a:t>
            </a:r>
            <a:endParaRPr lang="zh-CN" sz="68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Arrow Down Line"/>
          <p:cNvSpPr/>
          <p:nvPr/>
        </p:nvSpPr>
        <p:spPr>
          <a:xfrm>
            <a:off x="6086475" y="2085975"/>
            <a:ext cx="19050" cy="10795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2" name="Arrow Down Head"/>
          <p:cNvSpPr/>
          <p:nvPr/>
        </p:nvSpPr>
        <p:spPr>
          <a:xfrm rot="10800000">
            <a:off x="6045200" y="2174875"/>
            <a:ext cx="101600" cy="88900"/>
          </a:xfrm>
          <a:prstGeom prst="triangle">
            <a:avLst/>
          </a:prstGeom>
          <a:solidFill>
            <a:srgbClr val="00689E"/>
          </a:solidFill>
          <a:ln>
            <a:noFill/>
          </a:ln>
        </p:spPr>
        <p:txBody>
          <a:bodyPr/>
          <a:lstStyle/>
          <a:p>
            <a:endParaRPr sz="1200"/>
          </a:p>
        </p:txBody>
      </p:sp>
      <p:sp>
        <p:nvSpPr>
          <p:cNvPr id="33" name="Arrow Down Label Bg"/>
          <p:cNvSpPr/>
          <p:nvPr/>
        </p:nvSpPr>
        <p:spPr>
          <a:xfrm>
            <a:off x="5588000" y="2066925"/>
            <a:ext cx="1016000" cy="158750"/>
          </a:xfrm>
          <a:prstGeom prst="roundRect">
            <a:avLst/>
          </a:prstGeom>
          <a:solidFill>
            <a:srgbClr val="F5F8FB"/>
          </a:solidFill>
          <a:ln w="1270">
            <a:solidFill>
              <a:srgbClr val="F5F8FB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4" name="Text"/>
          <p:cNvSpPr txBox="1"/>
          <p:nvPr/>
        </p:nvSpPr>
        <p:spPr>
          <a:xfrm>
            <a:off x="5588000" y="2098675"/>
            <a:ext cx="101600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68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</a:rPr>
              <a:t>业务请求</a:t>
            </a:r>
            <a:endParaRPr lang="zh-CN" sz="68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Section 门市租赁业务域"/>
          <p:cNvSpPr/>
          <p:nvPr/>
        </p:nvSpPr>
        <p:spPr>
          <a:xfrm>
            <a:off x="444500" y="2308225"/>
            <a:ext cx="11303000" cy="22225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9DCE8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6" name="Section Label 门市租赁业务域"/>
          <p:cNvSpPr/>
          <p:nvPr/>
        </p:nvSpPr>
        <p:spPr>
          <a:xfrm>
            <a:off x="558800" y="2200275"/>
            <a:ext cx="1066800" cy="215900"/>
          </a:xfrm>
          <a:prstGeom prst="roundRect">
            <a:avLst/>
          </a:prstGeom>
          <a:solidFill>
            <a:srgbClr val="00689E"/>
          </a:solidFill>
          <a:ln w="3175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7" name="Section Title 门市租赁业务域"/>
          <p:cNvSpPr txBox="1"/>
          <p:nvPr/>
        </p:nvSpPr>
        <p:spPr>
          <a:xfrm>
            <a:off x="698500" y="2244725"/>
            <a:ext cx="812800" cy="1384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门市租赁业务域</a:t>
            </a:r>
            <a:endParaRPr lang="zh-CN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Section Desc 门市租赁业务域"/>
          <p:cNvSpPr txBox="1"/>
          <p:nvPr/>
        </p:nvSpPr>
        <p:spPr>
          <a:xfrm>
            <a:off x="1752600" y="2257425"/>
            <a:ext cx="98552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配置侧、业务域与履约结果分层，核心交易口径保持统一。</a:t>
            </a:r>
            <a:endParaRPr lang="zh-CN" sz="8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Shape"/>
          <p:cNvSpPr/>
          <p:nvPr/>
        </p:nvSpPr>
        <p:spPr>
          <a:xfrm>
            <a:off x="666750" y="2562225"/>
            <a:ext cx="2730500" cy="1778000"/>
          </a:xfrm>
          <a:prstGeom prst="rect">
            <a:avLst/>
          </a:prstGeom>
          <a:solidFill>
            <a:srgbClr val="FBFDFE"/>
          </a:solidFill>
          <a:ln w="12700">
            <a:solidFill>
              <a:srgbClr val="C9DCE8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40" name="Text"/>
          <p:cNvSpPr txBox="1"/>
          <p:nvPr/>
        </p:nvSpPr>
        <p:spPr>
          <a:xfrm>
            <a:off x="825500" y="2682875"/>
            <a:ext cx="2413000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200" b="1">
                <a:solidFill>
                  <a:srgbClr val="004C73"/>
                </a:solidFill>
                <a:latin typeface="微软雅黑" panose="020B0503020204020204" charset="-122"/>
                <a:ea typeface="微软雅黑" panose="020B0503020204020204" charset="-122"/>
              </a:rPr>
              <a:t>运营配置与规则</a:t>
            </a:r>
            <a:endParaRPr lang="zh-CN" sz="1200" b="1">
              <a:solidFill>
                <a:srgbClr val="004C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Mini 服务模式开关"/>
          <p:cNvSpPr/>
          <p:nvPr/>
        </p:nvSpPr>
        <p:spPr>
          <a:xfrm>
            <a:off x="825500" y="2943225"/>
            <a:ext cx="2413000" cy="2159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42" name="Mini Bar 服务模式开关"/>
          <p:cNvSpPr/>
          <p:nvPr/>
        </p:nvSpPr>
        <p:spPr>
          <a:xfrm>
            <a:off x="825500" y="2943225"/>
            <a:ext cx="25400" cy="2159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43" name="Mini Title 服务模式开关"/>
          <p:cNvSpPr txBox="1"/>
          <p:nvPr/>
        </p:nvSpPr>
        <p:spPr>
          <a:xfrm>
            <a:off x="914400" y="3006725"/>
            <a:ext cx="22352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服务模式开关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Mini Desc 服务模式开关"/>
          <p:cNvSpPr txBox="1"/>
          <p:nvPr/>
        </p:nvSpPr>
        <p:spPr>
          <a:xfrm>
            <a:off x="1847850" y="3037205"/>
            <a:ext cx="1315085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门市租车 / 24H 自助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Mini 车组、车辆与站点"/>
          <p:cNvSpPr/>
          <p:nvPr/>
        </p:nvSpPr>
        <p:spPr>
          <a:xfrm>
            <a:off x="825500" y="3203575"/>
            <a:ext cx="2413000" cy="2159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46" name="Mini Bar 车组、车辆与站点"/>
          <p:cNvSpPr/>
          <p:nvPr/>
        </p:nvSpPr>
        <p:spPr>
          <a:xfrm>
            <a:off x="825500" y="3203575"/>
            <a:ext cx="25400" cy="215900"/>
          </a:xfrm>
          <a:prstGeom prst="rect">
            <a:avLst/>
          </a:prstGeom>
          <a:solidFill>
            <a:srgbClr val="2D856C"/>
          </a:solidFill>
          <a:ln w="1270">
            <a:solidFill>
              <a:srgbClr val="2D856C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47" name="Mini Title 车组、车辆与站点"/>
          <p:cNvSpPr txBox="1"/>
          <p:nvPr/>
        </p:nvSpPr>
        <p:spPr>
          <a:xfrm>
            <a:off x="914400" y="3267075"/>
            <a:ext cx="22352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车组、车辆与站点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Mini Desc 车组、车辆与站点"/>
          <p:cNvSpPr txBox="1"/>
          <p:nvPr/>
        </p:nvSpPr>
        <p:spPr>
          <a:xfrm>
            <a:off x="1847850" y="3276600"/>
            <a:ext cx="1315085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车行、门市、据点、车机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Mini 价格、行销与增值"/>
          <p:cNvSpPr/>
          <p:nvPr/>
        </p:nvSpPr>
        <p:spPr>
          <a:xfrm>
            <a:off x="825500" y="3463925"/>
            <a:ext cx="2413000" cy="2159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50" name="Mini Bar 价格、行销与增值"/>
          <p:cNvSpPr/>
          <p:nvPr/>
        </p:nvSpPr>
        <p:spPr>
          <a:xfrm>
            <a:off x="825500" y="3463925"/>
            <a:ext cx="25400" cy="215900"/>
          </a:xfrm>
          <a:prstGeom prst="rect">
            <a:avLst/>
          </a:prstGeom>
          <a:solidFill>
            <a:srgbClr val="E07A00"/>
          </a:solidFill>
          <a:ln w="1270">
            <a:solidFill>
              <a:srgbClr val="E07A00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51" name="Mini Title 价格、行销与增值"/>
          <p:cNvSpPr txBox="1"/>
          <p:nvPr/>
        </p:nvSpPr>
        <p:spPr>
          <a:xfrm>
            <a:off x="914400" y="3527425"/>
            <a:ext cx="22352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价格、行销与增值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Mini Desc 价格、行销与增值"/>
          <p:cNvSpPr txBox="1"/>
          <p:nvPr/>
        </p:nvSpPr>
        <p:spPr>
          <a:xfrm>
            <a:off x="1847850" y="3542665"/>
            <a:ext cx="1315085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标准价、动态调价、方案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Mini 租赁业务规则"/>
          <p:cNvSpPr/>
          <p:nvPr/>
        </p:nvSpPr>
        <p:spPr>
          <a:xfrm>
            <a:off x="825500" y="3724275"/>
            <a:ext cx="2413000" cy="2159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54" name="Mini Bar 租赁业务规则"/>
          <p:cNvSpPr/>
          <p:nvPr/>
        </p:nvSpPr>
        <p:spPr>
          <a:xfrm>
            <a:off x="825500" y="3724275"/>
            <a:ext cx="25400" cy="2159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55" name="Mini Title 租赁业务规则"/>
          <p:cNvSpPr txBox="1"/>
          <p:nvPr/>
        </p:nvSpPr>
        <p:spPr>
          <a:xfrm>
            <a:off x="914400" y="3787775"/>
            <a:ext cx="22352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租赁业务规则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Mini Desc 租赁业务规则"/>
          <p:cNvSpPr txBox="1"/>
          <p:nvPr/>
        </p:nvSpPr>
        <p:spPr>
          <a:xfrm>
            <a:off x="1847850" y="3790950"/>
            <a:ext cx="1315085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押金、取消、超时、续租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Mini AI 调度配置"/>
          <p:cNvSpPr/>
          <p:nvPr/>
        </p:nvSpPr>
        <p:spPr>
          <a:xfrm>
            <a:off x="825500" y="3984625"/>
            <a:ext cx="2413000" cy="2159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58" name="Mini Bar AI 调度配置"/>
          <p:cNvSpPr/>
          <p:nvPr/>
        </p:nvSpPr>
        <p:spPr>
          <a:xfrm>
            <a:off x="825500" y="3984625"/>
            <a:ext cx="25400" cy="215900"/>
          </a:xfrm>
          <a:prstGeom prst="rect">
            <a:avLst/>
          </a:prstGeom>
          <a:solidFill>
            <a:srgbClr val="E07A00"/>
          </a:solidFill>
          <a:ln w="1270">
            <a:solidFill>
              <a:srgbClr val="E07A00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59" name="Mini Title AI 调度配置"/>
          <p:cNvSpPr txBox="1"/>
          <p:nvPr/>
        </p:nvSpPr>
        <p:spPr>
          <a:xfrm>
            <a:off x="914400" y="4048125"/>
            <a:ext cx="22352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AI 调度配置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Badge 扩展"/>
          <p:cNvSpPr/>
          <p:nvPr/>
        </p:nvSpPr>
        <p:spPr>
          <a:xfrm>
            <a:off x="2825750" y="4003675"/>
            <a:ext cx="381000" cy="171450"/>
          </a:xfrm>
          <a:prstGeom prst="roundRect">
            <a:avLst/>
          </a:prstGeom>
          <a:solidFill>
            <a:srgbClr val="FFF2D1"/>
          </a:solidFill>
          <a:ln w="1905">
            <a:solidFill>
              <a:srgbClr val="FFF2D1"/>
            </a:solidFill>
          </a:ln>
        </p:spPr>
        <p:txBody>
          <a:bodyPr anchor="t" anchorCtr="0"/>
          <a:lstStyle/>
          <a:p>
            <a:pPr>
              <a:lnSpc>
                <a:spcPct val="90000"/>
              </a:lnSpc>
            </a:pPr>
            <a:r>
              <a:rPr lang="zh-CN" sz="600" b="1">
                <a:solidFill>
                  <a:srgbClr val="9B5E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扩展</a:t>
            </a:r>
            <a:endParaRPr lang="zh-CN" sz="600" b="1">
              <a:solidFill>
                <a:srgbClr val="9B5E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2" name="Mini Desc AI 调度配置"/>
          <p:cNvSpPr txBox="1"/>
          <p:nvPr/>
        </p:nvSpPr>
        <p:spPr>
          <a:xfrm>
            <a:off x="1847850" y="4063365"/>
            <a:ext cx="935355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模型 Key、提示词、日志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Shape"/>
          <p:cNvSpPr/>
          <p:nvPr/>
        </p:nvSpPr>
        <p:spPr>
          <a:xfrm>
            <a:off x="3778250" y="2562225"/>
            <a:ext cx="45720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64" name="Text"/>
          <p:cNvSpPr txBox="1"/>
          <p:nvPr/>
        </p:nvSpPr>
        <p:spPr>
          <a:xfrm>
            <a:off x="3968750" y="2682875"/>
            <a:ext cx="3556000" cy="2152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4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门市租赁核心处理域</a:t>
            </a:r>
            <a:endParaRPr lang="zh-CN" sz="14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Pill 统一底座"/>
          <p:cNvSpPr/>
          <p:nvPr/>
        </p:nvSpPr>
        <p:spPr>
          <a:xfrm>
            <a:off x="7588250" y="2682875"/>
            <a:ext cx="584200" cy="177800"/>
          </a:xfrm>
          <a:prstGeom prst="roundRect">
            <a:avLst/>
          </a:prstGeom>
          <a:solidFill>
            <a:srgbClr val="DDF0F7"/>
          </a:solidFill>
          <a:ln w="508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66" name="Pill Text 统一底座"/>
          <p:cNvSpPr txBox="1"/>
          <p:nvPr/>
        </p:nvSpPr>
        <p:spPr>
          <a:xfrm>
            <a:off x="7588250" y="2727325"/>
            <a:ext cx="5842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004C73"/>
                </a:solidFill>
                <a:latin typeface="微软雅黑" panose="020B0503020204020204" charset="-122"/>
                <a:ea typeface="微软雅黑" panose="020B0503020204020204" charset="-122"/>
              </a:rPr>
              <a:t>统一底座</a:t>
            </a:r>
            <a:endParaRPr lang="zh-CN" sz="800" b="1">
              <a:solidFill>
                <a:srgbClr val="004C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Card 门市租车"/>
          <p:cNvSpPr/>
          <p:nvPr/>
        </p:nvSpPr>
        <p:spPr>
          <a:xfrm>
            <a:off x="3968750" y="2974975"/>
            <a:ext cx="1905000" cy="3937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68" name="Card Bar 门市租车"/>
          <p:cNvSpPr/>
          <p:nvPr/>
        </p:nvSpPr>
        <p:spPr>
          <a:xfrm>
            <a:off x="3968750" y="2974975"/>
            <a:ext cx="31750" cy="393700"/>
          </a:xfrm>
          <a:prstGeom prst="rect">
            <a:avLst/>
          </a:prstGeom>
          <a:solidFill>
            <a:srgbClr val="2D856C"/>
          </a:solidFill>
          <a:ln w="1270">
            <a:solidFill>
              <a:srgbClr val="2D856C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69" name="Card Title 门市租车"/>
          <p:cNvSpPr txBox="1"/>
          <p:nvPr/>
        </p:nvSpPr>
        <p:spPr>
          <a:xfrm>
            <a:off x="4083050" y="3037205"/>
            <a:ext cx="167640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0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门市租车</a:t>
            </a:r>
            <a:endParaRPr lang="zh-CN" sz="10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Card Desc 门市租车"/>
          <p:cNvSpPr txBox="1"/>
          <p:nvPr/>
        </p:nvSpPr>
        <p:spPr>
          <a:xfrm>
            <a:off x="4083050" y="3221355"/>
            <a:ext cx="167640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8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面向门市；店员办理取还车</a:t>
            </a:r>
            <a:endParaRPr lang="zh-CN" sz="68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Card 24 小时自助租车"/>
          <p:cNvSpPr/>
          <p:nvPr/>
        </p:nvSpPr>
        <p:spPr>
          <a:xfrm>
            <a:off x="6191250" y="2974975"/>
            <a:ext cx="1905000" cy="3937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72" name="Card Bar 24 小时自助租车"/>
          <p:cNvSpPr/>
          <p:nvPr/>
        </p:nvSpPr>
        <p:spPr>
          <a:xfrm>
            <a:off x="6191250" y="2974975"/>
            <a:ext cx="31750" cy="393700"/>
          </a:xfrm>
          <a:prstGeom prst="rect">
            <a:avLst/>
          </a:prstGeom>
          <a:solidFill>
            <a:srgbClr val="E07A00"/>
          </a:solidFill>
          <a:ln w="1270">
            <a:solidFill>
              <a:srgbClr val="E07A00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73" name="Card Title 24 小时自助租车"/>
          <p:cNvSpPr txBox="1"/>
          <p:nvPr/>
        </p:nvSpPr>
        <p:spPr>
          <a:xfrm>
            <a:off x="6305550" y="3037205"/>
            <a:ext cx="167640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0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24 小时自助租车</a:t>
            </a:r>
            <a:endParaRPr lang="zh-CN" sz="10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Card Desc 24 小时自助租车"/>
          <p:cNvSpPr txBox="1"/>
          <p:nvPr/>
        </p:nvSpPr>
        <p:spPr>
          <a:xfrm>
            <a:off x="6305550" y="3221355"/>
            <a:ext cx="167640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8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面向自助据点；依赖车机</a:t>
            </a:r>
            <a:endParaRPr lang="zh-CN" sz="68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Mini 订单"/>
          <p:cNvSpPr/>
          <p:nvPr/>
        </p:nvSpPr>
        <p:spPr>
          <a:xfrm>
            <a:off x="3968750" y="3514725"/>
            <a:ext cx="1301750" cy="2921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76" name="Mini Bar 订单"/>
          <p:cNvSpPr/>
          <p:nvPr/>
        </p:nvSpPr>
        <p:spPr>
          <a:xfrm>
            <a:off x="3968750" y="3514725"/>
            <a:ext cx="25400" cy="2921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77" name="Mini Title 订单"/>
          <p:cNvSpPr txBox="1"/>
          <p:nvPr/>
        </p:nvSpPr>
        <p:spPr>
          <a:xfrm>
            <a:off x="4057650" y="3546475"/>
            <a:ext cx="112395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订单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Mini Desc 订单"/>
          <p:cNvSpPr txBox="1"/>
          <p:nvPr/>
        </p:nvSpPr>
        <p:spPr>
          <a:xfrm>
            <a:off x="4057650" y="3698875"/>
            <a:ext cx="112395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状态 / 快照 / 费用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Mini 车组库存"/>
          <p:cNvSpPr/>
          <p:nvPr/>
        </p:nvSpPr>
        <p:spPr>
          <a:xfrm>
            <a:off x="5410200" y="3514725"/>
            <a:ext cx="1301750" cy="2921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80" name="Mini Bar 车组库存"/>
          <p:cNvSpPr/>
          <p:nvPr/>
        </p:nvSpPr>
        <p:spPr>
          <a:xfrm>
            <a:off x="5410200" y="3514725"/>
            <a:ext cx="25400" cy="2921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81" name="Mini Title 车组库存"/>
          <p:cNvSpPr txBox="1"/>
          <p:nvPr/>
        </p:nvSpPr>
        <p:spPr>
          <a:xfrm>
            <a:off x="5499100" y="3546475"/>
            <a:ext cx="112395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车组库存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Mini Desc 车组库存"/>
          <p:cNvSpPr txBox="1"/>
          <p:nvPr/>
        </p:nvSpPr>
        <p:spPr>
          <a:xfrm>
            <a:off x="5499100" y="3698875"/>
            <a:ext cx="112395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按车组预约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Mini 具体车辆"/>
          <p:cNvSpPr/>
          <p:nvPr/>
        </p:nvSpPr>
        <p:spPr>
          <a:xfrm>
            <a:off x="6851650" y="3514725"/>
            <a:ext cx="1301750" cy="2921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84" name="Mini Bar 具体车辆"/>
          <p:cNvSpPr/>
          <p:nvPr/>
        </p:nvSpPr>
        <p:spPr>
          <a:xfrm>
            <a:off x="6851650" y="3514725"/>
            <a:ext cx="25400" cy="2921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85" name="Mini Title 具体车辆"/>
          <p:cNvSpPr txBox="1"/>
          <p:nvPr/>
        </p:nvSpPr>
        <p:spPr>
          <a:xfrm>
            <a:off x="6940550" y="3546475"/>
            <a:ext cx="112395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具体车辆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Mini Desc 具体车辆"/>
          <p:cNvSpPr txBox="1"/>
          <p:nvPr/>
        </p:nvSpPr>
        <p:spPr>
          <a:xfrm>
            <a:off x="6940550" y="3698875"/>
            <a:ext cx="112395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预分配 / 硬锁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Mini 门市 / 据点"/>
          <p:cNvSpPr/>
          <p:nvPr/>
        </p:nvSpPr>
        <p:spPr>
          <a:xfrm>
            <a:off x="3968750" y="3883025"/>
            <a:ext cx="1301750" cy="2921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88" name="Mini Bar 门市 / 据点"/>
          <p:cNvSpPr/>
          <p:nvPr/>
        </p:nvSpPr>
        <p:spPr>
          <a:xfrm>
            <a:off x="3968750" y="3883025"/>
            <a:ext cx="25400" cy="2921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89" name="Mini Title 门市 / 据点"/>
          <p:cNvSpPr txBox="1"/>
          <p:nvPr/>
        </p:nvSpPr>
        <p:spPr>
          <a:xfrm>
            <a:off x="4057650" y="3914775"/>
            <a:ext cx="112395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门市 / 据点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Mini Desc 门市 / 据点"/>
          <p:cNvSpPr txBox="1"/>
          <p:nvPr/>
        </p:nvSpPr>
        <p:spPr>
          <a:xfrm>
            <a:off x="4057650" y="4067175"/>
            <a:ext cx="112395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服务能力 / 归还口径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Mini 客户 / 企业"/>
          <p:cNvSpPr/>
          <p:nvPr/>
        </p:nvSpPr>
        <p:spPr>
          <a:xfrm>
            <a:off x="5410200" y="3883025"/>
            <a:ext cx="1301750" cy="2921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92" name="Mini Bar 客户 / 企业"/>
          <p:cNvSpPr/>
          <p:nvPr/>
        </p:nvSpPr>
        <p:spPr>
          <a:xfrm>
            <a:off x="5410200" y="3883025"/>
            <a:ext cx="25400" cy="2921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93" name="Mini Title 客户 / 企业"/>
          <p:cNvSpPr txBox="1"/>
          <p:nvPr/>
        </p:nvSpPr>
        <p:spPr>
          <a:xfrm>
            <a:off x="5499100" y="3914775"/>
            <a:ext cx="112395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客户 / 企业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Mini Desc 客户 / 企业"/>
          <p:cNvSpPr txBox="1"/>
          <p:nvPr/>
        </p:nvSpPr>
        <p:spPr>
          <a:xfrm>
            <a:off x="5499100" y="4067175"/>
            <a:ext cx="112395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个人 / 非月结 / 月结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Mini 规则版本"/>
          <p:cNvSpPr/>
          <p:nvPr/>
        </p:nvSpPr>
        <p:spPr>
          <a:xfrm>
            <a:off x="6851650" y="3883025"/>
            <a:ext cx="1301750" cy="2921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96" name="Mini Bar 规则版本"/>
          <p:cNvSpPr/>
          <p:nvPr/>
        </p:nvSpPr>
        <p:spPr>
          <a:xfrm>
            <a:off x="6851650" y="3883025"/>
            <a:ext cx="25400" cy="2921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97" name="Mini Title 规则版本"/>
          <p:cNvSpPr txBox="1"/>
          <p:nvPr/>
        </p:nvSpPr>
        <p:spPr>
          <a:xfrm>
            <a:off x="6940550" y="3914775"/>
            <a:ext cx="112395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规则版本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Mini Desc 规则版本"/>
          <p:cNvSpPr txBox="1"/>
          <p:nvPr/>
        </p:nvSpPr>
        <p:spPr>
          <a:xfrm>
            <a:off x="6940550" y="4067175"/>
            <a:ext cx="112395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价格 / 行销 / 租赁规则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Shape"/>
          <p:cNvSpPr/>
          <p:nvPr/>
        </p:nvSpPr>
        <p:spPr>
          <a:xfrm>
            <a:off x="3968750" y="4194175"/>
            <a:ext cx="4127500" cy="114300"/>
          </a:xfrm>
          <a:prstGeom prst="rect">
            <a:avLst/>
          </a:prstGeom>
          <a:solidFill>
            <a:srgbClr val="DDF0F7"/>
          </a:solidFill>
          <a:ln w="6350">
            <a:solidFill>
              <a:srgbClr val="DDF0F7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00" name="Text"/>
          <p:cNvSpPr txBox="1"/>
          <p:nvPr/>
        </p:nvSpPr>
        <p:spPr>
          <a:xfrm>
            <a:off x="3968750" y="4206875"/>
            <a:ext cx="41275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600" b="1">
                <a:solidFill>
                  <a:srgbClr val="004C73"/>
                </a:solidFill>
                <a:latin typeface="微软雅黑" panose="020B0503020204020204" charset="-122"/>
                <a:ea typeface="微软雅黑" panose="020B0503020204020204" charset="-122"/>
              </a:rPr>
              <a:t>主线：查询试算 → 创建订单 → 预授权 / 月结判断 → 派车硬锁 → 取还车 → 结算完成</a:t>
            </a:r>
            <a:endParaRPr lang="zh-CN" sz="600" b="1">
              <a:solidFill>
                <a:srgbClr val="004C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Shape"/>
          <p:cNvSpPr/>
          <p:nvPr/>
        </p:nvSpPr>
        <p:spPr>
          <a:xfrm>
            <a:off x="8731250" y="2562225"/>
            <a:ext cx="2730500" cy="1778000"/>
          </a:xfrm>
          <a:prstGeom prst="rect">
            <a:avLst/>
          </a:prstGeom>
          <a:solidFill>
            <a:srgbClr val="FBFDFE"/>
          </a:solidFill>
          <a:ln w="12700">
            <a:solidFill>
              <a:srgbClr val="C9DCE8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02" name="Text"/>
          <p:cNvSpPr txBox="1"/>
          <p:nvPr/>
        </p:nvSpPr>
        <p:spPr>
          <a:xfrm>
            <a:off x="8890000" y="2682875"/>
            <a:ext cx="2413000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200" b="1">
                <a:solidFill>
                  <a:srgbClr val="004C73"/>
                </a:solidFill>
                <a:latin typeface="微软雅黑" panose="020B0503020204020204" charset="-122"/>
                <a:ea typeface="微软雅黑" panose="020B0503020204020204" charset="-122"/>
              </a:rPr>
              <a:t>履约入口与结果</a:t>
            </a:r>
            <a:endParaRPr lang="zh-CN" sz="1200" b="1">
              <a:solidFill>
                <a:srgbClr val="004C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Mini 用户履约入口"/>
          <p:cNvSpPr/>
          <p:nvPr/>
        </p:nvSpPr>
        <p:spPr>
          <a:xfrm>
            <a:off x="8890000" y="2943225"/>
            <a:ext cx="2413000" cy="2159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04" name="Mini Bar 用户履约入口"/>
          <p:cNvSpPr/>
          <p:nvPr/>
        </p:nvSpPr>
        <p:spPr>
          <a:xfrm>
            <a:off x="8890000" y="2943225"/>
            <a:ext cx="25400" cy="2159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05" name="Mini Title 用户履约入口"/>
          <p:cNvSpPr txBox="1"/>
          <p:nvPr/>
        </p:nvSpPr>
        <p:spPr>
          <a:xfrm>
            <a:off x="8978900" y="3006725"/>
            <a:ext cx="22352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用户履约入口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Mini Desc 用户履约入口"/>
          <p:cNvSpPr txBox="1"/>
          <p:nvPr/>
        </p:nvSpPr>
        <p:spPr>
          <a:xfrm>
            <a:off x="9709150" y="3017520"/>
            <a:ext cx="22352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APP 预约、取车、还车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Mini 门店操作入口"/>
          <p:cNvSpPr/>
          <p:nvPr/>
        </p:nvSpPr>
        <p:spPr>
          <a:xfrm>
            <a:off x="8890000" y="3203575"/>
            <a:ext cx="2413000" cy="2159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08" name="Mini Bar 门店操作入口"/>
          <p:cNvSpPr/>
          <p:nvPr/>
        </p:nvSpPr>
        <p:spPr>
          <a:xfrm>
            <a:off x="8890000" y="3203575"/>
            <a:ext cx="25400" cy="215900"/>
          </a:xfrm>
          <a:prstGeom prst="rect">
            <a:avLst/>
          </a:prstGeom>
          <a:solidFill>
            <a:srgbClr val="2D856C"/>
          </a:solidFill>
          <a:ln w="1270">
            <a:solidFill>
              <a:srgbClr val="2D856C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09" name="Mini Title 门店操作入口"/>
          <p:cNvSpPr txBox="1"/>
          <p:nvPr/>
        </p:nvSpPr>
        <p:spPr>
          <a:xfrm>
            <a:off x="8978900" y="3267075"/>
            <a:ext cx="22352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门店操作入口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Mini Desc 门店操作入口"/>
          <p:cNvSpPr txBox="1"/>
          <p:nvPr/>
        </p:nvSpPr>
        <p:spPr>
          <a:xfrm>
            <a:off x="9709150" y="3289300"/>
            <a:ext cx="22352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验车、收款、改派、异常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Mini 自助控车入口"/>
          <p:cNvSpPr/>
          <p:nvPr/>
        </p:nvSpPr>
        <p:spPr>
          <a:xfrm>
            <a:off x="8890000" y="3463925"/>
            <a:ext cx="2413000" cy="2159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12" name="Mini Bar 自助控车入口"/>
          <p:cNvSpPr/>
          <p:nvPr/>
        </p:nvSpPr>
        <p:spPr>
          <a:xfrm>
            <a:off x="8890000" y="3463925"/>
            <a:ext cx="25400" cy="215900"/>
          </a:xfrm>
          <a:prstGeom prst="rect">
            <a:avLst/>
          </a:prstGeom>
          <a:solidFill>
            <a:srgbClr val="E07A00"/>
          </a:solidFill>
          <a:ln w="1270">
            <a:solidFill>
              <a:srgbClr val="E07A00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13" name="Mini Title 自助控车入口"/>
          <p:cNvSpPr txBox="1"/>
          <p:nvPr/>
        </p:nvSpPr>
        <p:spPr>
          <a:xfrm>
            <a:off x="8978900" y="3527425"/>
            <a:ext cx="22352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自助控车入口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Mini Desc 自助控车入口"/>
          <p:cNvSpPr txBox="1"/>
          <p:nvPr/>
        </p:nvSpPr>
        <p:spPr>
          <a:xfrm>
            <a:off x="9709150" y="3542665"/>
            <a:ext cx="22352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开关锁、里程、油电量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Mini 企业费用结果"/>
          <p:cNvSpPr/>
          <p:nvPr/>
        </p:nvSpPr>
        <p:spPr>
          <a:xfrm>
            <a:off x="8890000" y="3724275"/>
            <a:ext cx="2413000" cy="2159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16" name="Mini Bar 企业费用结果"/>
          <p:cNvSpPr/>
          <p:nvPr/>
        </p:nvSpPr>
        <p:spPr>
          <a:xfrm>
            <a:off x="8890000" y="3724275"/>
            <a:ext cx="25400" cy="2159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17" name="Mini Title 企业费用结果"/>
          <p:cNvSpPr txBox="1"/>
          <p:nvPr/>
        </p:nvSpPr>
        <p:spPr>
          <a:xfrm>
            <a:off x="8978900" y="3787775"/>
            <a:ext cx="22352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企业费用结果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Mini Desc 企业费用结果"/>
          <p:cNvSpPr txBox="1"/>
          <p:nvPr/>
        </p:nvSpPr>
        <p:spPr>
          <a:xfrm>
            <a:off x="9709150" y="3790950"/>
            <a:ext cx="22352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月结挂账、账单查看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Mini 后续追缴结果"/>
          <p:cNvSpPr/>
          <p:nvPr/>
        </p:nvSpPr>
        <p:spPr>
          <a:xfrm>
            <a:off x="8890000" y="3984625"/>
            <a:ext cx="2413000" cy="2159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20" name="Mini Bar 后续追缴结果"/>
          <p:cNvSpPr/>
          <p:nvPr/>
        </p:nvSpPr>
        <p:spPr>
          <a:xfrm>
            <a:off x="8890000" y="3984625"/>
            <a:ext cx="25400" cy="215900"/>
          </a:xfrm>
          <a:prstGeom prst="rect">
            <a:avLst/>
          </a:prstGeom>
          <a:solidFill>
            <a:srgbClr val="E07A00"/>
          </a:solidFill>
          <a:ln w="1270">
            <a:solidFill>
              <a:srgbClr val="E07A00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21" name="Mini Title 后续追缴结果"/>
          <p:cNvSpPr txBox="1"/>
          <p:nvPr/>
        </p:nvSpPr>
        <p:spPr>
          <a:xfrm>
            <a:off x="8978900" y="4048125"/>
            <a:ext cx="22352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后续追缴结果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Mini Desc 后续追缴结果"/>
          <p:cNvSpPr txBox="1"/>
          <p:nvPr/>
        </p:nvSpPr>
        <p:spPr>
          <a:xfrm>
            <a:off x="9709150" y="4063365"/>
            <a:ext cx="22352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完成后补录费用归属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Arrow Right Line"/>
          <p:cNvSpPr/>
          <p:nvPr/>
        </p:nvSpPr>
        <p:spPr>
          <a:xfrm>
            <a:off x="3397250" y="3448050"/>
            <a:ext cx="298450" cy="1905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24" name="Arrow Right Head"/>
          <p:cNvSpPr/>
          <p:nvPr/>
        </p:nvSpPr>
        <p:spPr>
          <a:xfrm rot="5400000">
            <a:off x="3689350" y="3406775"/>
            <a:ext cx="101600" cy="101600"/>
          </a:xfrm>
          <a:prstGeom prst="triangle">
            <a:avLst/>
          </a:prstGeom>
          <a:solidFill>
            <a:srgbClr val="00689E"/>
          </a:solidFill>
          <a:ln>
            <a:noFill/>
          </a:ln>
        </p:spPr>
        <p:txBody>
          <a:bodyPr/>
          <a:lstStyle/>
          <a:p>
            <a:endParaRPr sz="1200"/>
          </a:p>
        </p:txBody>
      </p:sp>
      <p:sp>
        <p:nvSpPr>
          <p:cNvPr id="125" name="Arrow Label Bg"/>
          <p:cNvSpPr/>
          <p:nvPr/>
        </p:nvSpPr>
        <p:spPr>
          <a:xfrm>
            <a:off x="3286125" y="3349625"/>
            <a:ext cx="657860" cy="158750"/>
          </a:xfrm>
          <a:prstGeom prst="roundRect">
            <a:avLst/>
          </a:prstGeom>
          <a:solidFill>
            <a:srgbClr val="F5F8FB"/>
          </a:solidFill>
          <a:ln w="1270">
            <a:solidFill>
              <a:srgbClr val="F5F8FB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26" name="Text"/>
          <p:cNvSpPr txBox="1"/>
          <p:nvPr/>
        </p:nvSpPr>
        <p:spPr>
          <a:xfrm>
            <a:off x="3286125" y="3381375"/>
            <a:ext cx="65786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68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</a:rPr>
              <a:t>配置生效</a:t>
            </a:r>
            <a:endParaRPr lang="zh-CN" sz="68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" name="Arrow Right Line"/>
          <p:cNvSpPr/>
          <p:nvPr/>
        </p:nvSpPr>
        <p:spPr>
          <a:xfrm>
            <a:off x="8350250" y="3448050"/>
            <a:ext cx="298450" cy="1905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28" name="Arrow Right Head"/>
          <p:cNvSpPr/>
          <p:nvPr/>
        </p:nvSpPr>
        <p:spPr>
          <a:xfrm rot="5400000">
            <a:off x="8642350" y="3406775"/>
            <a:ext cx="101600" cy="101600"/>
          </a:xfrm>
          <a:prstGeom prst="triangle">
            <a:avLst/>
          </a:prstGeom>
          <a:solidFill>
            <a:srgbClr val="00689E"/>
          </a:solidFill>
          <a:ln>
            <a:noFill/>
          </a:ln>
        </p:spPr>
        <p:txBody>
          <a:bodyPr/>
          <a:lstStyle/>
          <a:p>
            <a:endParaRPr sz="1200"/>
          </a:p>
        </p:txBody>
      </p:sp>
      <p:sp>
        <p:nvSpPr>
          <p:cNvPr id="129" name="Arrow Label Bg"/>
          <p:cNvSpPr/>
          <p:nvPr/>
        </p:nvSpPr>
        <p:spPr>
          <a:xfrm>
            <a:off x="8187055" y="3349625"/>
            <a:ext cx="671195" cy="158750"/>
          </a:xfrm>
          <a:prstGeom prst="roundRect">
            <a:avLst/>
          </a:prstGeom>
          <a:solidFill>
            <a:srgbClr val="F5F8FB"/>
          </a:solidFill>
          <a:ln w="1270">
            <a:solidFill>
              <a:srgbClr val="F5F8FB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30" name="Text"/>
          <p:cNvSpPr txBox="1"/>
          <p:nvPr/>
        </p:nvSpPr>
        <p:spPr>
          <a:xfrm>
            <a:off x="8187055" y="3381375"/>
            <a:ext cx="671195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68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</a:rPr>
              <a:t>履约输出</a:t>
            </a:r>
            <a:endParaRPr lang="zh-CN" sz="68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" name="Arrow Down Line"/>
          <p:cNvSpPr/>
          <p:nvPr/>
        </p:nvSpPr>
        <p:spPr>
          <a:xfrm>
            <a:off x="6086475" y="4549775"/>
            <a:ext cx="19050" cy="1016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32" name="Arrow Down Head"/>
          <p:cNvSpPr/>
          <p:nvPr/>
        </p:nvSpPr>
        <p:spPr>
          <a:xfrm rot="10800000">
            <a:off x="6045200" y="4632325"/>
            <a:ext cx="101600" cy="88900"/>
          </a:xfrm>
          <a:prstGeom prst="triangle">
            <a:avLst/>
          </a:prstGeom>
          <a:solidFill>
            <a:srgbClr val="00689E"/>
          </a:solidFill>
          <a:ln>
            <a:noFill/>
          </a:ln>
        </p:spPr>
        <p:txBody>
          <a:bodyPr/>
          <a:lstStyle/>
          <a:p>
            <a:endParaRPr sz="1200"/>
          </a:p>
        </p:txBody>
      </p:sp>
      <p:sp>
        <p:nvSpPr>
          <p:cNvPr id="133" name="Arrow Down Label Bg"/>
          <p:cNvSpPr/>
          <p:nvPr/>
        </p:nvSpPr>
        <p:spPr>
          <a:xfrm>
            <a:off x="5588000" y="4527550"/>
            <a:ext cx="1016000" cy="158750"/>
          </a:xfrm>
          <a:prstGeom prst="roundRect">
            <a:avLst/>
          </a:prstGeom>
          <a:solidFill>
            <a:srgbClr val="F5F8FB"/>
          </a:solidFill>
          <a:ln w="1270">
            <a:solidFill>
              <a:srgbClr val="F5F8FB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34" name="Text"/>
          <p:cNvSpPr txBox="1"/>
          <p:nvPr/>
        </p:nvSpPr>
        <p:spPr>
          <a:xfrm>
            <a:off x="5588000" y="4559300"/>
            <a:ext cx="101600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68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</a:rPr>
              <a:t>数据沉淀</a:t>
            </a:r>
            <a:endParaRPr lang="zh-CN" sz="68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" name="Section 数据、快照与治理层"/>
          <p:cNvSpPr/>
          <p:nvPr/>
        </p:nvSpPr>
        <p:spPr>
          <a:xfrm>
            <a:off x="444500" y="4765675"/>
            <a:ext cx="11303000" cy="8255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9DCE8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36" name="Section Label 数据、快照与治理层"/>
          <p:cNvSpPr/>
          <p:nvPr/>
        </p:nvSpPr>
        <p:spPr>
          <a:xfrm>
            <a:off x="558800" y="4657725"/>
            <a:ext cx="1295400" cy="215900"/>
          </a:xfrm>
          <a:prstGeom prst="roundRect">
            <a:avLst/>
          </a:prstGeom>
          <a:solidFill>
            <a:srgbClr val="00689E"/>
          </a:solidFill>
          <a:ln w="3175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37" name="Section Title 数据、快照与治理层"/>
          <p:cNvSpPr txBox="1"/>
          <p:nvPr/>
        </p:nvSpPr>
        <p:spPr>
          <a:xfrm>
            <a:off x="698500" y="4702175"/>
            <a:ext cx="1041400" cy="1384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数据、快照与治理层</a:t>
            </a:r>
            <a:endParaRPr lang="zh-CN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" name="Section Desc 数据、快照与治理层"/>
          <p:cNvSpPr txBox="1"/>
          <p:nvPr/>
        </p:nvSpPr>
        <p:spPr>
          <a:xfrm>
            <a:off x="1981200" y="4714875"/>
            <a:ext cx="96266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支撑订单追溯、费用核对、调度判断、企业月结和后续智能分析。</a:t>
            </a:r>
            <a:endParaRPr lang="zh-CN" sz="8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" name="Mini 订单级基线快照"/>
          <p:cNvSpPr/>
          <p:nvPr/>
        </p:nvSpPr>
        <p:spPr>
          <a:xfrm>
            <a:off x="666750" y="5045075"/>
            <a:ext cx="1714500" cy="3683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40" name="Mini Bar 订单级基线快照"/>
          <p:cNvSpPr/>
          <p:nvPr/>
        </p:nvSpPr>
        <p:spPr>
          <a:xfrm>
            <a:off x="666750" y="5045075"/>
            <a:ext cx="25400" cy="3683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41" name="Mini Title 订单级基线快照"/>
          <p:cNvSpPr txBox="1"/>
          <p:nvPr/>
        </p:nvSpPr>
        <p:spPr>
          <a:xfrm>
            <a:off x="755650" y="5108575"/>
            <a:ext cx="15367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订单级基线快照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" name="Mini Desc 订单级基线快照"/>
          <p:cNvSpPr txBox="1"/>
          <p:nvPr/>
        </p:nvSpPr>
        <p:spPr>
          <a:xfrm>
            <a:off x="755650" y="5260975"/>
            <a:ext cx="15367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创建时固化价格、规则、资格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" name="Mini 事件级增量快照"/>
          <p:cNvSpPr/>
          <p:nvPr/>
        </p:nvSpPr>
        <p:spPr>
          <a:xfrm>
            <a:off x="2527300" y="5045075"/>
            <a:ext cx="1714500" cy="3683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44" name="Mini Bar 事件级增量快照"/>
          <p:cNvSpPr/>
          <p:nvPr/>
        </p:nvSpPr>
        <p:spPr>
          <a:xfrm>
            <a:off x="2527300" y="5045075"/>
            <a:ext cx="25400" cy="3683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45" name="Mini Title 事件级增量快照"/>
          <p:cNvSpPr txBox="1"/>
          <p:nvPr/>
        </p:nvSpPr>
        <p:spPr>
          <a:xfrm>
            <a:off x="2616200" y="5108575"/>
            <a:ext cx="15367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事件级增量快照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Mini Desc 事件级增量快照"/>
          <p:cNvSpPr txBox="1"/>
          <p:nvPr/>
        </p:nvSpPr>
        <p:spPr>
          <a:xfrm>
            <a:off x="2616200" y="5260975"/>
            <a:ext cx="15367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续租、改派、重计费等变化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" name="Mini 车辆排程占用"/>
          <p:cNvSpPr/>
          <p:nvPr/>
        </p:nvSpPr>
        <p:spPr>
          <a:xfrm>
            <a:off x="4387850" y="5045075"/>
            <a:ext cx="1714500" cy="3683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48" name="Mini Bar 车辆排程占用"/>
          <p:cNvSpPr/>
          <p:nvPr/>
        </p:nvSpPr>
        <p:spPr>
          <a:xfrm>
            <a:off x="4387850" y="5045075"/>
            <a:ext cx="25400" cy="3683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49" name="Mini Title 车辆排程占用"/>
          <p:cNvSpPr txBox="1"/>
          <p:nvPr/>
        </p:nvSpPr>
        <p:spPr>
          <a:xfrm>
            <a:off x="4476750" y="5108575"/>
            <a:ext cx="15367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车辆排程占用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" name="Mini Desc 车辆排程占用"/>
          <p:cNvSpPr txBox="1"/>
          <p:nvPr/>
        </p:nvSpPr>
        <p:spPr>
          <a:xfrm>
            <a:off x="4476750" y="5260975"/>
            <a:ext cx="15367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车组库存、时间窗、硬锁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" name="Mini 费用与月结归属"/>
          <p:cNvSpPr/>
          <p:nvPr/>
        </p:nvSpPr>
        <p:spPr>
          <a:xfrm>
            <a:off x="6248400" y="5045075"/>
            <a:ext cx="1714500" cy="3683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52" name="Mini Bar 费用与月结归属"/>
          <p:cNvSpPr/>
          <p:nvPr/>
        </p:nvSpPr>
        <p:spPr>
          <a:xfrm>
            <a:off x="6248400" y="5045075"/>
            <a:ext cx="25400" cy="3683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53" name="Mini Title 费用与月结归属"/>
          <p:cNvSpPr txBox="1"/>
          <p:nvPr/>
        </p:nvSpPr>
        <p:spPr>
          <a:xfrm>
            <a:off x="6337300" y="5108575"/>
            <a:ext cx="15367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费用与月结归属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" name="Mini Desc 费用与月结归属"/>
          <p:cNvSpPr txBox="1"/>
          <p:nvPr/>
        </p:nvSpPr>
        <p:spPr>
          <a:xfrm>
            <a:off x="6337300" y="5260975"/>
            <a:ext cx="15367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支付、退款、挂账、追缴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Mini 状态与操作审计"/>
          <p:cNvSpPr/>
          <p:nvPr/>
        </p:nvSpPr>
        <p:spPr>
          <a:xfrm>
            <a:off x="8108950" y="5045075"/>
            <a:ext cx="1714500" cy="3683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56" name="Mini Bar 状态与操作审计"/>
          <p:cNvSpPr/>
          <p:nvPr/>
        </p:nvSpPr>
        <p:spPr>
          <a:xfrm>
            <a:off x="8108950" y="5045075"/>
            <a:ext cx="25400" cy="3683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57" name="Mini Title 状态与操作审计"/>
          <p:cNvSpPr txBox="1"/>
          <p:nvPr/>
        </p:nvSpPr>
        <p:spPr>
          <a:xfrm>
            <a:off x="8197850" y="5108575"/>
            <a:ext cx="15367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状态与操作审计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" name="Mini Desc 状态与操作审计"/>
          <p:cNvSpPr txBox="1"/>
          <p:nvPr/>
        </p:nvSpPr>
        <p:spPr>
          <a:xfrm>
            <a:off x="8197850" y="5260975"/>
            <a:ext cx="15367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状态轴、操作人、时间记录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Mini 调度与模型日志"/>
          <p:cNvSpPr/>
          <p:nvPr/>
        </p:nvSpPr>
        <p:spPr>
          <a:xfrm>
            <a:off x="9969500" y="5045075"/>
            <a:ext cx="1714500" cy="3683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60" name="Mini Bar 调度与模型日志"/>
          <p:cNvSpPr/>
          <p:nvPr/>
        </p:nvSpPr>
        <p:spPr>
          <a:xfrm>
            <a:off x="9969500" y="5045075"/>
            <a:ext cx="25400" cy="3683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61" name="Mini Title 调度与模型日志"/>
          <p:cNvSpPr txBox="1"/>
          <p:nvPr/>
        </p:nvSpPr>
        <p:spPr>
          <a:xfrm>
            <a:off x="10058400" y="5108575"/>
            <a:ext cx="15367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调度与模型日志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Badge 扩展"/>
          <p:cNvSpPr/>
          <p:nvPr/>
        </p:nvSpPr>
        <p:spPr>
          <a:xfrm>
            <a:off x="11226800" y="5102225"/>
            <a:ext cx="381000" cy="171450"/>
          </a:xfrm>
          <a:prstGeom prst="roundRect">
            <a:avLst/>
          </a:prstGeom>
          <a:solidFill>
            <a:srgbClr val="FFF2D1"/>
          </a:solidFill>
          <a:ln w="1905">
            <a:solidFill>
              <a:srgbClr val="FFF2D1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63" name="Badge Text 扩展"/>
          <p:cNvSpPr txBox="1"/>
          <p:nvPr/>
        </p:nvSpPr>
        <p:spPr>
          <a:xfrm>
            <a:off x="11226800" y="5133975"/>
            <a:ext cx="3810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9B5E00"/>
                </a:solidFill>
                <a:latin typeface="微软雅黑" panose="020B0503020204020204" charset="-122"/>
                <a:ea typeface="微软雅黑" panose="020B0503020204020204" charset="-122"/>
              </a:rPr>
              <a:t>扩展</a:t>
            </a:r>
            <a:endParaRPr lang="zh-CN" sz="800" b="1">
              <a:solidFill>
                <a:srgbClr val="9B5E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" name="Mini Desc 调度与模型日志"/>
          <p:cNvSpPr txBox="1"/>
          <p:nvPr/>
        </p:nvSpPr>
        <p:spPr>
          <a:xfrm>
            <a:off x="10058400" y="5260975"/>
            <a:ext cx="15367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AI 调用、输入输出、校验结果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" name="Arrow Down Line"/>
          <p:cNvSpPr/>
          <p:nvPr/>
        </p:nvSpPr>
        <p:spPr>
          <a:xfrm>
            <a:off x="6086475" y="5603875"/>
            <a:ext cx="19050" cy="9525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66" name="Arrow Down Head"/>
          <p:cNvSpPr/>
          <p:nvPr/>
        </p:nvSpPr>
        <p:spPr>
          <a:xfrm rot="10800000">
            <a:off x="6045200" y="5680075"/>
            <a:ext cx="101600" cy="88900"/>
          </a:xfrm>
          <a:prstGeom prst="triangle">
            <a:avLst/>
          </a:prstGeom>
          <a:solidFill>
            <a:srgbClr val="00689E"/>
          </a:solidFill>
          <a:ln>
            <a:noFill/>
          </a:ln>
        </p:spPr>
        <p:txBody>
          <a:bodyPr/>
          <a:lstStyle/>
          <a:p>
            <a:endParaRPr sz="1200"/>
          </a:p>
        </p:txBody>
      </p:sp>
      <p:sp>
        <p:nvSpPr>
          <p:cNvPr id="167" name="Arrow Down Label Bg"/>
          <p:cNvSpPr/>
          <p:nvPr/>
        </p:nvSpPr>
        <p:spPr>
          <a:xfrm>
            <a:off x="5588000" y="5578475"/>
            <a:ext cx="1016000" cy="158750"/>
          </a:xfrm>
          <a:prstGeom prst="roundRect">
            <a:avLst/>
          </a:prstGeom>
          <a:solidFill>
            <a:srgbClr val="F5F8FB"/>
          </a:solidFill>
          <a:ln w="1270">
            <a:solidFill>
              <a:srgbClr val="F5F8FB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68" name="Text"/>
          <p:cNvSpPr txBox="1"/>
          <p:nvPr/>
        </p:nvSpPr>
        <p:spPr>
          <a:xfrm>
            <a:off x="5588000" y="5610225"/>
            <a:ext cx="101600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68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</a:rPr>
              <a:t>外部调用</a:t>
            </a:r>
            <a:endParaRPr lang="zh-CN" sz="68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Section 外部服务与基础设施"/>
          <p:cNvSpPr/>
          <p:nvPr/>
        </p:nvSpPr>
        <p:spPr>
          <a:xfrm>
            <a:off x="444500" y="5807075"/>
            <a:ext cx="11303000" cy="5842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9DCE8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70" name="Section Label 外部服务与基础设施"/>
          <p:cNvSpPr/>
          <p:nvPr/>
        </p:nvSpPr>
        <p:spPr>
          <a:xfrm>
            <a:off x="558800" y="5699125"/>
            <a:ext cx="1295400" cy="215900"/>
          </a:xfrm>
          <a:prstGeom prst="roundRect">
            <a:avLst/>
          </a:prstGeom>
          <a:solidFill>
            <a:srgbClr val="00689E"/>
          </a:solidFill>
          <a:ln w="3175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71" name="Section Title 外部服务与基础设施"/>
          <p:cNvSpPr txBox="1"/>
          <p:nvPr/>
        </p:nvSpPr>
        <p:spPr>
          <a:xfrm>
            <a:off x="698500" y="5743575"/>
            <a:ext cx="1041400" cy="1384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外部服务与基础设施</a:t>
            </a:r>
            <a:endParaRPr lang="zh-CN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" name="Section Desc 外部服务与基础设施"/>
          <p:cNvSpPr txBox="1"/>
          <p:nvPr/>
        </p:nvSpPr>
        <p:spPr>
          <a:xfrm>
            <a:off x="1981200" y="5756275"/>
            <a:ext cx="96266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外部能力按租户或实例配置，门市租赁通过统一接口调用。</a:t>
            </a:r>
            <a:endParaRPr lang="zh-CN" sz="8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" name="Pill 支付渠道"/>
          <p:cNvSpPr/>
          <p:nvPr/>
        </p:nvSpPr>
        <p:spPr>
          <a:xfrm>
            <a:off x="666750" y="6086475"/>
            <a:ext cx="1409700" cy="2159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74" name="Pill Text 支付渠道"/>
          <p:cNvSpPr txBox="1"/>
          <p:nvPr/>
        </p:nvSpPr>
        <p:spPr>
          <a:xfrm>
            <a:off x="666750" y="6130925"/>
            <a:ext cx="14097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支付渠道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5" name="Pill 短信 / 通知"/>
          <p:cNvSpPr/>
          <p:nvPr/>
        </p:nvSpPr>
        <p:spPr>
          <a:xfrm>
            <a:off x="2222500" y="6086475"/>
            <a:ext cx="1409700" cy="2159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76" name="Pill Text 短信 / 通知"/>
          <p:cNvSpPr txBox="1"/>
          <p:nvPr/>
        </p:nvSpPr>
        <p:spPr>
          <a:xfrm>
            <a:off x="2222500" y="6130925"/>
            <a:ext cx="14097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短信 / 通知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" name="Pill 发票平台"/>
          <p:cNvSpPr/>
          <p:nvPr/>
        </p:nvSpPr>
        <p:spPr>
          <a:xfrm>
            <a:off x="3778250" y="6086475"/>
            <a:ext cx="1409700" cy="2159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78" name="Pill Text 发票平台"/>
          <p:cNvSpPr txBox="1"/>
          <p:nvPr/>
        </p:nvSpPr>
        <p:spPr>
          <a:xfrm>
            <a:off x="3778250" y="6130925"/>
            <a:ext cx="14097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发票平台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9" name="Pill 车机 / 控车平台"/>
          <p:cNvSpPr/>
          <p:nvPr/>
        </p:nvSpPr>
        <p:spPr>
          <a:xfrm>
            <a:off x="5334000" y="6086475"/>
            <a:ext cx="1409700" cy="2159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80" name="Pill Text 车机 / 控车平台"/>
          <p:cNvSpPr txBox="1"/>
          <p:nvPr/>
        </p:nvSpPr>
        <p:spPr>
          <a:xfrm>
            <a:off x="5334000" y="6130925"/>
            <a:ext cx="14097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车机 / 控车平台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1" name="Pill 地图 / 地址服务"/>
          <p:cNvSpPr/>
          <p:nvPr/>
        </p:nvSpPr>
        <p:spPr>
          <a:xfrm>
            <a:off x="6889750" y="6086475"/>
            <a:ext cx="1409700" cy="2159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82" name="Pill Text 地图 / 地址服务"/>
          <p:cNvSpPr txBox="1"/>
          <p:nvPr/>
        </p:nvSpPr>
        <p:spPr>
          <a:xfrm>
            <a:off x="6889750" y="6130925"/>
            <a:ext cx="14097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地图 / 地址服务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3" name="Pill AI 模型提供商"/>
          <p:cNvSpPr/>
          <p:nvPr/>
        </p:nvSpPr>
        <p:spPr>
          <a:xfrm>
            <a:off x="8445500" y="6086475"/>
            <a:ext cx="1409700" cy="2159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84" name="Pill Text AI 模型提供商"/>
          <p:cNvSpPr txBox="1"/>
          <p:nvPr/>
        </p:nvSpPr>
        <p:spPr>
          <a:xfrm>
            <a:off x="8445500" y="6130925"/>
            <a:ext cx="1124585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AI 模型提供商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5" name="Badge 扩展"/>
          <p:cNvSpPr/>
          <p:nvPr/>
        </p:nvSpPr>
        <p:spPr>
          <a:xfrm>
            <a:off x="9448800" y="6111875"/>
            <a:ext cx="381000" cy="171450"/>
          </a:xfrm>
          <a:prstGeom prst="roundRect">
            <a:avLst/>
          </a:prstGeom>
          <a:solidFill>
            <a:srgbClr val="FFF2D1"/>
          </a:solidFill>
          <a:ln w="1905">
            <a:solidFill>
              <a:srgbClr val="FFF2D1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86" name="Badge Text 扩展"/>
          <p:cNvSpPr txBox="1"/>
          <p:nvPr/>
        </p:nvSpPr>
        <p:spPr>
          <a:xfrm>
            <a:off x="9448800" y="6143625"/>
            <a:ext cx="3810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9B5E00"/>
                </a:solidFill>
                <a:latin typeface="微软雅黑" panose="020B0503020204020204" charset="-122"/>
                <a:ea typeface="微软雅黑" panose="020B0503020204020204" charset="-122"/>
              </a:rPr>
              <a:t>扩展</a:t>
            </a:r>
            <a:endParaRPr lang="zh-CN" sz="800" b="1">
              <a:solidFill>
                <a:srgbClr val="9B5E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7" name="Pill 系统监测 / 告警"/>
          <p:cNvSpPr/>
          <p:nvPr/>
        </p:nvSpPr>
        <p:spPr>
          <a:xfrm>
            <a:off x="10001250" y="6086475"/>
            <a:ext cx="1409700" cy="2159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88" name="Pill Text 系统监测 / 告警"/>
          <p:cNvSpPr txBox="1"/>
          <p:nvPr/>
        </p:nvSpPr>
        <p:spPr>
          <a:xfrm>
            <a:off x="10056495" y="6130925"/>
            <a:ext cx="1133475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系统监测 / 告警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" name="Badge 扩展"/>
          <p:cNvSpPr/>
          <p:nvPr/>
        </p:nvSpPr>
        <p:spPr>
          <a:xfrm>
            <a:off x="11004550" y="6111875"/>
            <a:ext cx="381000" cy="171450"/>
          </a:xfrm>
          <a:prstGeom prst="roundRect">
            <a:avLst/>
          </a:prstGeom>
          <a:solidFill>
            <a:srgbClr val="FFF2D1"/>
          </a:solidFill>
          <a:ln w="1905">
            <a:solidFill>
              <a:srgbClr val="FFF2D1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90" name="Badge Text 扩展"/>
          <p:cNvSpPr txBox="1"/>
          <p:nvPr/>
        </p:nvSpPr>
        <p:spPr>
          <a:xfrm>
            <a:off x="11004550" y="6143625"/>
            <a:ext cx="3810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9B5E00"/>
                </a:solidFill>
                <a:latin typeface="微软雅黑" panose="020B0503020204020204" charset="-122"/>
                <a:ea typeface="微软雅黑" panose="020B0503020204020204" charset="-122"/>
              </a:rPr>
              <a:t>扩展</a:t>
            </a:r>
            <a:endParaRPr lang="zh-CN" sz="800" b="1">
              <a:solidFill>
                <a:srgbClr val="9B5E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矩形 192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业务架构</a:t>
            </a:r>
            <a:endParaRPr lang="zh-CN" altLang="en-US"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4" name="矩形 193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门市租赁业务全局结构图</a:t>
            </a:r>
            <a:endParaRPr lang="zh-CN" altLang="en-US"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5" name="矩形 194"/>
          <p:cNvSpPr>
            <a:spLocks noGrp="1"/>
          </p:cNvSpPr>
          <p:nvPr/>
        </p:nvSpPr>
        <p:spPr>
          <a:xfrm>
            <a:off x="495300" y="6438900"/>
            <a:ext cx="8572500" cy="12383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矩形 195"/>
          <p:cNvSpPr>
            <a:spLocks noGrp="1"/>
          </p:cNvSpPr>
          <p:nvPr/>
        </p:nvSpPr>
        <p:spPr>
          <a:xfrm>
            <a:off x="495300" y="657225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RIMO Rental | 门市租赁业务方案</a:t>
            </a:r>
            <a:endParaRPr sz="67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7" name="矩形 196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6438900"/>
            <a:ext cx="8572500" cy="12383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657225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RIMO Rental | 门市租赁业务方案</a:t>
            </a:r>
            <a:endParaRPr sz="67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服务模式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两种模式共用业务底座，差异集中在客户面对层级和取还车方式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66750" y="1447800"/>
            <a:ext cx="47625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66750" y="1447800"/>
            <a:ext cx="47625" cy="342900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0600" y="1752600"/>
            <a:ext cx="361950" cy="361950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1485900" y="1771650"/>
            <a:ext cx="2762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门市租车</a:t>
            </a:r>
            <a:endParaRPr sz="16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095750" y="1790700"/>
            <a:ext cx="876300" cy="228600"/>
          </a:xfrm>
          <a:prstGeom prst="rect">
            <a:avLst/>
          </a:prstGeom>
          <a:solidFill>
            <a:srgbClr val="E5F2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191000" y="1838325"/>
            <a:ext cx="685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业务模式</a:t>
            </a:r>
            <a:endParaRPr sz="950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09650" y="2343150"/>
            <a:ext cx="4076700" cy="9525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009650" y="24574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客户面对层级</a:t>
            </a:r>
            <a:endParaRPr sz="825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171700" y="2428875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取车门市、还车门市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09650" y="2895600"/>
            <a:ext cx="4076700" cy="9525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009650" y="30099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取还车方式</a:t>
            </a:r>
            <a:endParaRPr sz="825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171700" y="2981325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店员办理取车、还车、验车和交接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09650" y="3448050"/>
            <a:ext cx="4076700" cy="9525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009650" y="35623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据点作用</a:t>
            </a:r>
            <a:endParaRPr sz="825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171700" y="3533775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用于内部备车、停放、整备和归还登记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009650" y="4000500"/>
            <a:ext cx="4076700" cy="9525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09650" y="41148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适合场景</a:t>
            </a:r>
            <a:endParaRPr sz="825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171700" y="4086225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柜台散客、电话预订、企业客户代订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191250" y="1447800"/>
            <a:ext cx="47625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191250" y="1447800"/>
            <a:ext cx="47625" cy="34290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5100" y="1752600"/>
            <a:ext cx="361950" cy="361950"/>
          </a:xfrm>
          <a:prstGeom prst="rect">
            <a:avLst/>
          </a:prstGeom>
        </p:spPr>
      </p:pic>
      <p:sp>
        <p:nvSpPr>
          <p:cNvPr id="30" name="矩形 29"/>
          <p:cNvSpPr>
            <a:spLocks noGrp="1"/>
          </p:cNvSpPr>
          <p:nvPr/>
        </p:nvSpPr>
        <p:spPr>
          <a:xfrm>
            <a:off x="7010400" y="1771650"/>
            <a:ext cx="2762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 小时自助租车</a:t>
            </a:r>
            <a:endParaRPr sz="16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620250" y="1790700"/>
            <a:ext cx="876300" cy="228600"/>
          </a:xfrm>
          <a:prstGeom prst="rect">
            <a:avLst/>
          </a:prstGeom>
          <a:solidFill>
            <a:srgbClr val="DDF0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715500" y="1838325"/>
            <a:ext cx="685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业务模式</a:t>
            </a:r>
            <a:endParaRPr sz="9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534150" y="2343150"/>
            <a:ext cx="4076700" cy="9525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534150" y="24574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客户面对层级</a:t>
            </a:r>
            <a:endParaRPr sz="825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696200" y="2428875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具体自助据点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534150" y="2895600"/>
            <a:ext cx="4076700" cy="9525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534150" y="30099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取还车方式</a:t>
            </a:r>
            <a:endParaRPr sz="825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696200" y="2981325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 自助取还车，依赖车机能力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534150" y="3448050"/>
            <a:ext cx="4076700" cy="9525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534150" y="35623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据点作用</a:t>
            </a:r>
            <a:endParaRPr sz="825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7696200" y="3533775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展示位置、导航、车位指引和自助条件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534150" y="4000500"/>
            <a:ext cx="4076700" cy="9525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534150" y="41148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适合场景</a:t>
            </a:r>
            <a:endParaRPr sz="825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7696200" y="4086225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非柜台时间、机场/高铁/码头自助取还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2000250" y="5219700"/>
            <a:ext cx="7810500" cy="66675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2362200" y="5410200"/>
            <a:ext cx="7048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B2F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B2F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共同复用：车组、基础产品定价、动态调价、行销方案、增值服务、租赁业务规则、调度规则、订单快照机制。</a:t>
            </a:r>
            <a:endParaRPr sz="1125" b="1">
              <a:solidFill>
                <a:srgbClr val="0B2F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6438900"/>
            <a:ext cx="8572500" cy="12383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657225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RIMO Rental | 门市租赁业务方案</a:t>
            </a:r>
            <a:endParaRPr sz="67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端到端主链路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从车组预约到车辆归还，业务闭环分成六个阶段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客户下单时锁定车组库存，系统在取车前完成具体车辆预分配或硬锁定。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95300" y="1771650"/>
            <a:ext cx="1695450" cy="914400"/>
          </a:xfrm>
          <a:prstGeom prst="rect">
            <a:avLst/>
          </a:prstGeom>
          <a:solidFill>
            <a:srgbClr val="E5F2EE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95300" y="1771650"/>
            <a:ext cx="47625" cy="91440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47700" y="19050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预约下单</a:t>
            </a:r>
            <a:endParaRPr sz="11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47700" y="217170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选择门市/据点、时间、车组、方案与增值服务</a:t>
            </a:r>
            <a:endParaRPr sz="79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362200" y="1771650"/>
            <a:ext cx="1695450" cy="914400"/>
          </a:xfrm>
          <a:prstGeom prst="rect">
            <a:avLst/>
          </a:prstGeom>
          <a:solidFill>
            <a:srgbClr val="DDF0F8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362200" y="1771650"/>
            <a:ext cx="47625" cy="9144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514600" y="19050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派车锁车</a:t>
            </a:r>
            <a:endParaRPr sz="11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514600" y="217170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周期优化、手动优化、硬锁复核、人工调度</a:t>
            </a:r>
            <a:endParaRPr sz="79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229100" y="1771650"/>
            <a:ext cx="1695450" cy="914400"/>
          </a:xfrm>
          <a:prstGeom prst="rect">
            <a:avLst/>
          </a:prstGeom>
          <a:solidFill>
            <a:srgbClr val="FFF1D6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229100" y="1771650"/>
            <a:ext cx="47625" cy="9144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381500" y="19050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取车办理</a:t>
            </a:r>
            <a:endParaRPr sz="11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381500" y="217170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身份核验、押金尾款、合约签署、验车发车</a:t>
            </a:r>
            <a:endParaRPr sz="79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096000" y="1771650"/>
            <a:ext cx="1695450" cy="914400"/>
          </a:xfrm>
          <a:prstGeom prst="rect">
            <a:avLst/>
          </a:prstGeom>
          <a:solidFill>
            <a:srgbClr val="E3F1F8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096000" y="1771650"/>
            <a:ext cx="47625" cy="9144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248400" y="19050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用车过程</a:t>
            </a:r>
            <a:endParaRPr sz="11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248400" y="217170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 控车、续租、事故、改还车门市/据点</a:t>
            </a:r>
            <a:endParaRPr sz="79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962900" y="1771650"/>
            <a:ext cx="1695450" cy="914400"/>
          </a:xfrm>
          <a:prstGeom prst="rect">
            <a:avLst/>
          </a:prstGeom>
          <a:solidFill>
            <a:srgbClr val="FEEDE5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962900" y="1771650"/>
            <a:ext cx="47625" cy="9144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115300" y="19050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还车结算</a:t>
            </a:r>
            <a:endParaRPr sz="11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115300" y="217170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验车、里程油电、费用差额、补缴退款/月结</a:t>
            </a:r>
            <a:endParaRPr sz="79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9829800" y="1771650"/>
            <a:ext cx="1695450" cy="914400"/>
          </a:xfrm>
          <a:prstGeom prst="rect">
            <a:avLst/>
          </a:prstGeom>
          <a:solidFill>
            <a:srgbClr val="EEF2F6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9829800" y="1771650"/>
            <a:ext cx="47625" cy="914400"/>
          </a:xfrm>
          <a:prstGeom prst="rect">
            <a:avLst/>
          </a:prstGeom>
          <a:solidFill>
            <a:srgbClr val="304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9982200" y="19050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完成追溯</a:t>
            </a:r>
            <a:endParaRPr sz="11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9982200" y="217170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完成、追缴、账单、快照、操作记录</a:t>
            </a:r>
            <a:endParaRPr sz="79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19150" y="3333750"/>
            <a:ext cx="9906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66800" y="3429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 / 企业身份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2628900" y="3419475"/>
            <a:ext cx="7620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预约、支付或月结确认、取车签署、用车、还车、补缴或查看账单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19150" y="3886200"/>
            <a:ext cx="9906000" cy="400050"/>
          </a:xfrm>
          <a:prstGeom prst="rect">
            <a:avLst/>
          </a:prstGeom>
          <a:solidFill>
            <a:srgbClr val="F8FBF8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1066800" y="39814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门店 / 调度员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2628900" y="3971925"/>
            <a:ext cx="7620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备车、取车核验、人工改派、还车验车、费用处理、异常处理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819150" y="4438650"/>
            <a:ext cx="9906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1066800" y="45339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营运后台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2628900" y="4524375"/>
            <a:ext cx="7620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库存锁定、规则试算、预授权、调度、快照、费用中心、操作记录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819150" y="4991100"/>
            <a:ext cx="9906000" cy="400050"/>
          </a:xfrm>
          <a:prstGeom prst="rect">
            <a:avLst/>
          </a:prstGeom>
          <a:solidFill>
            <a:srgbClr val="F8FBF8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1066800" y="50863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支付 / 车机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2628900" y="5076825"/>
            <a:ext cx="7620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客户自付走支付和预授权；自助模式读取车机里程、油量/电量并执行控车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6" name="直接箭头连接符 55"/>
          <p:cNvCxnSpPr/>
          <p:nvPr/>
        </p:nvCxnSpPr>
        <p:spPr>
          <a:xfrm>
            <a:off x="2202180" y="2238375"/>
            <a:ext cx="177800" cy="0"/>
          </a:xfrm>
          <a:prstGeom prst="straightConnector1">
            <a:avLst/>
          </a:prstGeom>
          <a:ln>
            <a:solidFill>
              <a:srgbClr val="2D7D6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>
            <a:off x="4057650" y="2238375"/>
            <a:ext cx="177800" cy="0"/>
          </a:xfrm>
          <a:prstGeom prst="straightConnector1">
            <a:avLst/>
          </a:prstGeom>
          <a:ln>
            <a:solidFill>
              <a:srgbClr val="00689E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>
          <a:xfrm>
            <a:off x="5924550" y="2238375"/>
            <a:ext cx="177800" cy="0"/>
          </a:xfrm>
          <a:prstGeom prst="straightConnector1">
            <a:avLst/>
          </a:prstGeom>
          <a:ln>
            <a:solidFill>
              <a:srgbClr val="D9770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>
          <a:xfrm>
            <a:off x="7791450" y="2238375"/>
            <a:ext cx="177800" cy="0"/>
          </a:xfrm>
          <a:prstGeom prst="straightConnector1">
            <a:avLst/>
          </a:prstGeom>
          <a:ln>
            <a:solidFill>
              <a:srgbClr val="00689E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/>
        </p:nvCxnSpPr>
        <p:spPr>
          <a:xfrm>
            <a:off x="9658350" y="2238375"/>
            <a:ext cx="177800" cy="0"/>
          </a:xfrm>
          <a:prstGeom prst="straightConnector1">
            <a:avLst/>
          </a:prstGeom>
          <a:ln>
            <a:solidFill>
              <a:srgbClr val="B45309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6438900"/>
            <a:ext cx="8572500" cy="12383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657225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RIMO Rental | 门市租赁业务方案</a:t>
            </a:r>
            <a:endParaRPr sz="67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核心对象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按车组销售、按车辆履约、按快照追溯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门市租赁的关键设计是把销售承诺、车辆交付、费用计算和历史追溯拆成可维护的对象。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2000250"/>
            <a:ext cx="16002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38200" y="2000250"/>
            <a:ext cx="47625" cy="876300"/>
          </a:xfrm>
          <a:prstGeom prst="rect">
            <a:avLst/>
          </a:prstGeom>
          <a:solidFill>
            <a:srgbClr val="304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28700" y="2171700"/>
            <a:ext cx="10001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车行</a:t>
            </a:r>
            <a:endParaRPr sz="1575" b="1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28700" y="2476500"/>
            <a:ext cx="1123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资产归属、组织范围、车行报表</a:t>
            </a:r>
            <a:endParaRPr sz="79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743200" y="2000250"/>
            <a:ext cx="16002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743200" y="2000250"/>
            <a:ext cx="47625" cy="87630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933700" y="2171700"/>
            <a:ext cx="10001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门市</a:t>
            </a:r>
            <a:endParaRPr sz="1575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933700" y="2476500"/>
            <a:ext cx="1123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客户服务、店员作业、取还门市</a:t>
            </a:r>
            <a:endParaRPr sz="79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648200" y="2000250"/>
            <a:ext cx="16002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648200" y="2000250"/>
            <a:ext cx="47625" cy="8763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838700" y="2171700"/>
            <a:ext cx="10001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据点</a:t>
            </a:r>
            <a:endParaRPr sz="1575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838700" y="2476500"/>
            <a:ext cx="1123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停车场、备车、归还位置、自助点</a:t>
            </a:r>
            <a:endParaRPr sz="79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790700" y="3752850"/>
            <a:ext cx="16002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790700" y="3752850"/>
            <a:ext cx="47625" cy="8763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981200" y="3924300"/>
            <a:ext cx="10001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车组</a:t>
            </a:r>
            <a:endParaRPr sz="1575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981200" y="4229100"/>
            <a:ext cx="1123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 SKU、标准价、里程规则</a:t>
            </a:r>
            <a:endParaRPr sz="79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648200" y="3752850"/>
            <a:ext cx="16002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648200" y="3752850"/>
            <a:ext cx="47625" cy="8763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838700" y="3924300"/>
            <a:ext cx="10001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</a:t>
            </a:r>
            <a:endParaRPr sz="1575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838700" y="4229100"/>
            <a:ext cx="1123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实际交付、状态、排程、车机</a:t>
            </a:r>
            <a:endParaRPr sz="79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505700" y="2876550"/>
            <a:ext cx="16002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505700" y="2876550"/>
            <a:ext cx="47625" cy="8763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696200" y="3048000"/>
            <a:ext cx="10001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</a:t>
            </a:r>
            <a:endParaRPr sz="1575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696200" y="3352800"/>
            <a:ext cx="1123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客户约定、资金、状态、履约事件</a:t>
            </a:r>
            <a:endParaRPr sz="79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2438400" y="2428875"/>
            <a:ext cx="304800" cy="1905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343400" y="2428875"/>
            <a:ext cx="304800" cy="1905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5448300" y="2428875"/>
            <a:ext cx="2057400" cy="1905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7505700" y="2428875"/>
            <a:ext cx="19050" cy="87630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2590800" y="4171950"/>
            <a:ext cx="2057400" cy="1905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6248400" y="4171950"/>
            <a:ext cx="1257300" cy="1905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7505700" y="3314700"/>
            <a:ext cx="19050" cy="87630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743950" y="1790700"/>
            <a:ext cx="2286000" cy="285750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743950" y="1790700"/>
            <a:ext cx="47625" cy="28575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991600" y="2038350"/>
            <a:ext cx="895350" cy="228600"/>
          </a:xfrm>
          <a:prstGeom prst="rect">
            <a:avLst/>
          </a:prstGeom>
          <a:solidFill>
            <a:srgbClr val="DDF0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9086850" y="2085975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追溯机制</a:t>
            </a:r>
            <a:endParaRPr sz="7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991600" y="243840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订单级基线快照</a:t>
            </a:r>
            <a:endParaRPr sz="127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8991600" y="2724150"/>
            <a:ext cx="17335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下单时固化客户、企业、门市、车组、价格、行销、规则和增值服务版本。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991600" y="36385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事件级增量快照</a:t>
            </a:r>
            <a:endParaRPr sz="127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8991600" y="3924300"/>
            <a:ext cx="17335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续租、改车组、改方案、改还车门市、逾时重计费等商业变化只重算差额。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6438900"/>
            <a:ext cx="8572500" cy="12383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657225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RIMO Rental | 门市租赁业务方案</a:t>
            </a:r>
            <a:endParaRPr sz="67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订单状态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主状态只表达订单阶段，资金、派车和风险用独立标签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这样可以避免订单状态膨胀，也能让列表、详情、工作台和统计保持同一口径。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14350" y="1676400"/>
            <a:ext cx="1952625" cy="25717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14350" y="1676400"/>
            <a:ext cx="47625" cy="257175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23900" y="19240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待处理</a:t>
            </a:r>
            <a:endParaRPr sz="13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23900" y="2419350"/>
            <a:ext cx="1200150" cy="219075"/>
          </a:xfrm>
          <a:prstGeom prst="rect">
            <a:avLst/>
          </a:prstGeom>
          <a:solidFill>
            <a:srgbClr val="F6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19150" y="246697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待支付</a:t>
            </a:r>
            <a:endParaRPr sz="7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23900" y="2743200"/>
            <a:ext cx="1200150" cy="219075"/>
          </a:xfrm>
          <a:prstGeom prst="rect">
            <a:avLst/>
          </a:prstGeom>
          <a:solidFill>
            <a:srgbClr val="F6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19150" y="279082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已预约</a:t>
            </a:r>
            <a:endParaRPr sz="7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23900" y="3067050"/>
            <a:ext cx="1200150" cy="219075"/>
          </a:xfrm>
          <a:prstGeom prst="rect">
            <a:avLst/>
          </a:prstGeom>
          <a:solidFill>
            <a:srgbClr val="F6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19150" y="311467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取车超时</a:t>
            </a:r>
            <a:endParaRPr sz="7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752725" y="1676400"/>
            <a:ext cx="1952625" cy="25717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2752725" y="1676400"/>
            <a:ext cx="47625" cy="257175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2962275" y="19240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履约中</a:t>
            </a:r>
            <a:endParaRPr sz="1350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962275" y="2419350"/>
            <a:ext cx="1200150" cy="219075"/>
          </a:xfrm>
          <a:prstGeom prst="rect">
            <a:avLst/>
          </a:prstGeom>
          <a:solidFill>
            <a:srgbClr val="F6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3057525" y="246697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验车中</a:t>
            </a:r>
            <a:endParaRPr sz="7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962275" y="2743200"/>
            <a:ext cx="1200150" cy="219075"/>
          </a:xfrm>
          <a:prstGeom prst="rect">
            <a:avLst/>
          </a:prstGeom>
          <a:solidFill>
            <a:srgbClr val="F6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3057525" y="279082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用车中</a:t>
            </a:r>
            <a:endParaRPr sz="7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962275" y="3067050"/>
            <a:ext cx="1200150" cy="219075"/>
          </a:xfrm>
          <a:prstGeom prst="rect">
            <a:avLst/>
          </a:prstGeom>
          <a:solidFill>
            <a:srgbClr val="F6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3057525" y="311467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续租中</a:t>
            </a:r>
            <a:endParaRPr sz="7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991100" y="1676400"/>
            <a:ext cx="1952625" cy="25717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4991100" y="1676400"/>
            <a:ext cx="47625" cy="25717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200650" y="19240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异常风险</a:t>
            </a:r>
            <a:endParaRPr sz="135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200650" y="2419350"/>
            <a:ext cx="1200150" cy="219075"/>
          </a:xfrm>
          <a:prstGeom prst="rect">
            <a:avLst/>
          </a:prstGeom>
          <a:solidFill>
            <a:srgbClr val="F6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5295900" y="246697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还车超时</a:t>
            </a:r>
            <a:endParaRPr sz="7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200650" y="2743200"/>
            <a:ext cx="1200150" cy="219075"/>
          </a:xfrm>
          <a:prstGeom prst="rect">
            <a:avLst/>
          </a:prstGeom>
          <a:solidFill>
            <a:srgbClr val="F6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5295900" y="279082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事故处理中</a:t>
            </a:r>
            <a:endParaRPr sz="7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229475" y="1676400"/>
            <a:ext cx="1952625" cy="25717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229475" y="1676400"/>
            <a:ext cx="47625" cy="25717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7439025" y="19240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结算处理</a:t>
            </a:r>
            <a:endParaRPr sz="135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439025" y="2419350"/>
            <a:ext cx="1200150" cy="219075"/>
          </a:xfrm>
          <a:prstGeom prst="rect">
            <a:avLst/>
          </a:prstGeom>
          <a:solidFill>
            <a:srgbClr val="F6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7534275" y="246697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待结算</a:t>
            </a:r>
            <a:endParaRPr sz="7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439025" y="2743200"/>
            <a:ext cx="1200150" cy="219075"/>
          </a:xfrm>
          <a:prstGeom prst="rect">
            <a:avLst/>
          </a:prstGeom>
          <a:solidFill>
            <a:srgbClr val="F6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7534275" y="279082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待补缴</a:t>
            </a:r>
            <a:endParaRPr sz="7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7439025" y="3067050"/>
            <a:ext cx="1200150" cy="219075"/>
          </a:xfrm>
          <a:prstGeom prst="rect">
            <a:avLst/>
          </a:prstGeom>
          <a:solidFill>
            <a:srgbClr val="F6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7534275" y="311467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待退款</a:t>
            </a:r>
            <a:endParaRPr sz="7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467850" y="1676400"/>
            <a:ext cx="1952625" cy="25717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9467850" y="1676400"/>
            <a:ext cx="47625" cy="2571750"/>
          </a:xfrm>
          <a:prstGeom prst="rect">
            <a:avLst/>
          </a:prstGeom>
          <a:solidFill>
            <a:srgbClr val="304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9677400" y="19240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已结束</a:t>
            </a:r>
            <a:endParaRPr sz="1350" b="1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9677400" y="2419350"/>
            <a:ext cx="1200150" cy="219075"/>
          </a:xfrm>
          <a:prstGeom prst="rect">
            <a:avLst/>
          </a:prstGeom>
          <a:solidFill>
            <a:srgbClr val="F6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9772650" y="246697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</a:t>
            </a:r>
            <a:endParaRPr sz="7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9677400" y="2743200"/>
            <a:ext cx="1200150" cy="219075"/>
          </a:xfrm>
          <a:prstGeom prst="rect">
            <a:avLst/>
          </a:prstGeom>
          <a:solidFill>
            <a:srgbClr val="F6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9772650" y="279082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已取消</a:t>
            </a:r>
            <a:endParaRPr sz="7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9677400" y="3067050"/>
            <a:ext cx="1200150" cy="219075"/>
          </a:xfrm>
          <a:prstGeom prst="rect">
            <a:avLst/>
          </a:prstGeom>
          <a:solidFill>
            <a:srgbClr val="F6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9772650" y="311467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已爽约</a:t>
            </a:r>
            <a:endParaRPr sz="7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9677400" y="3390900"/>
            <a:ext cx="1200150" cy="219075"/>
          </a:xfrm>
          <a:prstGeom prst="rect">
            <a:avLst/>
          </a:prstGeom>
          <a:solidFill>
            <a:srgbClr val="F6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9772650" y="343852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已拒单</a:t>
            </a:r>
            <a:endParaRPr sz="7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9677400" y="3714750"/>
            <a:ext cx="1200150" cy="219075"/>
          </a:xfrm>
          <a:prstGeom prst="rect">
            <a:avLst/>
          </a:prstGeom>
          <a:solidFill>
            <a:srgbClr val="F6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9772650" y="376237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已关闭</a:t>
            </a:r>
            <a:endParaRPr sz="7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895350" y="4705350"/>
            <a:ext cx="9810750" cy="68580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1181100" y="4895850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派车状态</a:t>
            </a:r>
            <a:endParaRPr sz="975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2057400" y="4876800"/>
            <a:ext cx="2095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待派车 / 已预分配 / 已硬锁 / 人工改派 / 免费升等</a:t>
            </a:r>
            <a:endParaRPr sz="86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4324350" y="4895850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支付状态</a:t>
            </a:r>
            <a:endParaRPr sz="975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5200650" y="4876800"/>
            <a:ext cx="2095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未支付 / 已收预授权 / 企业月结 / 待补缴 / 待退款</a:t>
            </a:r>
            <a:endParaRPr sz="86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7467600" y="4895850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风险标记</a:t>
            </a:r>
            <a:endParaRPr sz="975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8343900" y="4876800"/>
            <a:ext cx="2095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黑名单 / 证件异常 / 人工调度 / 事故 / 追缴</a:t>
            </a:r>
            <a:endParaRPr sz="86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6438900"/>
            <a:ext cx="8572500" cy="12383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657225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RIMO Rental | 门市租赁业务方案</a:t>
            </a:r>
            <a:endParaRPr sz="67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预约下单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新建订单统一完成订单创建信息确认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覆盖客户、行程、车组、服务、优惠和费用；订单创建成功后锁定车组库存，具体车辆由后续调度处理。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1676400"/>
            <a:ext cx="2333625" cy="15811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1676400"/>
            <a:ext cx="47625" cy="158115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5350" y="1943100"/>
            <a:ext cx="323850" cy="32385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1333500" y="1943100"/>
            <a:ext cx="13811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客户与身份</a:t>
            </a:r>
            <a:endParaRPr sz="127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95350" y="2457450"/>
            <a:ext cx="18669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1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搜索客户，区分个人预订、企业预订；企业预订再区分月结与非月结。</a:t>
            </a:r>
            <a:endParaRPr sz="91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352800" y="1676400"/>
            <a:ext cx="2333625" cy="15811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352800" y="1676400"/>
            <a:ext cx="47625" cy="158115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2350" y="1943100"/>
            <a:ext cx="323850" cy="323850"/>
          </a:xfrm>
          <a:prstGeom prst="rect">
            <a:avLst/>
          </a:prstGeom>
        </p:spPr>
      </p:pic>
      <p:sp>
        <p:nvSpPr>
          <p:cNvPr id="18" name="矩形 17"/>
          <p:cNvSpPr>
            <a:spLocks noGrp="1"/>
          </p:cNvSpPr>
          <p:nvPr/>
        </p:nvSpPr>
        <p:spPr>
          <a:xfrm>
            <a:off x="4000500" y="1943100"/>
            <a:ext cx="13811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用车与车组</a:t>
            </a:r>
            <a:endParaRPr sz="127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562350" y="2457450"/>
            <a:ext cx="18669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1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选择取还门市/据点、时间、车组；系统按可服务据点汇总库存。</a:t>
            </a:r>
            <a:endParaRPr sz="91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19800" y="1676400"/>
            <a:ext cx="2333625" cy="15811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019800" y="1676400"/>
            <a:ext cx="47625" cy="15811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9350" y="1943100"/>
            <a:ext cx="323850" cy="323850"/>
          </a:xfrm>
          <a:prstGeom prst="rect">
            <a:avLst/>
          </a:prstGeom>
        </p:spPr>
      </p:pic>
      <p:sp>
        <p:nvSpPr>
          <p:cNvPr id="23" name="矩形 22"/>
          <p:cNvSpPr>
            <a:spLocks noGrp="1"/>
          </p:cNvSpPr>
          <p:nvPr/>
        </p:nvSpPr>
        <p:spPr>
          <a:xfrm>
            <a:off x="6667500" y="1943100"/>
            <a:ext cx="13811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优惠与服务</a:t>
            </a:r>
            <a:endParaRPr sz="127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29350" y="2457450"/>
            <a:ext cx="18669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1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匹配行销方案、增值服务；企业身份不使用优惠券和积分。</a:t>
            </a:r>
            <a:endParaRPr sz="91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86800" y="1676400"/>
            <a:ext cx="2333625" cy="15811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686800" y="1676400"/>
            <a:ext cx="47625" cy="158115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6350" y="1943100"/>
            <a:ext cx="323850" cy="323850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9334500" y="1943100"/>
            <a:ext cx="13811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费用与状态</a:t>
            </a:r>
            <a:endParaRPr sz="127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896350" y="2457450"/>
            <a:ext cx="18669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1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展示订单总额、预授权金额、月结金额；生成主状态、支付状态、派车状态。</a:t>
            </a:r>
            <a:endParaRPr sz="91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47750" y="3733800"/>
            <a:ext cx="4572000" cy="146685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047750" y="3733800"/>
            <a:ext cx="47625" cy="146685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314450" y="396240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创建成功后生成</a:t>
            </a:r>
            <a:endParaRPr sz="13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椭圆 32"/>
          <p:cNvSpPr>
            <a:spLocks noGrp="1"/>
          </p:cNvSpPr>
          <p:nvPr/>
        </p:nvSpPr>
        <p:spPr>
          <a:xfrm>
            <a:off x="1333500" y="4438650"/>
            <a:ext cx="57150" cy="57150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485900" y="4362450"/>
            <a:ext cx="3714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订单号、主状态、支付状态、派车状态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椭圆 34"/>
          <p:cNvSpPr>
            <a:spLocks noGrp="1"/>
          </p:cNvSpPr>
          <p:nvPr/>
        </p:nvSpPr>
        <p:spPr>
          <a:xfrm>
            <a:off x="1333500" y="4676775"/>
            <a:ext cx="57150" cy="57150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485900" y="4600575"/>
            <a:ext cx="3714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车组库存锁定，待支付订单仅在保留时长内占用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椭圆 36"/>
          <p:cNvSpPr>
            <a:spLocks noGrp="1"/>
          </p:cNvSpPr>
          <p:nvPr/>
        </p:nvSpPr>
        <p:spPr>
          <a:xfrm>
            <a:off x="1333500" y="4914900"/>
            <a:ext cx="57150" cy="57150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485900" y="4838700"/>
            <a:ext cx="3714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订单展示快照、计费快照、规则快照和版本索引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229350" y="3733800"/>
            <a:ext cx="4095750" cy="146685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229350" y="3733800"/>
            <a:ext cx="47625" cy="14668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496050" y="396240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本期关键限制</a:t>
            </a:r>
            <a:endParaRPr sz="13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椭圆 41"/>
          <p:cNvSpPr>
            <a:spLocks noGrp="1"/>
          </p:cNvSpPr>
          <p:nvPr/>
        </p:nvSpPr>
        <p:spPr>
          <a:xfrm>
            <a:off x="6515100" y="4438650"/>
            <a:ext cx="57150" cy="571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667500" y="4362450"/>
            <a:ext cx="3333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下单阶段只收预授权押金，不启用全额支付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椭圆 43"/>
          <p:cNvSpPr>
            <a:spLocks noGrp="1"/>
          </p:cNvSpPr>
          <p:nvPr/>
        </p:nvSpPr>
        <p:spPr>
          <a:xfrm>
            <a:off x="6515100" y="4676775"/>
            <a:ext cx="57150" cy="571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6667500" y="4600575"/>
            <a:ext cx="3333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下单预授权只走线上预授权，不做现金押金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椭圆 45"/>
          <p:cNvSpPr>
            <a:spLocks noGrp="1"/>
          </p:cNvSpPr>
          <p:nvPr/>
        </p:nvSpPr>
        <p:spPr>
          <a:xfrm>
            <a:off x="6515100" y="4914900"/>
            <a:ext cx="57150" cy="571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6667500" y="4838700"/>
            <a:ext cx="3333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门市租车下单不让客户选择具体停车场据点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6438900"/>
            <a:ext cx="8572500" cy="12383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657225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RIMO Rental | 门市租赁业务方案</a:t>
            </a:r>
            <a:endParaRPr sz="67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价格与规则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计费不是一个价格字段，而是多层规则共同形成订单承诺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每次影响商业条件的变化都要留下版本和快照，不能回查当前配置解释历史订单。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04850" y="1600200"/>
            <a:ext cx="5524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04850" y="1600200"/>
            <a:ext cx="47625" cy="51435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1724025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车组标准价</a:t>
            </a:r>
            <a:endParaRPr sz="1125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324100" y="1704975"/>
            <a:ext cx="3333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基础产品定价，包含日租价、里程规则、车型绑定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76300" y="2305050"/>
            <a:ext cx="53530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76300" y="2305050"/>
            <a:ext cx="47625" cy="51435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162050" y="2428875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动态调价</a:t>
            </a:r>
            <a:endParaRPr sz="1125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495550" y="2409825"/>
            <a:ext cx="3181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定时调价计划和标准价版本，只影响新订单和后续商业事件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47750" y="3009900"/>
            <a:ext cx="51816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047750" y="3009900"/>
            <a:ext cx="47625" cy="5143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333500" y="3133725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行销方案</a:t>
            </a:r>
            <a:endParaRPr sz="1125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667000" y="3114675"/>
            <a:ext cx="3028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适用条件、平假日折扣、到店人工核验、企业资格方案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219200" y="3714750"/>
            <a:ext cx="50101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219200" y="3714750"/>
            <a:ext cx="47625" cy="51435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504950" y="3838575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增值服务</a:t>
            </a:r>
            <a:endParaRPr sz="1125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838450" y="3819525"/>
            <a:ext cx="2876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保险、设备、服务类项目，支持按天/按次和门店库存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390650" y="4419600"/>
            <a:ext cx="48387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390650" y="4419600"/>
            <a:ext cx="47625" cy="5143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676400" y="4543425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租赁业务规则</a:t>
            </a:r>
            <a:endParaRPr sz="1125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009900" y="4524375"/>
            <a:ext cx="2724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预授权、取消、爽约、续租、超时、操作锁和调度权重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048500" y="1600200"/>
            <a:ext cx="3714750" cy="285750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048500" y="1600200"/>
            <a:ext cx="47625" cy="28575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334250" y="1866900"/>
            <a:ext cx="819150" cy="228600"/>
          </a:xfrm>
          <a:prstGeom prst="rect">
            <a:avLst/>
          </a:prstGeom>
          <a:solidFill>
            <a:srgbClr val="DDF0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429500" y="1914525"/>
            <a:ext cx="628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费用顺序</a:t>
            </a:r>
            <a:endParaRPr sz="7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334250" y="22479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个人订单</a:t>
            </a:r>
            <a:endParaRPr sz="127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334250" y="2552700"/>
            <a:ext cx="2952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标准租金 + 增值服务 - 行销方案 - 积分 - 优惠券</a:t>
            </a:r>
            <a:endParaRPr sz="97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334250" y="3181350"/>
            <a:ext cx="13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企业身份订单</a:t>
            </a:r>
            <a:endParaRPr sz="127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334250" y="3486150"/>
            <a:ext cx="295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标准租金 + 增值服务 - 企业资格行销方案，不使用积分和优惠券</a:t>
            </a:r>
            <a:endParaRPr sz="97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048500" y="4762500"/>
            <a:ext cx="3714750" cy="609600"/>
          </a:xfrm>
          <a:prstGeom prst="rect">
            <a:avLst/>
          </a:prstGeom>
          <a:solidFill>
            <a:srgbClr val="FFF1D6"/>
          </a:solidFill>
          <a:ln w="9525">
            <a:solidFill>
              <a:srgbClr val="F6D68A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7296150" y="4933950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核心口径：标准价不区分平日/假日；平假日差异由行销方案的折扣配置表达。</a:t>
            </a:r>
            <a:endParaRPr sz="99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6438900"/>
            <a:ext cx="8572500" cy="12383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657225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RIMO Rental | 门市租赁业务方案</a:t>
            </a:r>
            <a:endParaRPr sz="67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客户与资金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同一套订单流程，需要按三种资金口径分流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企业月结不是“员工先付再报销”，而是订单费用直接进入企业挂账和账单。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1600200"/>
            <a:ext cx="3048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23900" y="1600200"/>
            <a:ext cx="47625" cy="342900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1866900"/>
            <a:ext cx="781050" cy="228600"/>
          </a:xfrm>
          <a:prstGeom prst="rect">
            <a:avLst/>
          </a:prstGeom>
          <a:solidFill>
            <a:srgbClr val="EEF6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085850" y="1914525"/>
            <a:ext cx="590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口径 1</a:t>
            </a:r>
            <a:endParaRPr sz="750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90600" y="2266950"/>
            <a:ext cx="209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个人自付</a:t>
            </a:r>
            <a:endParaRPr sz="1650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90600" y="268605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个人会员本人承担费用</a:t>
            </a:r>
            <a:endParaRPr sz="97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1009650" y="3400425"/>
            <a:ext cx="66675" cy="66675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162050" y="3333750"/>
            <a:ext cx="2152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下单线上预授权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1009650" y="3705225"/>
            <a:ext cx="66675" cy="66675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162050" y="3638550"/>
            <a:ext cx="2152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取车补足租金尾款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1009650" y="4010025"/>
            <a:ext cx="66675" cy="66675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162050" y="3943350"/>
            <a:ext cx="2152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还车多退少补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1009650" y="4314825"/>
            <a:ext cx="66675" cy="66675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162050" y="4248150"/>
            <a:ext cx="2152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完成后追缴由个人支付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267200" y="1600200"/>
            <a:ext cx="3048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267200" y="1600200"/>
            <a:ext cx="47625" cy="34290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533900" y="1866900"/>
            <a:ext cx="781050" cy="228600"/>
          </a:xfrm>
          <a:prstGeom prst="rect">
            <a:avLst/>
          </a:prstGeom>
          <a:solidFill>
            <a:srgbClr val="EEF6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629150" y="1914525"/>
            <a:ext cx="590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口径 2</a:t>
            </a:r>
            <a:endParaRPr sz="7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533900" y="2266950"/>
            <a:ext cx="209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企业非月结</a:t>
            </a:r>
            <a:endParaRPr sz="16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533900" y="268605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使用企业资格，但费用仍由个人承担</a:t>
            </a:r>
            <a:endParaRPr sz="97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4552950" y="3400425"/>
            <a:ext cx="66675" cy="66675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705350" y="3333750"/>
            <a:ext cx="2152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可使用企业资格方案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4552950" y="3705225"/>
            <a:ext cx="66675" cy="66675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4705350" y="3638550"/>
            <a:ext cx="2152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资金链路与个人订单一致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椭圆 33"/>
          <p:cNvSpPr>
            <a:spLocks noGrp="1"/>
          </p:cNvSpPr>
          <p:nvPr/>
        </p:nvSpPr>
        <p:spPr>
          <a:xfrm>
            <a:off x="4552950" y="4010025"/>
            <a:ext cx="66675" cy="66675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705350" y="3943350"/>
            <a:ext cx="2152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不支持优惠券和积分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椭圆 35"/>
          <p:cNvSpPr>
            <a:spLocks noGrp="1"/>
          </p:cNvSpPr>
          <p:nvPr/>
        </p:nvSpPr>
        <p:spPr>
          <a:xfrm>
            <a:off x="4552950" y="4314825"/>
            <a:ext cx="66675" cy="66675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4705350" y="4248150"/>
            <a:ext cx="2152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企业端用于查看和报销核对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810500" y="1600200"/>
            <a:ext cx="3048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7810500" y="1600200"/>
            <a:ext cx="47625" cy="34290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8077200" y="1866900"/>
            <a:ext cx="781050" cy="228600"/>
          </a:xfrm>
          <a:prstGeom prst="rect">
            <a:avLst/>
          </a:prstGeom>
          <a:solidFill>
            <a:srgbClr val="FFF1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172450" y="1914525"/>
            <a:ext cx="590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口径 3</a:t>
            </a:r>
            <a:endParaRPr sz="75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077200" y="2266950"/>
            <a:ext cx="209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企业月结</a:t>
            </a:r>
            <a:endParaRPr sz="165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077200" y="268605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企业统一承担费用</a:t>
            </a:r>
            <a:endParaRPr sz="97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椭圆 43"/>
          <p:cNvSpPr>
            <a:spLocks noGrp="1"/>
          </p:cNvSpPr>
          <p:nvPr/>
        </p:nvSpPr>
        <p:spPr>
          <a:xfrm>
            <a:off x="8096250" y="3400425"/>
            <a:ext cx="66675" cy="66675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248650" y="3333750"/>
            <a:ext cx="2152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不做个人预授权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椭圆 45"/>
          <p:cNvSpPr>
            <a:spLocks noGrp="1"/>
          </p:cNvSpPr>
          <p:nvPr/>
        </p:nvSpPr>
        <p:spPr>
          <a:xfrm>
            <a:off x="8096250" y="3705225"/>
            <a:ext cx="66675" cy="66675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8248650" y="3638550"/>
            <a:ext cx="2152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不做个人支付/退款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椭圆 47"/>
          <p:cNvSpPr>
            <a:spLocks noGrp="1"/>
          </p:cNvSpPr>
          <p:nvPr/>
        </p:nvSpPr>
        <p:spPr>
          <a:xfrm>
            <a:off x="8096250" y="4010025"/>
            <a:ext cx="66675" cy="66675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8248650" y="3943350"/>
            <a:ext cx="2152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还车应收进入企业账单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椭圆 49"/>
          <p:cNvSpPr>
            <a:spLocks noGrp="1"/>
          </p:cNvSpPr>
          <p:nvPr/>
        </p:nvSpPr>
        <p:spPr>
          <a:xfrm>
            <a:off x="8096250" y="4314825"/>
            <a:ext cx="66675" cy="66675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8248650" y="4248150"/>
            <a:ext cx="2152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取消、爽约、事故、追缴均可月结挂账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1619250" y="5334000"/>
            <a:ext cx="8096250" cy="41910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1885950" y="5448300"/>
            <a:ext cx="7524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1">
                <a:solidFill>
                  <a:srgbClr val="0B2F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0B2F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费用中心统一记录费用项与资金记录：预授权冻结、释放、扣款、收款、退款、减免和企业月结挂账分开追溯。</a:t>
            </a:r>
            <a:endParaRPr sz="1015" b="1">
              <a:solidFill>
                <a:srgbClr val="0B2F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6438900"/>
            <a:ext cx="8572500" cy="12383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657225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RIMO Rental | 门市租赁业务方案</a:t>
            </a:r>
            <a:endParaRPr sz="67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取车履约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店员点击取车即进入验车中，系统用操作锁保护办理过程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验车中不是车辆已交付，而是门店已正式接管取车作业。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00100" y="1695450"/>
            <a:ext cx="2266950" cy="971550"/>
          </a:xfrm>
          <a:prstGeom prst="rect">
            <a:avLst/>
          </a:prstGeom>
          <a:solidFill>
            <a:srgbClr val="E5F2EE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00100" y="1695450"/>
            <a:ext cx="47625" cy="97155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52500" y="18288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身份与资格</a:t>
            </a:r>
            <a:endParaRPr sz="11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52500" y="209550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驾驶证、证件、人证合一、黑名单、行销资格</a:t>
            </a:r>
            <a:endParaRPr sz="79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295650" y="1695450"/>
            <a:ext cx="2266950" cy="971550"/>
          </a:xfrm>
          <a:prstGeom prst="rect">
            <a:avLst/>
          </a:prstGeom>
          <a:solidFill>
            <a:srgbClr val="FFF1D6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295650" y="1695450"/>
            <a:ext cx="47625" cy="9715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448050" y="18288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押金与尾款</a:t>
            </a:r>
            <a:endParaRPr sz="11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448050" y="209550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确认预授权，选择履约担保或转租金，补足尾款</a:t>
            </a:r>
            <a:endParaRPr sz="79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791200" y="1695450"/>
            <a:ext cx="2266950" cy="971550"/>
          </a:xfrm>
          <a:prstGeom prst="rect">
            <a:avLst/>
          </a:prstGeom>
          <a:solidFill>
            <a:srgbClr val="DDF0F8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791200" y="1695450"/>
            <a:ext cx="47625" cy="97155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943600" y="18288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合约与验车</a:t>
            </a:r>
            <a:endParaRPr sz="11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943600" y="209550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合同签署、照片、里程、油量/电量、已有损伤</a:t>
            </a:r>
            <a:endParaRPr sz="79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286750" y="1695450"/>
            <a:ext cx="2266950" cy="971550"/>
          </a:xfrm>
          <a:prstGeom prst="rect">
            <a:avLst/>
          </a:prstGeom>
          <a:solidFill>
            <a:srgbClr val="E3F1F8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286750" y="1695450"/>
            <a:ext cx="47625" cy="97155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439150" y="18288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确认发车</a:t>
            </a:r>
            <a:endParaRPr sz="11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439150" y="209550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订单进入用车中，车辆营运状态更新为租用中</a:t>
            </a:r>
            <a:endParaRPr sz="79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52500" y="3276600"/>
            <a:ext cx="4572000" cy="152400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52500" y="3276600"/>
            <a:ext cx="47625" cy="15240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238250" y="3524250"/>
            <a:ext cx="190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到店人工核验</a:t>
            </a:r>
            <a:endParaRPr sz="150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椭圆 34"/>
          <p:cNvSpPr>
            <a:spLocks noGrp="1"/>
          </p:cNvSpPr>
          <p:nvPr/>
        </p:nvSpPr>
        <p:spPr>
          <a:xfrm>
            <a:off x="1257300" y="4019550"/>
            <a:ext cx="57150" cy="57150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409700" y="3943350"/>
            <a:ext cx="371475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系统基础条件先命中，到店核验只是补充条件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椭圆 36"/>
          <p:cNvSpPr>
            <a:spLocks noGrp="1"/>
          </p:cNvSpPr>
          <p:nvPr/>
        </p:nvSpPr>
        <p:spPr>
          <a:xfrm>
            <a:off x="1257300" y="4276725"/>
            <a:ext cx="57150" cy="57150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409700" y="4200525"/>
            <a:ext cx="371475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核验通过需上传证明文件，最多 3 个附件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椭圆 38"/>
          <p:cNvSpPr>
            <a:spLocks noGrp="1"/>
          </p:cNvSpPr>
          <p:nvPr/>
        </p:nvSpPr>
        <p:spPr>
          <a:xfrm>
            <a:off x="1257300" y="4533900"/>
            <a:ext cx="57150" cy="57150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1409700" y="4457700"/>
            <a:ext cx="371475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核验不通过必须更换方案或不使用优惠，并生成事件快照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115050" y="3276600"/>
            <a:ext cx="4381500" cy="152400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115050" y="3276600"/>
            <a:ext cx="47625" cy="15240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400800" y="3524250"/>
            <a:ext cx="190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异常与中断</a:t>
            </a:r>
            <a:endParaRPr sz="150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椭圆 43"/>
          <p:cNvSpPr>
            <a:spLocks noGrp="1"/>
          </p:cNvSpPr>
          <p:nvPr/>
        </p:nvSpPr>
        <p:spPr>
          <a:xfrm>
            <a:off x="6419850" y="4019550"/>
            <a:ext cx="57150" cy="571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6572250" y="3943350"/>
            <a:ext cx="352425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关闭窗口但未发车：订单保持验车中，草稿和操作锁保留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椭圆 45"/>
          <p:cNvSpPr>
            <a:spLocks noGrp="1"/>
          </p:cNvSpPr>
          <p:nvPr/>
        </p:nvSpPr>
        <p:spPr>
          <a:xfrm>
            <a:off x="6419850" y="4276725"/>
            <a:ext cx="57150" cy="571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6572250" y="4200525"/>
            <a:ext cx="352425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操作锁超时：不自动回退，由有权限人员释放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椭圆 47"/>
          <p:cNvSpPr>
            <a:spLocks noGrp="1"/>
          </p:cNvSpPr>
          <p:nvPr/>
        </p:nvSpPr>
        <p:spPr>
          <a:xfrm>
            <a:off x="6419850" y="4533900"/>
            <a:ext cx="57150" cy="571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6572250" y="4457700"/>
            <a:ext cx="352425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未硬锁车辆、车辆禁用或被管控时禁止发车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0" name="直接箭头连接符 49"/>
          <p:cNvCxnSpPr/>
          <p:nvPr/>
        </p:nvCxnSpPr>
        <p:spPr>
          <a:xfrm>
            <a:off x="3084195" y="2171700"/>
            <a:ext cx="227330" cy="0"/>
          </a:xfrm>
          <a:prstGeom prst="straightConnector1">
            <a:avLst/>
          </a:prstGeom>
          <a:ln>
            <a:solidFill>
              <a:srgbClr val="2D7D6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>
            <a:off x="5563870" y="2171700"/>
            <a:ext cx="227330" cy="0"/>
          </a:xfrm>
          <a:prstGeom prst="straightConnector1">
            <a:avLst/>
          </a:prstGeom>
          <a:ln>
            <a:solidFill>
              <a:srgbClr val="D9770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>
            <a:off x="8058150" y="2171700"/>
            <a:ext cx="227330" cy="0"/>
          </a:xfrm>
          <a:prstGeom prst="straightConnector1">
            <a:avLst/>
          </a:prstGeom>
          <a:ln>
            <a:solidFill>
              <a:srgbClr val="00689E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6438900"/>
            <a:ext cx="8572500" cy="12383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657225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RIMO Rental | 门市租赁业务方案</a:t>
            </a:r>
            <a:endParaRPr sz="67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还车与结算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还车先提交验车进入待结算，再根据差额进入补缴、退款或完成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车辆是否重新可派，不能只看订单是否已验车，还要看订单结算是否完成和车辆是否需要整备。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1676400"/>
            <a:ext cx="223837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42950" y="1676400"/>
            <a:ext cx="47625" cy="142875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52500" y="19240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验车录入</a:t>
            </a:r>
            <a:endParaRPr sz="1350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52500" y="2343150"/>
            <a:ext cx="1714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实际还车时间、里程、油量/电量、车况、归还据点、照片、签字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409950" y="1676400"/>
            <a:ext cx="223837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409950" y="1676400"/>
            <a:ext cx="47625" cy="14287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619500" y="19240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费用结算</a:t>
            </a:r>
            <a:endParaRPr sz="135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619500" y="2343150"/>
            <a:ext cx="1714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超时、超里程、油电补差、异地还车、车损、清洁、减免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76950" y="1676400"/>
            <a:ext cx="223837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076950" y="1676400"/>
            <a:ext cx="47625" cy="142875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286500" y="19240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资金处理</a:t>
            </a:r>
            <a:endParaRPr sz="13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286500" y="2343150"/>
            <a:ext cx="1714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客户补缴、退款、企业月结挂账；账单平衡后确认还车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743950" y="1676400"/>
            <a:ext cx="223837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743950" y="1676400"/>
            <a:ext cx="47625" cy="142875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953500" y="19240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车辆回写</a:t>
            </a:r>
            <a:endParaRPr sz="13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953500" y="2343150"/>
            <a:ext cx="1714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更新最终停放据点；空闲或进入被管控中，禁用车不恢复资格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66800" y="3619500"/>
            <a:ext cx="4381500" cy="131445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066800" y="3619500"/>
            <a:ext cx="47625" cy="13144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333500" y="3867150"/>
            <a:ext cx="819150" cy="228600"/>
          </a:xfrm>
          <a:prstGeom prst="rect">
            <a:avLst/>
          </a:prstGeom>
          <a:solidFill>
            <a:srgbClr val="FFF1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428750" y="3914775"/>
            <a:ext cx="628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客户自付</a:t>
            </a:r>
            <a:endParaRPr sz="75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333500" y="4286250"/>
            <a:ext cx="3619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最终待结金额 = 还车阶段正向费用合计 - 退费项合计 - 已处理金额</a:t>
            </a:r>
            <a:endParaRPr sz="11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333500" y="4724400"/>
            <a:ext cx="361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大于 0 进入待补缴，小于 0 进入待退款，等于 0 才能确认完成。</a:t>
            </a:r>
            <a:endParaRPr sz="94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191250" y="3619500"/>
            <a:ext cx="4000500" cy="131445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191250" y="3619500"/>
            <a:ext cx="47625" cy="131445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457950" y="3867150"/>
            <a:ext cx="819150" cy="228600"/>
          </a:xfrm>
          <a:prstGeom prst="rect">
            <a:avLst/>
          </a:prstGeom>
          <a:solidFill>
            <a:srgbClr val="E5F2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553200" y="3914775"/>
            <a:ext cx="628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企业月结</a:t>
            </a:r>
            <a:endParaRPr sz="750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457950" y="4286250"/>
            <a:ext cx="31432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最终应收确认后直接生成企业月结挂账，订单不进入个人补缴或退款链路。</a:t>
            </a:r>
            <a:endParaRPr sz="11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457950" y="4857750"/>
            <a:ext cx="3143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完成后事故、违章或追缴费用也按企业月结费用处理。</a:t>
            </a:r>
            <a:endParaRPr sz="94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6438900"/>
            <a:ext cx="8572500" cy="12383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657225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RIMO Rental | 门市租赁业务方案</a:t>
            </a:r>
            <a:endParaRPr sz="67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智能调度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调度目标是把车组承诺落实成一台可交付车辆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本期调度只在同车行范围内闭环；跨车行派车、改派、转单和库存共享不纳入本期。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1200150" y="1943100"/>
            <a:ext cx="457200" cy="457200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r>
              <a:rPr lang="en-US" altLang="zh-CN" sz="1600">
                <a:solidFill>
                  <a:schemeClr val="bg1"/>
                </a:solidFill>
              </a:rPr>
              <a:t>1</a:t>
            </a:r>
            <a:endParaRPr lang="en-US" altLang="zh-CN" sz="1600">
              <a:solidFill>
                <a:schemeClr val="bg1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25336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订单创建</a:t>
            </a:r>
            <a:endParaRPr sz="11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66750" y="2819400"/>
            <a:ext cx="152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锁定车组库存</a:t>
            </a:r>
            <a:endParaRPr sz="86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752600" y="2162175"/>
            <a:ext cx="1352550" cy="1905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3295650" y="1943100"/>
            <a:ext cx="457200" cy="457200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r>
              <a:rPr lang="en-US" altLang="zh-CN" sz="1600">
                <a:solidFill>
                  <a:schemeClr val="bg1"/>
                </a:solidFill>
              </a:rPr>
              <a:t>2</a:t>
            </a:r>
            <a:endParaRPr lang="en-US" altLang="zh-CN" sz="1600">
              <a:solidFill>
                <a:schemeClr val="bg1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952750" y="25336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周期优化</a:t>
            </a:r>
            <a:endParaRPr sz="11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762250" y="2819400"/>
            <a:ext cx="152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每日自动生成预分配</a:t>
            </a:r>
            <a:endParaRPr sz="86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848100" y="2162175"/>
            <a:ext cx="1352550" cy="1905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5391150" y="1943100"/>
            <a:ext cx="457200" cy="45720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r>
              <a:rPr lang="en-US" altLang="zh-CN" sz="1600">
                <a:solidFill>
                  <a:schemeClr val="bg1"/>
                </a:solidFill>
              </a:rPr>
              <a:t>3</a:t>
            </a:r>
            <a:endParaRPr lang="en-US" altLang="zh-CN" sz="1600">
              <a:solidFill>
                <a:schemeClr val="bg1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048250" y="25336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手动优化</a:t>
            </a:r>
            <a:endParaRPr sz="11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857750" y="2819400"/>
            <a:ext cx="152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调度员预览并确认应用</a:t>
            </a:r>
            <a:endParaRPr sz="86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943600" y="2162175"/>
            <a:ext cx="1352550" cy="1905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7486650" y="1943100"/>
            <a:ext cx="457200" cy="457200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r>
              <a:rPr lang="en-US" altLang="zh-CN" sz="1600">
                <a:solidFill>
                  <a:schemeClr val="bg1"/>
                </a:solidFill>
              </a:rPr>
              <a:t>4</a:t>
            </a:r>
            <a:endParaRPr lang="en-US" altLang="zh-CN" sz="1600">
              <a:solidFill>
                <a:schemeClr val="bg1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143750" y="25336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硬锁定</a:t>
            </a:r>
            <a:endParaRPr sz="11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953250" y="2819400"/>
            <a:ext cx="152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取车前复核并绑定车牌</a:t>
            </a:r>
            <a:endParaRPr sz="86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039100" y="2162175"/>
            <a:ext cx="1352550" cy="1905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椭圆 25"/>
          <p:cNvSpPr>
            <a:spLocks noGrp="1"/>
          </p:cNvSpPr>
          <p:nvPr/>
        </p:nvSpPr>
        <p:spPr>
          <a:xfrm>
            <a:off x="9582150" y="1943100"/>
            <a:ext cx="457200" cy="457200"/>
          </a:xfrm>
          <a:prstGeom prst="ellipse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r>
              <a:rPr lang="en-US" altLang="zh-CN" sz="1600">
                <a:solidFill>
                  <a:schemeClr val="bg1"/>
                </a:solidFill>
              </a:rPr>
              <a:t>5</a:t>
            </a:r>
            <a:endParaRPr lang="en-US" altLang="zh-CN" sz="1600">
              <a:solidFill>
                <a:schemeClr val="bg1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239250" y="25336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人工调度</a:t>
            </a:r>
            <a:endParaRPr sz="11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048750" y="2819400"/>
            <a:ext cx="152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无车或失败进入人工队列</a:t>
            </a:r>
            <a:endParaRPr sz="86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19150" y="3733800"/>
            <a:ext cx="3143250" cy="140970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19150" y="3733800"/>
            <a:ext cx="47625" cy="14097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066800" y="3962400"/>
            <a:ext cx="819150" cy="228600"/>
          </a:xfrm>
          <a:prstGeom prst="rect">
            <a:avLst/>
          </a:prstGeom>
          <a:solidFill>
            <a:srgbClr val="DDF0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162050" y="4010025"/>
            <a:ext cx="628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算法原则</a:t>
            </a:r>
            <a:endParaRPr sz="7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66800" y="4343400"/>
            <a:ext cx="24574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先处理高价值订单，再从合法候选车中选择评分最低车辆；每分配一单后立即模拟更新车辆营收、里程和时间占用。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514850" y="3733800"/>
            <a:ext cx="3143250" cy="140970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514850" y="3733800"/>
            <a:ext cx="47625" cy="14097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4762500" y="3962400"/>
            <a:ext cx="933450" cy="228600"/>
          </a:xfrm>
          <a:prstGeom prst="rect">
            <a:avLst/>
          </a:prstGeom>
          <a:solidFill>
            <a:srgbClr val="FFF1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4857750" y="4010025"/>
            <a:ext cx="7429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候选车过滤</a:t>
            </a:r>
            <a:endParaRPr sz="75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762500" y="4343400"/>
            <a:ext cx="24574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车组、取车门市可交付范围、启用状态、营运状态、证照保险、时间窗和 60 分钟整备缓冲必须先通过。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210550" y="3733800"/>
            <a:ext cx="2857500" cy="140970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8210550" y="3733800"/>
            <a:ext cx="47625" cy="14097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458200" y="3962400"/>
            <a:ext cx="819150" cy="228600"/>
          </a:xfrm>
          <a:prstGeom prst="rect">
            <a:avLst/>
          </a:prstGeom>
          <a:solidFill>
            <a:srgbClr val="FEED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553450" y="4010025"/>
            <a:ext cx="628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保护规则</a:t>
            </a:r>
            <a:endParaRPr sz="75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458200" y="4343400"/>
            <a:ext cx="21907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已硬锁、人工改派、免费升等、临近取车保护订单不被批量优化覆盖，只能按权限人工处理。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6438900"/>
            <a:ext cx="8572500" cy="12383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657225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RIMO Rental | 门市租赁业务方案</a:t>
            </a:r>
            <a:endParaRPr sz="67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调度分析 Agent</a:t>
            </a:r>
            <a:r>
              <a:rPr lang="zh-CN"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（扩展性可选</a:t>
            </a:r>
            <a:r>
              <a:rPr lang="zh-CN"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能力）</a:t>
            </a:r>
            <a:endParaRPr lang="zh-CN"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是调度分析层，不是绕过系统规则的自动派车器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租户使用自有模型 Key，平台负责提示词、数据包、模型调用、结果解析、硬约束校验和日志审计。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52450" y="1638300"/>
            <a:ext cx="1952625" cy="22669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52450" y="1638300"/>
            <a:ext cx="47625" cy="226695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1943100"/>
            <a:ext cx="304800" cy="30480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762000" y="240030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租户模型配置</a:t>
            </a:r>
            <a:endParaRPr sz="1200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2000" y="2819400"/>
            <a:ext cx="14478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模型提供商、Base URL、模型名称、API Key 掩码保存和连接测试</a:t>
            </a:r>
            <a:endParaRPr sz="86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505075" y="2743200"/>
            <a:ext cx="285750" cy="1905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790825" y="1638300"/>
            <a:ext cx="1952625" cy="22669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790825" y="1638300"/>
            <a:ext cx="47625" cy="22669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00375" y="1943100"/>
            <a:ext cx="304800" cy="304800"/>
          </a:xfrm>
          <a:prstGeom prst="rect">
            <a:avLst/>
          </a:prstGeom>
        </p:spPr>
      </p:pic>
      <p:sp>
        <p:nvSpPr>
          <p:cNvPr id="19" name="矩形 18"/>
          <p:cNvSpPr>
            <a:spLocks noGrp="1"/>
          </p:cNvSpPr>
          <p:nvPr/>
        </p:nvSpPr>
        <p:spPr>
          <a:xfrm>
            <a:off x="3000375" y="240030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提示词配置文件</a:t>
            </a:r>
            <a:endParaRPr sz="120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000375" y="2819400"/>
            <a:ext cx="14478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平台维护默认提示词，支持租户专属提示词；租户命中专属版，否则使用默认版</a:t>
            </a:r>
            <a:endParaRPr sz="86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743450" y="2743200"/>
            <a:ext cx="285750" cy="1905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029200" y="1638300"/>
            <a:ext cx="1952625" cy="22669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029200" y="1638300"/>
            <a:ext cx="47625" cy="226695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8750" y="1943100"/>
            <a:ext cx="304800" cy="304800"/>
          </a:xfrm>
          <a:prstGeom prst="rect">
            <a:avLst/>
          </a:prstGeom>
        </p:spPr>
      </p:pic>
      <p:sp>
        <p:nvSpPr>
          <p:cNvPr id="25" name="矩形 24"/>
          <p:cNvSpPr>
            <a:spLocks noGrp="1"/>
          </p:cNvSpPr>
          <p:nvPr/>
        </p:nvSpPr>
        <p:spPr>
          <a:xfrm>
            <a:off x="5238750" y="240030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调度数据包</a:t>
            </a:r>
            <a:endParaRPr sz="12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238750" y="2819400"/>
            <a:ext cx="14478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订单、车辆、排程、候选池、基线方案、风险信号；不提交手机号、证件号、支付资料</a:t>
            </a:r>
            <a:endParaRPr sz="86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981825" y="2743200"/>
            <a:ext cx="285750" cy="1905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267575" y="1638300"/>
            <a:ext cx="1952625" cy="22669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267575" y="1638300"/>
            <a:ext cx="47625" cy="226695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77125" y="1943100"/>
            <a:ext cx="304800" cy="304800"/>
          </a:xfrm>
          <a:prstGeom prst="rect">
            <a:avLst/>
          </a:prstGeom>
        </p:spPr>
      </p:pic>
      <p:sp>
        <p:nvSpPr>
          <p:cNvPr id="31" name="矩形 30"/>
          <p:cNvSpPr>
            <a:spLocks noGrp="1"/>
          </p:cNvSpPr>
          <p:nvPr/>
        </p:nvSpPr>
        <p:spPr>
          <a:xfrm>
            <a:off x="7477125" y="240030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分析结果</a:t>
            </a:r>
            <a:endParaRPr sz="12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477125" y="2819400"/>
            <a:ext cx="14478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风险诊断、推荐动作、基线差异、信心等级和人工确认标记</a:t>
            </a:r>
            <a:endParaRPr sz="86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220200" y="2743200"/>
            <a:ext cx="285750" cy="1905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9505950" y="1638300"/>
            <a:ext cx="1952625" cy="22669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505950" y="1638300"/>
            <a:ext cx="47625" cy="22669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15500" y="1943100"/>
            <a:ext cx="304800" cy="304800"/>
          </a:xfrm>
          <a:prstGeom prst="rect">
            <a:avLst/>
          </a:prstGeom>
        </p:spPr>
      </p:pic>
      <p:sp>
        <p:nvSpPr>
          <p:cNvPr id="37" name="矩形 36"/>
          <p:cNvSpPr>
            <a:spLocks noGrp="1"/>
          </p:cNvSpPr>
          <p:nvPr/>
        </p:nvSpPr>
        <p:spPr>
          <a:xfrm>
            <a:off x="9715500" y="240030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系统二次校验</a:t>
            </a:r>
            <a:endParaRPr sz="120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9715500" y="2819400"/>
            <a:ext cx="14478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同车行、车组、状态、时间窗、人工保护、权限校验通过后才可应用</a:t>
            </a:r>
            <a:endParaRPr sz="86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143000" y="4362450"/>
            <a:ext cx="4381500" cy="95250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1143000" y="4362450"/>
            <a:ext cx="47625" cy="9525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409700" y="4591050"/>
            <a:ext cx="819150" cy="228600"/>
          </a:xfrm>
          <a:prstGeom prst="rect">
            <a:avLst/>
          </a:prstGeom>
          <a:solidFill>
            <a:srgbClr val="DDF0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1504950" y="4638675"/>
            <a:ext cx="628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请求日志</a:t>
            </a:r>
            <a:endParaRPr sz="7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409700" y="4972050"/>
            <a:ext cx="3562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调度弹窗展示本次实际提交给模型的完整提示词和请求数据；系统规则页展示历史调用日志。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096000" y="4362450"/>
            <a:ext cx="4095750" cy="952500"/>
          </a:xfrm>
          <a:prstGeom prst="rect">
            <a:avLst/>
          </a:prstGeom>
          <a:solidFill>
            <a:srgbClr val="FFF1D6"/>
          </a:solidFill>
          <a:ln w="9525">
            <a:solidFill>
              <a:srgbClr val="F2D8A2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6362700" y="4591050"/>
            <a:ext cx="819150" cy="228600"/>
          </a:xfrm>
          <a:prstGeom prst="rect">
            <a:avLst/>
          </a:prstGeom>
          <a:solidFill>
            <a:srgbClr val="FFF8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6457950" y="4638675"/>
            <a:ext cx="628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初版边界</a:t>
            </a:r>
            <a:endParaRPr sz="75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6362700" y="4972050"/>
            <a:ext cx="3257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不直接修改订单、车辆或排程；不做多轮聊天、不自动学习、不自动修改调度规则。</a:t>
            </a:r>
            <a:endParaRPr sz="975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6438900"/>
            <a:ext cx="8572500" cy="12383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657225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RIMO Rental | 门市租赁业务方案</a:t>
            </a:r>
            <a:endParaRPr sz="67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站点与服务能力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车行、门市、据点是履约边界，服务能力决定可开放业务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门市租赁既要服务客户选择，也要服务车辆备车、归位、调度和自助取还车指引。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66800" y="1714500"/>
            <a:ext cx="2381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66800" y="1714500"/>
            <a:ext cx="47625" cy="1047750"/>
          </a:xfrm>
          <a:prstGeom prst="rect">
            <a:avLst/>
          </a:prstGeom>
          <a:solidFill>
            <a:srgbClr val="304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95400" y="1943100"/>
            <a:ext cx="857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车行</a:t>
            </a:r>
            <a:endParaRPr sz="1650" b="1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295400" y="2343150"/>
            <a:ext cx="1752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资产归属、组织权限、报表口径</a:t>
            </a:r>
            <a:endParaRPr sz="94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448050" y="2228850"/>
            <a:ext cx="571500" cy="1905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019550" y="1714500"/>
            <a:ext cx="2381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019550" y="1714500"/>
            <a:ext cx="47625" cy="104775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248150" y="1943100"/>
            <a:ext cx="857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门市</a:t>
            </a:r>
            <a:endParaRPr sz="1650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248150" y="2343150"/>
            <a:ext cx="1752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客户服务和门店作业层级</a:t>
            </a:r>
            <a:endParaRPr sz="94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400800" y="2228850"/>
            <a:ext cx="571500" cy="1905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972300" y="1714500"/>
            <a:ext cx="2381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972300" y="1714500"/>
            <a:ext cx="47625" cy="104775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200900" y="1943100"/>
            <a:ext cx="857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据点</a:t>
            </a:r>
            <a:endParaRPr sz="16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200900" y="2343150"/>
            <a:ext cx="1752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实际停车、自助取还、备车归还位置</a:t>
            </a:r>
            <a:endParaRPr sz="94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95350" y="3333750"/>
            <a:ext cx="4762500" cy="142875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95350" y="3333750"/>
            <a:ext cx="47625" cy="142875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181100" y="3562350"/>
            <a:ext cx="819150" cy="228600"/>
          </a:xfrm>
          <a:prstGeom prst="rect">
            <a:avLst/>
          </a:prstGeom>
          <a:solidFill>
            <a:srgbClr val="E5F2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276350" y="3609975"/>
            <a:ext cx="628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门市租车</a:t>
            </a:r>
            <a:endParaRPr sz="750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181100" y="3943350"/>
            <a:ext cx="38862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客户面向门市，不直接选择停车场据点。车辆仍挂在具体据点，门店根据车辆所在据点备车，还车后登记最终归还据点。</a:t>
            </a:r>
            <a:endParaRPr sz="105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48400" y="3333750"/>
            <a:ext cx="4476750" cy="142875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248400" y="3333750"/>
            <a:ext cx="47625" cy="142875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534150" y="3562350"/>
            <a:ext cx="1028700" cy="228600"/>
          </a:xfrm>
          <a:prstGeom prst="rect">
            <a:avLst/>
          </a:prstGeom>
          <a:solidFill>
            <a:srgbClr val="DDF0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629400" y="3609975"/>
            <a:ext cx="838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 小时自助</a:t>
            </a:r>
            <a:endParaRPr sz="7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534150" y="3943350"/>
            <a:ext cx="36385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客户面向具体自助据点，APP 需展示地址、导航、车位指引、车机条件和取还规则。</a:t>
            </a:r>
            <a:endParaRPr sz="105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2152650" y="5086350"/>
            <a:ext cx="7239000" cy="438150"/>
          </a:xfrm>
          <a:prstGeom prst="rect">
            <a:avLst/>
          </a:prstGeom>
          <a:solidFill>
            <a:srgbClr val="FFF1D6"/>
          </a:solidFill>
          <a:ln w="9525">
            <a:solidFill>
              <a:srgbClr val="F2D8A2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2419350" y="5200650"/>
            <a:ext cx="666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站点关闭或服务暂停后，本期不自动改站、不自动转单、不自动取消；只提示联系客服，由人工处理。</a:t>
            </a:r>
            <a:endParaRPr sz="1015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6438900"/>
            <a:ext cx="8572500" cy="12383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657225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RIMO Rental | 门市租赁业务方案</a:t>
            </a:r>
            <a:endParaRPr sz="67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后台能力地图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门市租赁不是单一页面，而是一组互相咬合的营运能力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订单页面只是业务入口，真正闭环依赖规则、价格、站点、调度、费用和企业账单共同支撑。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1714500"/>
            <a:ext cx="30480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23900" y="1714500"/>
            <a:ext cx="47625" cy="121920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52500" y="19240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订单中心</a:t>
            </a:r>
            <a:endParaRPr sz="1500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52500" y="2305050"/>
            <a:ext cx="2381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新建订单、订单列表、订单详情、取还车、续租、取消、事故、追缴</a:t>
            </a:r>
            <a:endParaRPr sz="94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248150" y="1714500"/>
            <a:ext cx="30480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248150" y="1714500"/>
            <a:ext cx="47625" cy="12192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476750" y="19240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规则中心</a:t>
            </a:r>
            <a:endParaRPr sz="150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476750" y="2305050"/>
            <a:ext cx="2381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预授权、待支付保留、操作锁、取消爽约、超时、续租、调度权重</a:t>
            </a:r>
            <a:endParaRPr sz="94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772400" y="1714500"/>
            <a:ext cx="30480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772400" y="1714500"/>
            <a:ext cx="47625" cy="12192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001000" y="19240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价格与行销</a:t>
            </a:r>
            <a:endParaRPr sz="15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001000" y="2305050"/>
            <a:ext cx="2381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车组标准价、动态调价、行销方案、到店核验、增值服务</a:t>
            </a:r>
            <a:endParaRPr sz="94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23900" y="3333750"/>
            <a:ext cx="30480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23900" y="3333750"/>
            <a:ext cx="47625" cy="12192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52500" y="35433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站点与车辆</a:t>
            </a:r>
            <a:endParaRPr sz="15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52500" y="3924300"/>
            <a:ext cx="2381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车行/门市/据点、服务能力、车辆状态、当前位置、车机能力</a:t>
            </a:r>
            <a:endParaRPr sz="94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248150" y="3333750"/>
            <a:ext cx="30480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248150" y="3333750"/>
            <a:ext cx="47625" cy="12192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476750" y="35433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调度看板</a:t>
            </a:r>
            <a:endParaRPr sz="150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476750" y="3924300"/>
            <a:ext cx="2381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预分配、硬锁、手动优化、AI 分析、人工调度队列</a:t>
            </a:r>
            <a:endParaRPr sz="94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772400" y="3333750"/>
            <a:ext cx="30480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772400" y="3333750"/>
            <a:ext cx="47625" cy="1219200"/>
          </a:xfrm>
          <a:prstGeom prst="rect">
            <a:avLst/>
          </a:prstGeom>
          <a:solidFill>
            <a:srgbClr val="304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001000" y="35433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费用与企业</a:t>
            </a:r>
            <a:endParaRPr sz="1500" b="1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001000" y="3924300"/>
            <a:ext cx="2381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费用中心、资金记录、企业月结、账单挂账、操作审计</a:t>
            </a:r>
            <a:endParaRPr sz="94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790700" y="5219700"/>
            <a:ext cx="7962900" cy="43815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2095500" y="5334000"/>
            <a:ext cx="742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1">
                <a:solidFill>
                  <a:srgbClr val="0B2F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0B2F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开发交付时需要按模块联调：订单状态、费用结果、车辆状态、站点权限、调度结果和企业月结必须保持同一口径。</a:t>
            </a:r>
            <a:endParaRPr sz="1015" b="1">
              <a:solidFill>
                <a:srgbClr val="0B2F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6438900"/>
            <a:ext cx="8572500" cy="12383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657225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RIMO Rental | 门市租赁业务方案</a:t>
            </a:r>
            <a:endParaRPr sz="67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本期边界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先把同车行范围内的主链路做完整，复杂跨组织能力后置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边界收窄不是功能缺失，而是确保门市租赁第一版能稳定交付、准确计费、可追溯。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62000" y="1638300"/>
            <a:ext cx="47625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1638300"/>
            <a:ext cx="47625" cy="34290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47750" y="1905000"/>
            <a:ext cx="876300" cy="228600"/>
          </a:xfrm>
          <a:prstGeom prst="rect">
            <a:avLst/>
          </a:prstGeom>
          <a:solidFill>
            <a:srgbClr val="FEED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43000" y="1952625"/>
            <a:ext cx="685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本期不做</a:t>
            </a:r>
            <a:endParaRPr sz="75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1066800" y="2457450"/>
            <a:ext cx="57150" cy="57150"/>
          </a:xfrm>
          <a:prstGeom prst="ellipse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219200" y="2381250"/>
            <a:ext cx="379095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跨车行自动派车、人工改派、转单和还车</a:t>
            </a:r>
            <a:endParaRPr sz="101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1066800" y="2847975"/>
            <a:ext cx="57150" cy="57150"/>
          </a:xfrm>
          <a:prstGeom prst="ellipse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219200" y="2771775"/>
            <a:ext cx="379095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门市或据点关闭后的自动改站、自动转单、自动取消</a:t>
            </a:r>
            <a:endParaRPr sz="101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1066800" y="3238500"/>
            <a:ext cx="57150" cy="57150"/>
          </a:xfrm>
          <a:prstGeom prst="ellipse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219200" y="3162300"/>
            <a:ext cx="379095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统一排程中心的全业务线占用联动</a:t>
            </a:r>
            <a:endParaRPr sz="101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1066800" y="3629025"/>
            <a:ext cx="57150" cy="57150"/>
          </a:xfrm>
          <a:prstGeom prst="ellipse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219200" y="3552825"/>
            <a:ext cx="379095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审批流和复杂自动化客服兜底</a:t>
            </a:r>
            <a:endParaRPr sz="101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1066800" y="4019550"/>
            <a:ext cx="57150" cy="57150"/>
          </a:xfrm>
          <a:prstGeom prst="ellipse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219200" y="3943350"/>
            <a:ext cx="379095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自动执行排程、自动学习或自动修改调度规则</a:t>
            </a:r>
            <a:endParaRPr sz="101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191250" y="16383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191250" y="1638300"/>
            <a:ext cx="47625" cy="342900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477000" y="1905000"/>
            <a:ext cx="1066800" cy="228600"/>
          </a:xfrm>
          <a:prstGeom prst="rect">
            <a:avLst/>
          </a:prstGeom>
          <a:solidFill>
            <a:srgbClr val="E5F2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572250" y="1952625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本期必须闭合</a:t>
            </a:r>
            <a:endParaRPr sz="750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6496050" y="2457450"/>
            <a:ext cx="57150" cy="57150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648450" y="2381250"/>
            <a:ext cx="363855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按车组预约，取车前硬锁具体车辆</a:t>
            </a:r>
            <a:endParaRPr sz="101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6496050" y="2847975"/>
            <a:ext cx="57150" cy="57150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648450" y="2771775"/>
            <a:ext cx="363855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个人、企业非月结、企业月结三种资金链路</a:t>
            </a:r>
            <a:endParaRPr sz="101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6496050" y="3238500"/>
            <a:ext cx="57150" cy="57150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648450" y="3162300"/>
            <a:ext cx="363855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取车、还车、续租、改派、事故、追缴全流程费用中心</a:t>
            </a:r>
            <a:endParaRPr sz="101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椭圆 33"/>
          <p:cNvSpPr>
            <a:spLocks noGrp="1"/>
          </p:cNvSpPr>
          <p:nvPr/>
        </p:nvSpPr>
        <p:spPr>
          <a:xfrm>
            <a:off x="6496050" y="3629025"/>
            <a:ext cx="57150" cy="57150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648450" y="3552825"/>
            <a:ext cx="363855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订单基线快照 + 事件增量快照</a:t>
            </a:r>
            <a:endParaRPr sz="101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椭圆 35"/>
          <p:cNvSpPr>
            <a:spLocks noGrp="1"/>
          </p:cNvSpPr>
          <p:nvPr/>
        </p:nvSpPr>
        <p:spPr>
          <a:xfrm>
            <a:off x="6496050" y="4019550"/>
            <a:ext cx="57150" cy="57150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648450" y="3943350"/>
            <a:ext cx="363855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站点、车辆、订单、派车四类状态清楚分离</a:t>
            </a:r>
            <a:endParaRPr sz="101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6438900"/>
            <a:ext cx="8572500" cy="12383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657225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RIMO Rental | 门市租赁业务方案</a:t>
            </a:r>
            <a:endParaRPr sz="67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实施优先级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第一版按“可下单、可履约、可结算、可追溯”组织交付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门市租赁模块多，实施时需要先做稳定主链路，再逐步增加智能化和复杂异常能力。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1695450"/>
            <a:ext cx="2247900" cy="32194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1695450"/>
            <a:ext cx="47625" cy="321945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09650" y="1943100"/>
            <a:ext cx="742950" cy="228600"/>
          </a:xfrm>
          <a:prstGeom prst="rect">
            <a:avLst/>
          </a:prstGeom>
          <a:solidFill>
            <a:srgbClr val="E5F2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04900" y="1990725"/>
            <a:ext cx="552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 1</a:t>
            </a:r>
            <a:endParaRPr sz="750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09650" y="2343150"/>
            <a:ext cx="152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 主链路</a:t>
            </a:r>
            <a:endParaRPr sz="1500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1047750" y="2914650"/>
            <a:ext cx="66675" cy="66675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200150" y="28384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新建订单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1047750" y="3238500"/>
            <a:ext cx="66675" cy="66675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200150" y="31623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订单列表/详情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1047750" y="3562350"/>
            <a:ext cx="66675" cy="66675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200150" y="34861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取车/还车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1047750" y="3886200"/>
            <a:ext cx="66675" cy="66675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200150" y="3810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费用中心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1047750" y="4210050"/>
            <a:ext cx="66675" cy="66675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200150" y="41338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企业月结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429000" y="1695450"/>
            <a:ext cx="2247900" cy="32194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3429000" y="1695450"/>
            <a:ext cx="47625" cy="321945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3657600" y="1943100"/>
            <a:ext cx="742950" cy="228600"/>
          </a:xfrm>
          <a:prstGeom prst="rect">
            <a:avLst/>
          </a:prstGeom>
          <a:solidFill>
            <a:srgbClr val="E5F2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3752850" y="1990725"/>
            <a:ext cx="552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 2</a:t>
            </a:r>
            <a:endParaRPr sz="7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657600" y="2343150"/>
            <a:ext cx="152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 支撑配置</a:t>
            </a:r>
            <a:endParaRPr sz="15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3695700" y="2914650"/>
            <a:ext cx="66675" cy="66675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3848100" y="28384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车组定价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3695700" y="3238500"/>
            <a:ext cx="66675" cy="66675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3848100" y="31623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租赁业务规则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椭圆 33"/>
          <p:cNvSpPr>
            <a:spLocks noGrp="1"/>
          </p:cNvSpPr>
          <p:nvPr/>
        </p:nvSpPr>
        <p:spPr>
          <a:xfrm>
            <a:off x="3695700" y="3562350"/>
            <a:ext cx="66675" cy="66675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3848100" y="34861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行销方案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椭圆 35"/>
          <p:cNvSpPr>
            <a:spLocks noGrp="1"/>
          </p:cNvSpPr>
          <p:nvPr/>
        </p:nvSpPr>
        <p:spPr>
          <a:xfrm>
            <a:off x="3695700" y="3886200"/>
            <a:ext cx="66675" cy="66675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3848100" y="3810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增值服务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椭圆 37"/>
          <p:cNvSpPr>
            <a:spLocks noGrp="1"/>
          </p:cNvSpPr>
          <p:nvPr/>
        </p:nvSpPr>
        <p:spPr>
          <a:xfrm>
            <a:off x="3695700" y="4210050"/>
            <a:ext cx="66675" cy="66675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3848100" y="41338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站点服务能力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076950" y="1695450"/>
            <a:ext cx="2247900" cy="32194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076950" y="1695450"/>
            <a:ext cx="47625" cy="32194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305550" y="1943100"/>
            <a:ext cx="742950" cy="228600"/>
          </a:xfrm>
          <a:prstGeom prst="rect">
            <a:avLst/>
          </a:prstGeom>
          <a:solidFill>
            <a:srgbClr val="EEF6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400800" y="1990725"/>
            <a:ext cx="552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 3</a:t>
            </a:r>
            <a:endParaRPr sz="75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305550" y="2343150"/>
            <a:ext cx="152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P1 调度增强</a:t>
            </a:r>
            <a:endParaRPr sz="150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椭圆 44"/>
          <p:cNvSpPr>
            <a:spLocks noGrp="1"/>
          </p:cNvSpPr>
          <p:nvPr/>
        </p:nvSpPr>
        <p:spPr>
          <a:xfrm>
            <a:off x="6343650" y="2914650"/>
            <a:ext cx="66675" cy="66675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6496050" y="28384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周期优化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椭圆 46"/>
          <p:cNvSpPr>
            <a:spLocks noGrp="1"/>
          </p:cNvSpPr>
          <p:nvPr/>
        </p:nvSpPr>
        <p:spPr>
          <a:xfrm>
            <a:off x="6343650" y="3238500"/>
            <a:ext cx="66675" cy="66675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6496050" y="31623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手动优化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椭圆 48"/>
          <p:cNvSpPr>
            <a:spLocks noGrp="1"/>
          </p:cNvSpPr>
          <p:nvPr/>
        </p:nvSpPr>
        <p:spPr>
          <a:xfrm>
            <a:off x="6343650" y="3562350"/>
            <a:ext cx="66675" cy="66675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6496050" y="34861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硬锁复核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椭圆 50"/>
          <p:cNvSpPr>
            <a:spLocks noGrp="1"/>
          </p:cNvSpPr>
          <p:nvPr/>
        </p:nvSpPr>
        <p:spPr>
          <a:xfrm>
            <a:off x="6343650" y="3886200"/>
            <a:ext cx="66675" cy="66675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6496050" y="3810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人工调度队列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椭圆 52"/>
          <p:cNvSpPr>
            <a:spLocks noGrp="1"/>
          </p:cNvSpPr>
          <p:nvPr/>
        </p:nvSpPr>
        <p:spPr>
          <a:xfrm>
            <a:off x="6343650" y="4210050"/>
            <a:ext cx="66675" cy="66675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6496050" y="41338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分析日志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8724900" y="1695450"/>
            <a:ext cx="2247900" cy="32194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8724900" y="1695450"/>
            <a:ext cx="47625" cy="3219450"/>
          </a:xfrm>
          <a:prstGeom prst="rect">
            <a:avLst/>
          </a:prstGeom>
          <a:solidFill>
            <a:srgbClr val="304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8953500" y="1943100"/>
            <a:ext cx="742950" cy="228600"/>
          </a:xfrm>
          <a:prstGeom prst="rect">
            <a:avLst/>
          </a:prstGeom>
          <a:solidFill>
            <a:srgbClr val="EEF6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9048750" y="1990725"/>
            <a:ext cx="552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 4</a:t>
            </a:r>
            <a:endParaRPr sz="750" b="1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8953500" y="2343150"/>
            <a:ext cx="152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P2 扩展能力</a:t>
            </a:r>
            <a:endParaRPr sz="1500" b="1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椭圆 59"/>
          <p:cNvSpPr>
            <a:spLocks noGrp="1"/>
          </p:cNvSpPr>
          <p:nvPr/>
        </p:nvSpPr>
        <p:spPr>
          <a:xfrm>
            <a:off x="8991600" y="2914650"/>
            <a:ext cx="66675" cy="66675"/>
          </a:xfrm>
          <a:prstGeom prst="ellipse">
            <a:avLst/>
          </a:prstGeom>
          <a:solidFill>
            <a:srgbClr val="304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9144000" y="28384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跨车行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椭圆 61"/>
          <p:cNvSpPr>
            <a:spLocks noGrp="1"/>
          </p:cNvSpPr>
          <p:nvPr/>
        </p:nvSpPr>
        <p:spPr>
          <a:xfrm>
            <a:off x="8991600" y="3238500"/>
            <a:ext cx="66675" cy="66675"/>
          </a:xfrm>
          <a:prstGeom prst="ellipse">
            <a:avLst/>
          </a:prstGeom>
          <a:solidFill>
            <a:srgbClr val="304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9144000" y="31623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统一排程中心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椭圆 63"/>
          <p:cNvSpPr>
            <a:spLocks noGrp="1"/>
          </p:cNvSpPr>
          <p:nvPr/>
        </p:nvSpPr>
        <p:spPr>
          <a:xfrm>
            <a:off x="8991600" y="3562350"/>
            <a:ext cx="66675" cy="66675"/>
          </a:xfrm>
          <a:prstGeom prst="ellipse">
            <a:avLst/>
          </a:prstGeom>
          <a:solidFill>
            <a:srgbClr val="304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9144000" y="34861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自动改站转单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椭圆 65"/>
          <p:cNvSpPr>
            <a:spLocks noGrp="1"/>
          </p:cNvSpPr>
          <p:nvPr/>
        </p:nvSpPr>
        <p:spPr>
          <a:xfrm>
            <a:off x="8991600" y="3886200"/>
            <a:ext cx="66675" cy="66675"/>
          </a:xfrm>
          <a:prstGeom prst="ellipse">
            <a:avLst/>
          </a:prstGeom>
          <a:solidFill>
            <a:srgbClr val="304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9144000" y="3810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审批流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椭圆 67"/>
          <p:cNvSpPr>
            <a:spLocks noGrp="1"/>
          </p:cNvSpPr>
          <p:nvPr/>
        </p:nvSpPr>
        <p:spPr>
          <a:xfrm>
            <a:off x="8991600" y="4210050"/>
            <a:ext cx="66675" cy="66675"/>
          </a:xfrm>
          <a:prstGeom prst="ellipse">
            <a:avLst/>
          </a:prstGeom>
          <a:solidFill>
            <a:srgbClr val="304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9144000" y="41338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策略报表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1809750" y="5257800"/>
            <a:ext cx="7715250" cy="45720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2095500" y="5381625"/>
            <a:ext cx="723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1">
                <a:solidFill>
                  <a:srgbClr val="0B2F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0B2F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验收重点不是单页能点通，而是状态、费用、车辆、站点、权限、快照和操作记录在跨流程中保持一致。</a:t>
            </a:r>
            <a:endParaRPr sz="1015" b="1">
              <a:solidFill>
                <a:srgbClr val="0B2F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6438900"/>
            <a:ext cx="8572500" cy="12383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657225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RIMO Rental | 门市租赁业务方案</a:t>
            </a:r>
            <a:endParaRPr sz="67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4850" y="781050"/>
            <a:ext cx="72390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门市租赁第一版的交付目标</a:t>
            </a:r>
            <a:endParaRPr sz="31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86690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让营运商能够以同一套后台能力，同时经营有人服务门市租车和 24 小时自助租车，并保证订单、车辆、费用和历史追溯可闭环。</a:t>
            </a:r>
            <a:endParaRPr sz="13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19150" y="3162300"/>
            <a:ext cx="21717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19150" y="3162300"/>
            <a:ext cx="47625" cy="123825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47750" y="3409950"/>
            <a:ext cx="457200" cy="228600"/>
          </a:xfrm>
          <a:prstGeom prst="rect">
            <a:avLst/>
          </a:prstGeom>
          <a:solidFill>
            <a:srgbClr val="EEF6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43000" y="3457575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7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47750" y="37719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业务可经营</a:t>
            </a:r>
            <a:endParaRPr sz="13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47750" y="4114800"/>
            <a:ext cx="161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客户可预约，门店可交付，自助可取还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409950" y="3162300"/>
            <a:ext cx="21717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409950" y="3162300"/>
            <a:ext cx="47625" cy="12382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638550" y="3409950"/>
            <a:ext cx="457200" cy="228600"/>
          </a:xfrm>
          <a:prstGeom prst="rect">
            <a:avLst/>
          </a:prstGeom>
          <a:solidFill>
            <a:srgbClr val="EEF6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733800" y="3457575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75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638550" y="37719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资金可核对</a:t>
            </a:r>
            <a:endParaRPr sz="13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638550" y="4114800"/>
            <a:ext cx="161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个人支付与企业月结路径清楚分流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00750" y="3162300"/>
            <a:ext cx="21717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000750" y="3162300"/>
            <a:ext cx="47625" cy="123825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229350" y="3409950"/>
            <a:ext cx="457200" cy="228600"/>
          </a:xfrm>
          <a:prstGeom prst="rect">
            <a:avLst/>
          </a:prstGeom>
          <a:solidFill>
            <a:srgbClr val="EEF6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324600" y="3457575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750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229350" y="37719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车辆可调度</a:t>
            </a:r>
            <a:endParaRPr sz="13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229350" y="4114800"/>
            <a:ext cx="161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车组库存、预分配、硬锁和人工调度闭环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591550" y="3162300"/>
            <a:ext cx="21717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591550" y="3162300"/>
            <a:ext cx="47625" cy="1238250"/>
          </a:xfrm>
          <a:prstGeom prst="rect">
            <a:avLst/>
          </a:prstGeom>
          <a:solidFill>
            <a:srgbClr val="304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820150" y="3409950"/>
            <a:ext cx="457200" cy="228600"/>
          </a:xfrm>
          <a:prstGeom prst="rect">
            <a:avLst/>
          </a:prstGeom>
          <a:solidFill>
            <a:srgbClr val="EEF6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915400" y="3457575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750" b="1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820150" y="37719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历史可追溯</a:t>
            </a:r>
            <a:endParaRPr sz="13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820150" y="4114800"/>
            <a:ext cx="161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价格、规则、方案和履约事件均有快照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381250" y="5124450"/>
            <a:ext cx="6667500" cy="476250"/>
          </a:xfrm>
          <a:prstGeom prst="rect">
            <a:avLst/>
          </a:prstGeom>
          <a:solidFill>
            <a:srgbClr val="DDF0F8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2705100" y="5257800"/>
            <a:ext cx="609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后续扩展以不破坏第一版主链路为前提，再逐步增加跨车行、统一排程和 AI 深度优化。</a:t>
            </a:r>
            <a:endParaRPr sz="10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6383</Words>
  <Application>WPS 演示</Application>
  <PresentationFormat>Converted Presentation</PresentationFormat>
  <Paragraphs>983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肖金鹏</cp:lastModifiedBy>
  <cp:revision>13</cp:revision>
  <dcterms:created xsi:type="dcterms:W3CDTF">2026-05-21T02:11:00Z</dcterms:created>
  <dcterms:modified xsi:type="dcterms:W3CDTF">2026-05-21T07:34:36Z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AEC9478B60EA47A1B3F7A03AE17E0676_12</vt:lpwstr>
  </property>
  <property fmtid="{D5CDD505-2E9C-101B-9397-08002B2CF9AE}" pid="3" name="KSOProductBuildVer">
    <vt:lpwstr>2052-12.1.0.26373</vt:lpwstr>
  </property>
</Properties>
</file>