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6" r:id="rId5"/>
    <p:sldId id="257" r:id="rId6"/>
    <p:sldId id="275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5309"/>
    <a:srgbClr val="F5F9FC"/>
    <a:srgbClr val="00689E"/>
    <a:srgbClr val="D97706"/>
    <a:srgbClr val="2D7D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 userDrawn="1"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 userDrawn="1"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</a:t>
            </a:r>
            <a:r>
              <a:rPr lang="zh-CN"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</a:t>
            </a: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left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" name="text"/>
          <p:cNvSpPr/>
          <p:nvPr/>
        </p:nvSpPr>
        <p:spPr>
          <a:xfrm>
            <a:off x="658368" y="713232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 /  公务车业务方案</a:t>
            </a:r>
            <a:endParaRPr lang="zh-CN" sz="10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658368" y="1243584"/>
            <a:ext cx="694944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35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公务车业务方案</a:t>
            </a:r>
            <a:endParaRPr lang="zh-CN" sz="350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685800" y="2057400"/>
            <a:ext cx="813816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70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企业内部公务车辆预约、合约配额、车辆管理与清洁保养提醒方案</a:t>
            </a:r>
            <a:endParaRPr lang="zh-CN" sz="170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ar"/>
          <p:cNvSpPr/>
          <p:nvPr/>
        </p:nvSpPr>
        <p:spPr>
          <a:xfrm>
            <a:off x="658368" y="3054096"/>
            <a:ext cx="4114800" cy="7315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7" name="pill"/>
          <p:cNvSpPr/>
          <p:nvPr/>
        </p:nvSpPr>
        <p:spPr>
          <a:xfrm>
            <a:off x="658368" y="3456432"/>
            <a:ext cx="1325880" cy="310896"/>
          </a:xfrm>
          <a:prstGeom prst="rect">
            <a:avLst/>
          </a:prstGeom>
          <a:solidFill>
            <a:srgbClr val="DDF0F8"/>
          </a:solidFill>
          <a:ln w="0">
            <a:noFill/>
          </a:ln>
        </p:spPr>
        <p:txBody>
          <a:bodyPr wrap="square" lIns="8000" tIns="0" rIns="8000" bIns="0" anchor="ctr"/>
          <a:lstStyle/>
          <a:p>
            <a:pPr algn="ctr"/>
            <a:r>
              <a:rPr lang="zh-CN" sz="9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企业内部用车</a:t>
            </a:r>
            <a:endParaRPr lang="zh-CN" sz="9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ill"/>
          <p:cNvSpPr/>
          <p:nvPr/>
        </p:nvSpPr>
        <p:spPr>
          <a:xfrm>
            <a:off x="2148840" y="3456432"/>
            <a:ext cx="1143000" cy="310896"/>
          </a:xfrm>
          <a:prstGeom prst="rect">
            <a:avLst/>
          </a:prstGeom>
          <a:solidFill>
            <a:srgbClr val="DDF0F8"/>
          </a:solidFill>
          <a:ln w="0">
            <a:noFill/>
          </a:ln>
        </p:spPr>
        <p:txBody>
          <a:bodyPr wrap="square" lIns="8000" tIns="0" rIns="8000" bIns="0" anchor="ctr"/>
          <a:lstStyle/>
          <a:p>
            <a:pPr algn="ctr"/>
            <a:r>
              <a:rPr lang="zh-CN" sz="9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合约配额</a:t>
            </a:r>
            <a:endParaRPr lang="zh-CN" sz="9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ill"/>
          <p:cNvSpPr/>
          <p:nvPr/>
        </p:nvSpPr>
        <p:spPr>
          <a:xfrm>
            <a:off x="3456432" y="3456432"/>
            <a:ext cx="1143000" cy="310896"/>
          </a:xfrm>
          <a:prstGeom prst="rect">
            <a:avLst/>
          </a:prstGeom>
          <a:solidFill>
            <a:srgbClr val="DDF0F8"/>
          </a:solidFill>
          <a:ln w="0">
            <a:noFill/>
          </a:ln>
        </p:spPr>
        <p:txBody>
          <a:bodyPr wrap="square" lIns="8000" tIns="0" rIns="8000" bIns="0" anchor="ctr"/>
          <a:lstStyle/>
          <a:p>
            <a:pPr algn="ctr"/>
            <a:r>
              <a:rPr lang="zh-CN" sz="9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预约审核</a:t>
            </a:r>
            <a:endParaRPr lang="zh-CN" sz="9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ill"/>
          <p:cNvSpPr/>
          <p:nvPr/>
        </p:nvSpPr>
        <p:spPr>
          <a:xfrm>
            <a:off x="4754880" y="3456432"/>
            <a:ext cx="1325880" cy="310896"/>
          </a:xfrm>
          <a:prstGeom prst="rect">
            <a:avLst/>
          </a:prstGeom>
          <a:solidFill>
            <a:srgbClr val="DDF0F8"/>
          </a:solidFill>
          <a:ln w="0">
            <a:noFill/>
          </a:ln>
        </p:spPr>
        <p:txBody>
          <a:bodyPr wrap="square" lIns="8000" tIns="0" rIns="8000" bIns="0" anchor="ctr"/>
          <a:lstStyle/>
          <a:p>
            <a:pPr algn="ctr"/>
            <a:r>
              <a:rPr lang="zh-CN" sz="9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清洁保养</a:t>
            </a:r>
            <a:endParaRPr lang="zh-CN" sz="9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eroPanel"/>
          <p:cNvSpPr/>
          <p:nvPr/>
        </p:nvSpPr>
        <p:spPr>
          <a:xfrm>
            <a:off x="7909560" y="777240"/>
            <a:ext cx="3474720" cy="5120640"/>
          </a:xfrm>
          <a:prstGeom prst="rect">
            <a:avLst/>
          </a:prstGeom>
          <a:solidFill>
            <a:srgbClr val="E5F2EE"/>
          </a:solidFill>
          <a:ln w="9000">
            <a:solidFill>
              <a:srgbClr val="CDE5DD"/>
            </a:solidFill>
          </a:ln>
        </p:spPr>
      </p:sp>
      <p:sp>
        <p:nvSpPr>
          <p:cNvPr id="12" name="text"/>
          <p:cNvSpPr/>
          <p:nvPr/>
        </p:nvSpPr>
        <p:spPr>
          <a:xfrm>
            <a:off x="8229600" y="1143000"/>
            <a:ext cx="288036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8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方案范围</a:t>
            </a:r>
            <a:endParaRPr lang="zh-CN" sz="180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ard"/>
          <p:cNvSpPr/>
          <p:nvPr/>
        </p:nvSpPr>
        <p:spPr>
          <a:xfrm>
            <a:off x="8229600" y="1783080"/>
            <a:ext cx="2788920" cy="5029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4" name="cardAccent"/>
          <p:cNvSpPr/>
          <p:nvPr/>
        </p:nvSpPr>
        <p:spPr>
          <a:xfrm>
            <a:off x="8229600" y="1783080"/>
            <a:ext cx="47549" cy="50292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15" name="text"/>
          <p:cNvSpPr/>
          <p:nvPr/>
        </p:nvSpPr>
        <p:spPr>
          <a:xfrm>
            <a:off x="8403336" y="1920240"/>
            <a:ext cx="244144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zh-CN" sz="90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/>
          <p:nvPr/>
        </p:nvSpPr>
        <p:spPr>
          <a:xfrm>
            <a:off x="8403336" y="2212848"/>
            <a:ext cx="2441448" cy="27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5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营运端建立企业、服务、合约、配额</a:t>
            </a:r>
            <a:endParaRPr lang="zh-CN" sz="85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ard"/>
          <p:cNvSpPr/>
          <p:nvPr/>
        </p:nvSpPr>
        <p:spPr>
          <a:xfrm>
            <a:off x="8229600" y="2514600"/>
            <a:ext cx="2788920" cy="5029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8" name="cardAccent"/>
          <p:cNvSpPr/>
          <p:nvPr/>
        </p:nvSpPr>
        <p:spPr>
          <a:xfrm>
            <a:off x="8229600" y="2514600"/>
            <a:ext cx="47549" cy="50292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9" name="text"/>
          <p:cNvSpPr/>
          <p:nvPr/>
        </p:nvSpPr>
        <p:spPr>
          <a:xfrm>
            <a:off x="8403336" y="2651760"/>
            <a:ext cx="244144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zh-CN" sz="90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/>
          <p:nvPr/>
        </p:nvSpPr>
        <p:spPr>
          <a:xfrm>
            <a:off x="8403336" y="2944368"/>
            <a:ext cx="2441448" cy="27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5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企业端维护分公司、车辆、据点、员工</a:t>
            </a:r>
            <a:endParaRPr lang="zh-CN" sz="85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ard"/>
          <p:cNvSpPr/>
          <p:nvPr/>
        </p:nvSpPr>
        <p:spPr>
          <a:xfrm>
            <a:off x="8229600" y="3246120"/>
            <a:ext cx="2788920" cy="5029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2" name="cardAccent"/>
          <p:cNvSpPr/>
          <p:nvPr/>
        </p:nvSpPr>
        <p:spPr>
          <a:xfrm>
            <a:off x="8229600" y="3246120"/>
            <a:ext cx="47549" cy="50292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23" name="text"/>
          <p:cNvSpPr/>
          <p:nvPr/>
        </p:nvSpPr>
        <p:spPr>
          <a:xfrm>
            <a:off x="8403336" y="3383280"/>
            <a:ext cx="244144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zh-CN" sz="90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/>
          <p:nvPr/>
        </p:nvSpPr>
        <p:spPr>
          <a:xfrm>
            <a:off x="8403336" y="3675888"/>
            <a:ext cx="2441448" cy="27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5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 APP 承载员工预约与用车</a:t>
            </a:r>
            <a:endParaRPr lang="zh-CN" sz="85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card"/>
          <p:cNvSpPr/>
          <p:nvPr/>
        </p:nvSpPr>
        <p:spPr>
          <a:xfrm>
            <a:off x="8229600" y="3977640"/>
            <a:ext cx="2788920" cy="5029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6" name="cardAccent"/>
          <p:cNvSpPr/>
          <p:nvPr/>
        </p:nvSpPr>
        <p:spPr>
          <a:xfrm>
            <a:off x="8229600" y="3977640"/>
            <a:ext cx="47549" cy="50292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7" name="text"/>
          <p:cNvSpPr/>
          <p:nvPr/>
        </p:nvSpPr>
        <p:spPr>
          <a:xfrm>
            <a:off x="8403336" y="4114800"/>
            <a:ext cx="244144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zh-CN" sz="90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"/>
          <p:cNvSpPr/>
          <p:nvPr/>
        </p:nvSpPr>
        <p:spPr>
          <a:xfrm>
            <a:off x="8403336" y="4407408"/>
            <a:ext cx="2441448" cy="27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5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合约账单、续费、提醒和历史追溯</a:t>
            </a:r>
            <a:endParaRPr lang="zh-CN" sz="85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/>
          <p:nvPr/>
        </p:nvSpPr>
        <p:spPr>
          <a:xfrm>
            <a:off x="658368" y="6291072"/>
            <a:ext cx="301752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0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2026-05-25  /  方案说明</a:t>
            </a:r>
            <a:endParaRPr lang="zh-CN" sz="80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一页结论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一页结论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公务车不是按单收费的租车业务，而是企业合约下的内部用车管理能力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"/>
          <p:cNvSpPr/>
          <p:nvPr/>
        </p:nvSpPr>
        <p:spPr>
          <a:xfrm>
            <a:off x="495605" y="1810512"/>
            <a:ext cx="941832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方案核心是把“合约配额、车辆资产、员工可见范围、预约审核、账单续费和提醒闭环”拆开，各自独立但可追溯。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bulletCard"/>
          <p:cNvSpPr/>
          <p:nvPr/>
        </p:nvSpPr>
        <p:spPr>
          <a:xfrm>
            <a:off x="552298" y="2359152"/>
            <a:ext cx="3383280" cy="148132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32" name="accent"/>
          <p:cNvSpPr/>
          <p:nvPr/>
        </p:nvSpPr>
        <p:spPr>
          <a:xfrm>
            <a:off x="552298" y="2359152"/>
            <a:ext cx="47549" cy="1481328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33" name="text"/>
          <p:cNvSpPr/>
          <p:nvPr/>
        </p:nvSpPr>
        <p:spPr>
          <a:xfrm>
            <a:off x="753466" y="2505456"/>
            <a:ext cx="301752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业务价值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bullet"/>
          <p:cNvSpPr/>
          <p:nvPr/>
        </p:nvSpPr>
        <p:spPr>
          <a:xfrm>
            <a:off x="808330" y="2889504"/>
            <a:ext cx="288036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企业内部车辆集中管理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bullet"/>
          <p:cNvSpPr/>
          <p:nvPr/>
        </p:nvSpPr>
        <p:spPr>
          <a:xfrm>
            <a:off x="808330" y="3182112"/>
            <a:ext cx="288036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员工通过公务车 APP 预约使用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bullet"/>
          <p:cNvSpPr/>
          <p:nvPr/>
        </p:nvSpPr>
        <p:spPr>
          <a:xfrm>
            <a:off x="808330" y="3474720"/>
            <a:ext cx="288036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员工不产生个人支付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bullet"/>
          <p:cNvSpPr/>
          <p:nvPr/>
        </p:nvSpPr>
        <p:spPr>
          <a:xfrm>
            <a:off x="808330" y="3767328"/>
            <a:ext cx="288036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费用来自公务车合约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bulletCard"/>
          <p:cNvSpPr/>
          <p:nvPr/>
        </p:nvSpPr>
        <p:spPr>
          <a:xfrm>
            <a:off x="4069080" y="2359152"/>
            <a:ext cx="3383280" cy="148132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39" name="accent"/>
          <p:cNvSpPr/>
          <p:nvPr/>
        </p:nvSpPr>
        <p:spPr>
          <a:xfrm>
            <a:off x="4069080" y="2359152"/>
            <a:ext cx="47549" cy="1481328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40" name="text"/>
          <p:cNvSpPr/>
          <p:nvPr/>
        </p:nvSpPr>
        <p:spPr>
          <a:xfrm>
            <a:off x="4270248" y="2505456"/>
            <a:ext cx="301752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落地方式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bullet"/>
          <p:cNvSpPr/>
          <p:nvPr/>
        </p:nvSpPr>
        <p:spPr>
          <a:xfrm>
            <a:off x="4325112" y="2889504"/>
            <a:ext cx="288036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营运端建立服务、合约和据点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bullet"/>
          <p:cNvSpPr/>
          <p:nvPr/>
        </p:nvSpPr>
        <p:spPr>
          <a:xfrm>
            <a:off x="4325112" y="3182112"/>
            <a:ext cx="288036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企业端维护分公司、员工和车辆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bullet"/>
          <p:cNvSpPr/>
          <p:nvPr/>
        </p:nvSpPr>
        <p:spPr>
          <a:xfrm>
            <a:off x="4325112" y="3474720"/>
            <a:ext cx="288036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APP 承载预约、审核和用车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bullet"/>
          <p:cNvSpPr/>
          <p:nvPr/>
        </p:nvSpPr>
        <p:spPr>
          <a:xfrm>
            <a:off x="4325112" y="3767328"/>
            <a:ext cx="288036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快照保护历史追溯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matrix"/>
          <p:cNvSpPr/>
          <p:nvPr/>
        </p:nvSpPr>
        <p:spPr>
          <a:xfrm>
            <a:off x="7973568" y="2359152"/>
            <a:ext cx="1243584" cy="841248"/>
          </a:xfrm>
          <a:prstGeom prst="rect">
            <a:avLst/>
          </a:prstGeom>
          <a:solidFill>
            <a:srgbClr val="E5F2EE"/>
          </a:solidFill>
          <a:ln w="9000">
            <a:solidFill>
              <a:srgbClr val="D7E5EC"/>
            </a:solidFill>
          </a:ln>
        </p:spPr>
      </p:sp>
      <p:sp>
        <p:nvSpPr>
          <p:cNvPr id="46" name="matrixAccent"/>
          <p:cNvSpPr/>
          <p:nvPr/>
        </p:nvSpPr>
        <p:spPr>
          <a:xfrm>
            <a:off x="7973568" y="2359152"/>
            <a:ext cx="47549" cy="841248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47" name="text"/>
          <p:cNvSpPr/>
          <p:nvPr/>
        </p:nvSpPr>
        <p:spPr>
          <a:xfrm>
            <a:off x="8138160" y="2523744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"/>
          <p:cNvSpPr/>
          <p:nvPr/>
        </p:nvSpPr>
        <p:spPr>
          <a:xfrm>
            <a:off x="8138160" y="2825496"/>
            <a:ext cx="914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matrix"/>
          <p:cNvSpPr/>
          <p:nvPr/>
        </p:nvSpPr>
        <p:spPr>
          <a:xfrm>
            <a:off x="9418320" y="2359152"/>
            <a:ext cx="1243584" cy="841248"/>
          </a:xfrm>
          <a:prstGeom prst="rect">
            <a:avLst/>
          </a:prstGeom>
          <a:solidFill>
            <a:srgbClr val="FFF1D6"/>
          </a:solidFill>
          <a:ln w="9000">
            <a:solidFill>
              <a:srgbClr val="D7E5EC"/>
            </a:solidFill>
          </a:ln>
        </p:spPr>
      </p:sp>
      <p:sp>
        <p:nvSpPr>
          <p:cNvPr id="50" name="matrixAccent"/>
          <p:cNvSpPr/>
          <p:nvPr/>
        </p:nvSpPr>
        <p:spPr>
          <a:xfrm>
            <a:off x="9418320" y="2359152"/>
            <a:ext cx="47549" cy="841248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51" name="text"/>
          <p:cNvSpPr/>
          <p:nvPr/>
        </p:nvSpPr>
        <p:spPr>
          <a:xfrm>
            <a:off x="9582912" y="2523744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"/>
          <p:cNvSpPr/>
          <p:nvPr/>
        </p:nvSpPr>
        <p:spPr>
          <a:xfrm>
            <a:off x="9582912" y="2825496"/>
            <a:ext cx="914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 APP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matrix"/>
          <p:cNvSpPr/>
          <p:nvPr/>
        </p:nvSpPr>
        <p:spPr>
          <a:xfrm>
            <a:off x="7973568" y="3456432"/>
            <a:ext cx="1243584" cy="841248"/>
          </a:xfrm>
          <a:prstGeom prst="rect">
            <a:avLst/>
          </a:prstGeom>
          <a:solidFill>
            <a:srgbClr val="DDF0F8"/>
          </a:solidFill>
          <a:ln w="9000">
            <a:solidFill>
              <a:srgbClr val="D7E5EC"/>
            </a:solidFill>
          </a:ln>
        </p:spPr>
      </p:sp>
      <p:sp>
        <p:nvSpPr>
          <p:cNvPr id="54" name="matrixAccent"/>
          <p:cNvSpPr/>
          <p:nvPr/>
        </p:nvSpPr>
        <p:spPr>
          <a:xfrm>
            <a:off x="7973568" y="3456432"/>
            <a:ext cx="47549" cy="841248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55" name="text"/>
          <p:cNvSpPr/>
          <p:nvPr/>
        </p:nvSpPr>
        <p:spPr>
          <a:xfrm>
            <a:off x="8138160" y="3621024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"/>
          <p:cNvSpPr/>
          <p:nvPr/>
        </p:nvSpPr>
        <p:spPr>
          <a:xfrm>
            <a:off x="8138160" y="3922776"/>
            <a:ext cx="914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账单与提醒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matrix"/>
          <p:cNvSpPr/>
          <p:nvPr/>
        </p:nvSpPr>
        <p:spPr>
          <a:xfrm>
            <a:off x="9418320" y="3456432"/>
            <a:ext cx="1243584" cy="841248"/>
          </a:xfrm>
          <a:prstGeom prst="rect">
            <a:avLst/>
          </a:prstGeom>
          <a:solidFill>
            <a:srgbClr val="E3F1F8"/>
          </a:solidFill>
          <a:ln w="9000">
            <a:solidFill>
              <a:srgbClr val="D7E5EC"/>
            </a:solidFill>
          </a:ln>
        </p:spPr>
      </p:sp>
      <p:sp>
        <p:nvSpPr>
          <p:cNvPr id="58" name="matrixAccent"/>
          <p:cNvSpPr/>
          <p:nvPr/>
        </p:nvSpPr>
        <p:spPr>
          <a:xfrm>
            <a:off x="9418320" y="3456432"/>
            <a:ext cx="47549" cy="841248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59" name="text"/>
          <p:cNvSpPr/>
          <p:nvPr/>
        </p:nvSpPr>
        <p:spPr>
          <a:xfrm>
            <a:off x="9582912" y="3621024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"/>
          <p:cNvSpPr/>
          <p:nvPr/>
        </p:nvSpPr>
        <p:spPr>
          <a:xfrm>
            <a:off x="9582912" y="3922776"/>
            <a:ext cx="9144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营运端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card"/>
          <p:cNvSpPr/>
          <p:nvPr/>
        </p:nvSpPr>
        <p:spPr>
          <a:xfrm>
            <a:off x="7973568" y="4599432"/>
            <a:ext cx="2688336" cy="713232"/>
          </a:xfrm>
          <a:prstGeom prst="rect">
            <a:avLst/>
          </a:prstGeom>
          <a:solidFill>
            <a:srgbClr val="FBFCFA"/>
          </a:solidFill>
          <a:ln w="9000">
            <a:solidFill>
              <a:srgbClr val="D7E5EC"/>
            </a:solidFill>
          </a:ln>
        </p:spPr>
      </p:sp>
      <p:sp>
        <p:nvSpPr>
          <p:cNvPr id="62" name="cardAccent"/>
          <p:cNvSpPr/>
          <p:nvPr/>
        </p:nvSpPr>
        <p:spPr>
          <a:xfrm>
            <a:off x="7973568" y="4599432"/>
            <a:ext cx="47549" cy="713232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63" name="text"/>
          <p:cNvSpPr/>
          <p:nvPr/>
        </p:nvSpPr>
        <p:spPr>
          <a:xfrm>
            <a:off x="8147304" y="4736592"/>
            <a:ext cx="234086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本期表达重点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"/>
          <p:cNvSpPr/>
          <p:nvPr/>
        </p:nvSpPr>
        <p:spPr>
          <a:xfrm>
            <a:off x="8147304" y="5056632"/>
            <a:ext cx="2340864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把已上线公务车能力整理成可讲清、可实施、可扩展的一条完整业务线。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业务架构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业务架构总览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围绕企业签约、合约配额、车辆据点、员工预约和账单续费，形成企业内部用车管理闭环。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atrix"/>
          <p:cNvSpPr/>
          <p:nvPr/>
        </p:nvSpPr>
        <p:spPr>
          <a:xfrm>
            <a:off x="566928" y="1673352"/>
            <a:ext cx="1508760" cy="530352"/>
          </a:xfrm>
          <a:prstGeom prst="rect">
            <a:avLst/>
          </a:prstGeom>
          <a:solidFill>
            <a:srgbClr val="E5F2EE"/>
          </a:solidFill>
          <a:ln w="9000">
            <a:solidFill>
              <a:srgbClr val="D7E5EC"/>
            </a:solidFill>
          </a:ln>
        </p:spPr>
      </p:sp>
      <p:sp>
        <p:nvSpPr>
          <p:cNvPr id="7" name="matrixAccent"/>
          <p:cNvSpPr/>
          <p:nvPr/>
        </p:nvSpPr>
        <p:spPr>
          <a:xfrm>
            <a:off x="566928" y="1673352"/>
            <a:ext cx="47549" cy="530352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31520" y="1837944"/>
            <a:ext cx="11795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入口与角色层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731520" y="2139696"/>
            <a:ext cx="1179576" cy="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atrix"/>
          <p:cNvSpPr/>
          <p:nvPr/>
        </p:nvSpPr>
        <p:spPr>
          <a:xfrm>
            <a:off x="566928" y="2633472"/>
            <a:ext cx="1508760" cy="530352"/>
          </a:xfrm>
          <a:prstGeom prst="rect">
            <a:avLst/>
          </a:prstGeom>
          <a:solidFill>
            <a:srgbClr val="DDF0F8"/>
          </a:solidFill>
          <a:ln w="9000">
            <a:solidFill>
              <a:srgbClr val="D7E5EC"/>
            </a:solidFill>
          </a:ln>
        </p:spPr>
      </p:sp>
      <p:sp>
        <p:nvSpPr>
          <p:cNvPr id="11" name="matrixAccent"/>
          <p:cNvSpPr/>
          <p:nvPr/>
        </p:nvSpPr>
        <p:spPr>
          <a:xfrm>
            <a:off x="566928" y="2633472"/>
            <a:ext cx="47549" cy="53035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2" name="text"/>
          <p:cNvSpPr/>
          <p:nvPr/>
        </p:nvSpPr>
        <p:spPr>
          <a:xfrm>
            <a:off x="731520" y="2798064"/>
            <a:ext cx="11795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业务处理层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731520" y="3099816"/>
            <a:ext cx="1179576" cy="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atrix"/>
          <p:cNvSpPr/>
          <p:nvPr/>
        </p:nvSpPr>
        <p:spPr>
          <a:xfrm>
            <a:off x="566928" y="3593592"/>
            <a:ext cx="1508760" cy="530352"/>
          </a:xfrm>
          <a:prstGeom prst="rect">
            <a:avLst/>
          </a:prstGeom>
          <a:solidFill>
            <a:srgbClr val="FFF1D6"/>
          </a:solidFill>
          <a:ln w="9000">
            <a:solidFill>
              <a:srgbClr val="D7E5EC"/>
            </a:solidFill>
          </a:ln>
        </p:spPr>
      </p:sp>
      <p:sp>
        <p:nvSpPr>
          <p:cNvPr id="15" name="matrixAccent"/>
          <p:cNvSpPr/>
          <p:nvPr/>
        </p:nvSpPr>
        <p:spPr>
          <a:xfrm>
            <a:off x="566928" y="3593592"/>
            <a:ext cx="47549" cy="530352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731520" y="3758184"/>
            <a:ext cx="11795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规则与数据层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731520" y="4059936"/>
            <a:ext cx="1179576" cy="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atrix"/>
          <p:cNvSpPr/>
          <p:nvPr/>
        </p:nvSpPr>
        <p:spPr>
          <a:xfrm>
            <a:off x="566928" y="4553712"/>
            <a:ext cx="1508760" cy="530352"/>
          </a:xfrm>
          <a:prstGeom prst="rect">
            <a:avLst/>
          </a:prstGeom>
          <a:solidFill>
            <a:srgbClr val="E3F1F8"/>
          </a:solidFill>
          <a:ln w="9000">
            <a:solidFill>
              <a:srgbClr val="D7E5EC"/>
            </a:solidFill>
          </a:ln>
        </p:spPr>
      </p:sp>
      <p:sp>
        <p:nvSpPr>
          <p:cNvPr id="19" name="matrixAccent"/>
          <p:cNvSpPr/>
          <p:nvPr/>
        </p:nvSpPr>
        <p:spPr>
          <a:xfrm>
            <a:off x="566928" y="4553712"/>
            <a:ext cx="47549" cy="53035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0" name="text"/>
          <p:cNvSpPr/>
          <p:nvPr/>
        </p:nvSpPr>
        <p:spPr>
          <a:xfrm>
            <a:off x="731520" y="4718304"/>
            <a:ext cx="11795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结果与追溯层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731520" y="5020056"/>
            <a:ext cx="1179576" cy="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ard"/>
          <p:cNvSpPr/>
          <p:nvPr/>
        </p:nvSpPr>
        <p:spPr>
          <a:xfrm>
            <a:off x="2395728" y="1664208"/>
            <a:ext cx="2651760" cy="8229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3" name="cardAccent"/>
          <p:cNvSpPr/>
          <p:nvPr/>
        </p:nvSpPr>
        <p:spPr>
          <a:xfrm>
            <a:off x="2395728" y="1664208"/>
            <a:ext cx="47549" cy="82296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2569464" y="1801368"/>
            <a:ext cx="230428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营运平台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2569464" y="2121408"/>
            <a:ext cx="2304288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5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企业客户 / 服务开通 / 签约据点 / 合约配额 / 账单核销</a:t>
            </a:r>
            <a:endParaRPr lang="zh-CN" sz="75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ard"/>
          <p:cNvSpPr/>
          <p:nvPr/>
        </p:nvSpPr>
        <p:spPr>
          <a:xfrm>
            <a:off x="5303520" y="1664208"/>
            <a:ext cx="2651760" cy="8229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7" name="cardAccent"/>
          <p:cNvSpPr/>
          <p:nvPr/>
        </p:nvSpPr>
        <p:spPr>
          <a:xfrm>
            <a:off x="5303520" y="1664208"/>
            <a:ext cx="47549" cy="82296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8" name="text"/>
          <p:cNvSpPr/>
          <p:nvPr/>
        </p:nvSpPr>
        <p:spPr>
          <a:xfrm>
            <a:off x="5477256" y="1801368"/>
            <a:ext cx="230428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/>
          <p:nvPr/>
        </p:nvSpPr>
        <p:spPr>
          <a:xfrm>
            <a:off x="5477256" y="2121408"/>
            <a:ext cx="2304288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5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分公司 / 员工审核 / 车辆管理 / 可用据点 / 清洁保养提醒</a:t>
            </a:r>
            <a:endParaRPr lang="zh-CN" sz="75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card"/>
          <p:cNvSpPr/>
          <p:nvPr/>
        </p:nvSpPr>
        <p:spPr>
          <a:xfrm>
            <a:off x="8211312" y="1664208"/>
            <a:ext cx="2651760" cy="8229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31" name="cardAccent"/>
          <p:cNvSpPr/>
          <p:nvPr/>
        </p:nvSpPr>
        <p:spPr>
          <a:xfrm>
            <a:off x="8211312" y="1664208"/>
            <a:ext cx="47549" cy="822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32" name="text"/>
          <p:cNvSpPr/>
          <p:nvPr/>
        </p:nvSpPr>
        <p:spPr>
          <a:xfrm>
            <a:off x="8385048" y="1801368"/>
            <a:ext cx="230428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 APP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"/>
          <p:cNvSpPr/>
          <p:nvPr/>
        </p:nvSpPr>
        <p:spPr>
          <a:xfrm>
            <a:off x="8385048" y="2121408"/>
            <a:ext cx="2304288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5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员工身份 / 车辆查询 / 预约申请 / 审核结果 / 用车记录</a:t>
            </a:r>
            <a:endParaRPr lang="zh-CN" sz="75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card"/>
          <p:cNvSpPr/>
          <p:nvPr/>
        </p:nvSpPr>
        <p:spPr>
          <a:xfrm>
            <a:off x="2395728" y="2697480"/>
            <a:ext cx="1975104" cy="841248"/>
          </a:xfrm>
          <a:prstGeom prst="rect">
            <a:avLst/>
          </a:prstGeom>
          <a:solidFill>
            <a:srgbClr val="FBFCFA"/>
          </a:solidFill>
          <a:ln w="9000">
            <a:solidFill>
              <a:srgbClr val="D7E5EC"/>
            </a:solidFill>
          </a:ln>
        </p:spPr>
      </p:sp>
      <p:sp>
        <p:nvSpPr>
          <p:cNvPr id="35" name="cardAccent"/>
          <p:cNvSpPr/>
          <p:nvPr/>
        </p:nvSpPr>
        <p:spPr>
          <a:xfrm>
            <a:off x="2395728" y="2697480"/>
            <a:ext cx="47549" cy="841248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36" name="text"/>
          <p:cNvSpPr/>
          <p:nvPr/>
        </p:nvSpPr>
        <p:spPr>
          <a:xfrm>
            <a:off x="2569464" y="2834640"/>
            <a:ext cx="162763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合约与配额</a:t>
            </a:r>
            <a:endParaRPr lang="zh-CN" sz="10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"/>
          <p:cNvSpPr/>
          <p:nvPr/>
        </p:nvSpPr>
        <p:spPr>
          <a:xfrm>
            <a:off x="2569464" y="3154680"/>
            <a:ext cx="1627632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 / 正式、月缴 / 年缴、配额占用、续费账单</a:t>
            </a:r>
            <a:endParaRPr lang="zh-CN" sz="7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card"/>
          <p:cNvSpPr/>
          <p:nvPr/>
        </p:nvSpPr>
        <p:spPr>
          <a:xfrm>
            <a:off x="4572000" y="2697480"/>
            <a:ext cx="1975104" cy="841248"/>
          </a:xfrm>
          <a:prstGeom prst="rect">
            <a:avLst/>
          </a:prstGeom>
          <a:solidFill>
            <a:srgbClr val="FBFCFA"/>
          </a:solidFill>
          <a:ln w="9000">
            <a:solidFill>
              <a:srgbClr val="D7E5EC"/>
            </a:solidFill>
          </a:ln>
        </p:spPr>
      </p:sp>
      <p:sp>
        <p:nvSpPr>
          <p:cNvPr id="39" name="cardAccent"/>
          <p:cNvSpPr/>
          <p:nvPr/>
        </p:nvSpPr>
        <p:spPr>
          <a:xfrm>
            <a:off x="4572000" y="2697480"/>
            <a:ext cx="47549" cy="841248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40" name="text"/>
          <p:cNvSpPr/>
          <p:nvPr/>
        </p:nvSpPr>
        <p:spPr>
          <a:xfrm>
            <a:off x="4745736" y="2834640"/>
            <a:ext cx="162763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车辆与据点</a:t>
            </a:r>
            <a:endParaRPr lang="zh-CN" sz="10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"/>
          <p:cNvSpPr/>
          <p:nvPr/>
        </p:nvSpPr>
        <p:spPr>
          <a:xfrm>
            <a:off x="4745736" y="3154680"/>
            <a:ext cx="1627632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资产归属、所在据点、上架下架、员工可见范围</a:t>
            </a:r>
            <a:endParaRPr lang="zh-CN" sz="7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card"/>
          <p:cNvSpPr/>
          <p:nvPr/>
        </p:nvSpPr>
        <p:spPr>
          <a:xfrm>
            <a:off x="6748272" y="2697480"/>
            <a:ext cx="1975104" cy="841248"/>
          </a:xfrm>
          <a:prstGeom prst="rect">
            <a:avLst/>
          </a:prstGeom>
          <a:solidFill>
            <a:srgbClr val="FBFCFA"/>
          </a:solidFill>
          <a:ln w="9000">
            <a:solidFill>
              <a:srgbClr val="D7E5EC"/>
            </a:solidFill>
          </a:ln>
        </p:spPr>
      </p:sp>
      <p:sp>
        <p:nvSpPr>
          <p:cNvPr id="43" name="cardAccent"/>
          <p:cNvSpPr/>
          <p:nvPr/>
        </p:nvSpPr>
        <p:spPr>
          <a:xfrm>
            <a:off x="6748272" y="2697480"/>
            <a:ext cx="47549" cy="841248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44" name="text"/>
          <p:cNvSpPr/>
          <p:nvPr/>
        </p:nvSpPr>
        <p:spPr>
          <a:xfrm>
            <a:off x="6922008" y="2834640"/>
            <a:ext cx="162763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预约与审核</a:t>
            </a:r>
            <a:endParaRPr lang="zh-CN" sz="10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"/>
          <p:cNvSpPr/>
          <p:nvPr/>
        </p:nvSpPr>
        <p:spPr>
          <a:xfrm>
            <a:off x="6922008" y="3154680"/>
            <a:ext cx="1627632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直接预约或用车审核、主管审批、分公司管理员审核</a:t>
            </a:r>
            <a:endParaRPr lang="zh-CN" sz="7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card"/>
          <p:cNvSpPr/>
          <p:nvPr/>
        </p:nvSpPr>
        <p:spPr>
          <a:xfrm>
            <a:off x="8924544" y="2697480"/>
            <a:ext cx="1975104" cy="841248"/>
          </a:xfrm>
          <a:prstGeom prst="rect">
            <a:avLst/>
          </a:prstGeom>
          <a:solidFill>
            <a:srgbClr val="FBFCFA"/>
          </a:solidFill>
          <a:ln w="9000">
            <a:solidFill>
              <a:srgbClr val="D7E5EC"/>
            </a:solidFill>
          </a:ln>
        </p:spPr>
      </p:sp>
      <p:sp>
        <p:nvSpPr>
          <p:cNvPr id="47" name="cardAccent"/>
          <p:cNvSpPr/>
          <p:nvPr/>
        </p:nvSpPr>
        <p:spPr>
          <a:xfrm>
            <a:off x="8924544" y="2697480"/>
            <a:ext cx="47549" cy="841248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48" name="text"/>
          <p:cNvSpPr/>
          <p:nvPr/>
        </p:nvSpPr>
        <p:spPr>
          <a:xfrm>
            <a:off x="9098280" y="2834640"/>
            <a:ext cx="162763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履约与通知</a:t>
            </a:r>
            <a:endParaRPr lang="zh-CN" sz="10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"/>
          <p:cNvSpPr/>
          <p:nvPr/>
        </p:nvSpPr>
        <p:spPr>
          <a:xfrm>
            <a:off x="9098280" y="3154680"/>
            <a:ext cx="1627632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人工交付为主；订单通知给员工，审批与合约提醒给管理员</a:t>
            </a:r>
            <a:endParaRPr lang="zh-CN" sz="7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card"/>
          <p:cNvSpPr/>
          <p:nvPr/>
        </p:nvSpPr>
        <p:spPr>
          <a:xfrm>
            <a:off x="2395728" y="3703320"/>
            <a:ext cx="1975104" cy="84124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51" name="cardAccent"/>
          <p:cNvSpPr/>
          <p:nvPr/>
        </p:nvSpPr>
        <p:spPr>
          <a:xfrm>
            <a:off x="2395728" y="3703320"/>
            <a:ext cx="47549" cy="841248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52" name="text"/>
          <p:cNvSpPr/>
          <p:nvPr/>
        </p:nvSpPr>
        <p:spPr>
          <a:xfrm>
            <a:off x="2569464" y="3840480"/>
            <a:ext cx="162763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权限规则</a:t>
            </a:r>
            <a:endParaRPr lang="zh-CN" sz="10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"/>
          <p:cNvSpPr/>
          <p:nvPr/>
        </p:nvSpPr>
        <p:spPr>
          <a:xfrm>
            <a:off x="2569464" y="4160520"/>
            <a:ext cx="1627632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总管理员管全部；分公司管理员管本资产归属车辆</a:t>
            </a:r>
            <a:endParaRPr lang="zh-CN" sz="7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card"/>
          <p:cNvSpPr/>
          <p:nvPr/>
        </p:nvSpPr>
        <p:spPr>
          <a:xfrm>
            <a:off x="4572000" y="3703320"/>
            <a:ext cx="1975104" cy="84124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55" name="cardAccent"/>
          <p:cNvSpPr/>
          <p:nvPr/>
        </p:nvSpPr>
        <p:spPr>
          <a:xfrm>
            <a:off x="4572000" y="3703320"/>
            <a:ext cx="47549" cy="841248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56" name="text"/>
          <p:cNvSpPr/>
          <p:nvPr/>
        </p:nvSpPr>
        <p:spPr>
          <a:xfrm>
            <a:off x="4745736" y="3840480"/>
            <a:ext cx="162763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快照规则</a:t>
            </a:r>
            <a:endParaRPr lang="zh-CN" sz="10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"/>
          <p:cNvSpPr/>
          <p:nvPr/>
        </p:nvSpPr>
        <p:spPr>
          <a:xfrm>
            <a:off x="4745736" y="4160520"/>
            <a:ext cx="1627632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预约、合约、账单保存历史快照</a:t>
            </a:r>
            <a:endParaRPr lang="zh-CN" sz="7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card"/>
          <p:cNvSpPr/>
          <p:nvPr/>
        </p:nvSpPr>
        <p:spPr>
          <a:xfrm>
            <a:off x="6748272" y="3703320"/>
            <a:ext cx="1975104" cy="84124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59" name="cardAccent"/>
          <p:cNvSpPr/>
          <p:nvPr/>
        </p:nvSpPr>
        <p:spPr>
          <a:xfrm>
            <a:off x="6748272" y="3703320"/>
            <a:ext cx="47549" cy="841248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60" name="text"/>
          <p:cNvSpPr/>
          <p:nvPr/>
        </p:nvSpPr>
        <p:spPr>
          <a:xfrm>
            <a:off x="6922008" y="3840480"/>
            <a:ext cx="162763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通知规则</a:t>
            </a:r>
            <a:endParaRPr lang="zh-CN" sz="10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"/>
          <p:cNvSpPr/>
          <p:nvPr/>
        </p:nvSpPr>
        <p:spPr>
          <a:xfrm>
            <a:off x="6922008" y="4160520"/>
            <a:ext cx="1627632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员工订单类；管理员审批和合约类</a:t>
            </a:r>
            <a:endParaRPr lang="zh-CN" sz="7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card"/>
          <p:cNvSpPr/>
          <p:nvPr/>
        </p:nvSpPr>
        <p:spPr>
          <a:xfrm>
            <a:off x="8924544" y="3703320"/>
            <a:ext cx="1975104" cy="84124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63" name="cardAccent"/>
          <p:cNvSpPr/>
          <p:nvPr/>
        </p:nvSpPr>
        <p:spPr>
          <a:xfrm>
            <a:off x="8924544" y="3703320"/>
            <a:ext cx="47549" cy="841248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64" name="text"/>
          <p:cNvSpPr/>
          <p:nvPr/>
        </p:nvSpPr>
        <p:spPr>
          <a:xfrm>
            <a:off x="9098280" y="3840480"/>
            <a:ext cx="162763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边界规则</a:t>
            </a:r>
            <a:endParaRPr lang="zh-CN" sz="10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"/>
          <p:cNvSpPr/>
          <p:nvPr/>
        </p:nvSpPr>
        <p:spPr>
          <a:xfrm>
            <a:off x="9098280" y="4160520"/>
            <a:ext cx="1627632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既有预约不因调拨、改据点、下架、到期自动取消</a:t>
            </a:r>
            <a:endParaRPr lang="zh-CN" sz="7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esult"/>
          <p:cNvSpPr/>
          <p:nvPr/>
        </p:nvSpPr>
        <p:spPr>
          <a:xfrm>
            <a:off x="2395728" y="4828032"/>
            <a:ext cx="8631936" cy="71323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67" name="text"/>
          <p:cNvSpPr/>
          <p:nvPr/>
        </p:nvSpPr>
        <p:spPr>
          <a:xfrm>
            <a:off x="2651760" y="5001768"/>
            <a:ext cx="813816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企业内部用车可经营、车辆管理可落地、合约账单可核对、历史数据可追溯</a:t>
            </a:r>
            <a:endParaRPr lang="zh-CN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角色分工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角色与端口分工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公务车业务由营运平台、企业端和公务车 APP 共同闭环，每个端口只承载自己的职责。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ulletCard"/>
          <p:cNvSpPr/>
          <p:nvPr/>
        </p:nvSpPr>
        <p:spPr>
          <a:xfrm>
            <a:off x="552298" y="1700784"/>
            <a:ext cx="3337560" cy="3273552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accent"/>
          <p:cNvSpPr/>
          <p:nvPr/>
        </p:nvSpPr>
        <p:spPr>
          <a:xfrm>
            <a:off x="552298" y="1700784"/>
            <a:ext cx="47549" cy="3273552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53466" y="1847088"/>
            <a:ext cx="29718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营运平台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ullet"/>
          <p:cNvSpPr/>
          <p:nvPr/>
        </p:nvSpPr>
        <p:spPr>
          <a:xfrm>
            <a:off x="808330" y="2231136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企业客户管理与签约服务类型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ullet"/>
          <p:cNvSpPr/>
          <p:nvPr/>
        </p:nvSpPr>
        <p:spPr>
          <a:xfrm>
            <a:off x="808330" y="2523744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公务车据点、地址、电子围篱配置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ullet"/>
          <p:cNvSpPr/>
          <p:nvPr/>
        </p:nvSpPr>
        <p:spPr>
          <a:xfrm>
            <a:off x="808330" y="2816352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试用 / 正式合约、配额、单车单价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bullet"/>
          <p:cNvSpPr/>
          <p:nvPr/>
        </p:nvSpPr>
        <p:spPr>
          <a:xfrm>
            <a:off x="808330" y="3108960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新增账单、续费账单、汇款核销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ullet"/>
          <p:cNvSpPr/>
          <p:nvPr/>
        </p:nvSpPr>
        <p:spPr>
          <a:xfrm>
            <a:off x="808330" y="3401568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查看企业公务车车辆与合约状态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ulletCard"/>
          <p:cNvSpPr/>
          <p:nvPr/>
        </p:nvSpPr>
        <p:spPr>
          <a:xfrm>
            <a:off x="4114800" y="1700784"/>
            <a:ext cx="3337560" cy="3273552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accent"/>
          <p:cNvSpPr/>
          <p:nvPr/>
        </p:nvSpPr>
        <p:spPr>
          <a:xfrm>
            <a:off x="4114800" y="1700784"/>
            <a:ext cx="47549" cy="327355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4315968" y="1847088"/>
            <a:ext cx="29718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ullet"/>
          <p:cNvSpPr/>
          <p:nvPr/>
        </p:nvSpPr>
        <p:spPr>
          <a:xfrm>
            <a:off x="4370832" y="2231136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审核员工加入企业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bullet"/>
          <p:cNvSpPr/>
          <p:nvPr/>
        </p:nvSpPr>
        <p:spPr>
          <a:xfrm>
            <a:off x="4370832" y="2523744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维护分公司和可用据点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ullet"/>
          <p:cNvSpPr/>
          <p:nvPr/>
        </p:nvSpPr>
        <p:spPr>
          <a:xfrm>
            <a:off x="4370832" y="2816352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新增车辆、绑定合约、上架下架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bullet"/>
          <p:cNvSpPr/>
          <p:nvPr/>
        </p:nvSpPr>
        <p:spPr>
          <a:xfrm>
            <a:off x="4370832" y="3108960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处理用车审核、查看统计导出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ullet"/>
          <p:cNvSpPr/>
          <p:nvPr/>
        </p:nvSpPr>
        <p:spPr>
          <a:xfrm>
            <a:off x="4370832" y="3401568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清洁保养提醒母版和完成登记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bulletCard"/>
          <p:cNvSpPr/>
          <p:nvPr/>
        </p:nvSpPr>
        <p:spPr>
          <a:xfrm>
            <a:off x="7671816" y="1700784"/>
            <a:ext cx="3337560" cy="3273552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3" name="accent"/>
          <p:cNvSpPr/>
          <p:nvPr/>
        </p:nvSpPr>
        <p:spPr>
          <a:xfrm>
            <a:off x="7671816" y="1700784"/>
            <a:ext cx="47549" cy="3273552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7872984" y="1847088"/>
            <a:ext cx="29718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 APP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bullet"/>
          <p:cNvSpPr/>
          <p:nvPr/>
        </p:nvSpPr>
        <p:spPr>
          <a:xfrm>
            <a:off x="7927848" y="2231136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员工企业身份进入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bullet"/>
          <p:cNvSpPr/>
          <p:nvPr/>
        </p:nvSpPr>
        <p:spPr>
          <a:xfrm>
            <a:off x="7927848" y="2523744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按可用据点查询车辆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bullet"/>
          <p:cNvSpPr/>
          <p:nvPr/>
        </p:nvSpPr>
        <p:spPr>
          <a:xfrm>
            <a:off x="7927848" y="2816352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提交预约或用车申请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bullet"/>
          <p:cNvSpPr/>
          <p:nvPr/>
        </p:nvSpPr>
        <p:spPr>
          <a:xfrm>
            <a:off x="7927848" y="3108960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接收审核结果和订单通知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bullet"/>
          <p:cNvSpPr/>
          <p:nvPr/>
        </p:nvSpPr>
        <p:spPr>
          <a:xfrm>
            <a:off x="7927848" y="3401568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当前人工交付；后续可接车机控车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card"/>
          <p:cNvSpPr/>
          <p:nvPr/>
        </p:nvSpPr>
        <p:spPr>
          <a:xfrm>
            <a:off x="552298" y="5303520"/>
            <a:ext cx="10460736" cy="502920"/>
          </a:xfrm>
          <a:prstGeom prst="rect">
            <a:avLst/>
          </a:prstGeom>
          <a:solidFill>
            <a:srgbClr val="FBFCFA"/>
          </a:solidFill>
          <a:ln w="9000">
            <a:solidFill>
              <a:srgbClr val="D7E5EC"/>
            </a:solidFill>
          </a:ln>
        </p:spPr>
      </p:sp>
      <p:sp>
        <p:nvSpPr>
          <p:cNvPr id="31" name="cardAccent"/>
          <p:cNvSpPr/>
          <p:nvPr/>
        </p:nvSpPr>
        <p:spPr>
          <a:xfrm>
            <a:off x="552298" y="5303520"/>
            <a:ext cx="47549" cy="50292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2" name="text"/>
          <p:cNvSpPr/>
          <p:nvPr/>
        </p:nvSpPr>
        <p:spPr>
          <a:xfrm>
            <a:off x="726034" y="5440680"/>
            <a:ext cx="1011326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关键边界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"/>
          <p:cNvSpPr/>
          <p:nvPr/>
        </p:nvSpPr>
        <p:spPr>
          <a:xfrm>
            <a:off x="726034" y="5733288"/>
            <a:ext cx="10113264" cy="27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5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员工用车不产生个人支付；公务车账单来自企业合约；企业端不能自行新建正式合约或物理据点。</a:t>
            </a:r>
            <a:endParaRPr lang="zh-CN" sz="95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端到端主链路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端到端主链路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从企业开通到员工用车，公务车闭环分成六个阶段。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ep"/>
          <p:cNvSpPr/>
          <p:nvPr/>
        </p:nvSpPr>
        <p:spPr>
          <a:xfrm>
            <a:off x="566928" y="1719072"/>
            <a:ext cx="1645920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shape"/>
          <p:cNvSpPr/>
          <p:nvPr/>
        </p:nvSpPr>
        <p:spPr>
          <a:xfrm>
            <a:off x="676656" y="1865376"/>
            <a:ext cx="301752" cy="301752"/>
          </a:xfrm>
          <a:prstGeom prst="ellipse">
            <a:avLst/>
          </a:prstGeom>
          <a:solidFill>
            <a:srgbClr val="2D7D6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/>
          <p:nvPr/>
        </p:nvSpPr>
        <p:spPr>
          <a:xfrm>
            <a:off x="1069848" y="1837944"/>
            <a:ext cx="1024128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企业开通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1069848" y="2112264"/>
            <a:ext cx="102412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签约服务、据点、管理员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tep"/>
          <p:cNvSpPr/>
          <p:nvPr/>
        </p:nvSpPr>
        <p:spPr>
          <a:xfrm>
            <a:off x="2423160" y="1719072"/>
            <a:ext cx="1645920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shape"/>
          <p:cNvSpPr/>
          <p:nvPr/>
        </p:nvSpPr>
        <p:spPr>
          <a:xfrm>
            <a:off x="2532888" y="1865376"/>
            <a:ext cx="301752" cy="301752"/>
          </a:xfrm>
          <a:prstGeom prst="ellipse">
            <a:avLst/>
          </a:prstGeom>
          <a:solidFill>
            <a:srgbClr val="00689E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/>
          <p:nvPr/>
        </p:nvSpPr>
        <p:spPr>
          <a:xfrm>
            <a:off x="2926080" y="1837944"/>
            <a:ext cx="1024128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合约配额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2926080" y="2112264"/>
            <a:ext cx="102412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试用/正式、配额、单价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tep"/>
          <p:cNvSpPr/>
          <p:nvPr/>
        </p:nvSpPr>
        <p:spPr>
          <a:xfrm>
            <a:off x="4279392" y="1719072"/>
            <a:ext cx="1645920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shape"/>
          <p:cNvSpPr/>
          <p:nvPr/>
        </p:nvSpPr>
        <p:spPr>
          <a:xfrm>
            <a:off x="4389120" y="1865376"/>
            <a:ext cx="301752" cy="301752"/>
          </a:xfrm>
          <a:prstGeom prst="ellipse">
            <a:avLst/>
          </a:prstGeom>
          <a:solidFill>
            <a:srgbClr val="D9770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/>
          <p:nvPr/>
        </p:nvSpPr>
        <p:spPr>
          <a:xfrm>
            <a:off x="4782312" y="1837944"/>
            <a:ext cx="1024128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企业配置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4782312" y="2112264"/>
            <a:ext cx="102412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分公司、员工、车辆上架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tep"/>
          <p:cNvSpPr/>
          <p:nvPr/>
        </p:nvSpPr>
        <p:spPr>
          <a:xfrm>
            <a:off x="6135624" y="1719072"/>
            <a:ext cx="1645920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9" name="shape"/>
          <p:cNvSpPr/>
          <p:nvPr/>
        </p:nvSpPr>
        <p:spPr>
          <a:xfrm>
            <a:off x="6245352" y="1865376"/>
            <a:ext cx="301752" cy="301752"/>
          </a:xfrm>
          <a:prstGeom prst="ellipse">
            <a:avLst/>
          </a:prstGeom>
          <a:solidFill>
            <a:srgbClr val="00689E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/>
          <p:nvPr/>
        </p:nvSpPr>
        <p:spPr>
          <a:xfrm>
            <a:off x="6638544" y="1837944"/>
            <a:ext cx="1024128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员工预约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6638544" y="2112264"/>
            <a:ext cx="102412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查询车辆、提交申请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tep"/>
          <p:cNvSpPr/>
          <p:nvPr/>
        </p:nvSpPr>
        <p:spPr>
          <a:xfrm>
            <a:off x="7991856" y="1719072"/>
            <a:ext cx="1645920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3" name="shape"/>
          <p:cNvSpPr/>
          <p:nvPr/>
        </p:nvSpPr>
        <p:spPr>
          <a:xfrm>
            <a:off x="8101584" y="1865376"/>
            <a:ext cx="301752" cy="301752"/>
          </a:xfrm>
          <a:prstGeom prst="ellipse">
            <a:avLst/>
          </a:prstGeom>
          <a:solidFill>
            <a:srgbClr val="2D7D6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/>
          <p:nvPr/>
        </p:nvSpPr>
        <p:spPr>
          <a:xfrm>
            <a:off x="8494776" y="1837944"/>
            <a:ext cx="1024128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履约记录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8494776" y="2112264"/>
            <a:ext cx="102412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人工交付、用车记录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tep"/>
          <p:cNvSpPr/>
          <p:nvPr/>
        </p:nvSpPr>
        <p:spPr>
          <a:xfrm>
            <a:off x="9848088" y="1719072"/>
            <a:ext cx="1645920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7" name="shape"/>
          <p:cNvSpPr/>
          <p:nvPr/>
        </p:nvSpPr>
        <p:spPr>
          <a:xfrm>
            <a:off x="9957816" y="1865376"/>
            <a:ext cx="301752" cy="301752"/>
          </a:xfrm>
          <a:prstGeom prst="ellipse">
            <a:avLst/>
          </a:prstGeom>
          <a:solidFill>
            <a:srgbClr val="D9770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"/>
          <p:cNvSpPr/>
          <p:nvPr/>
        </p:nvSpPr>
        <p:spPr>
          <a:xfrm>
            <a:off x="10351008" y="1837944"/>
            <a:ext cx="1024128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账单续费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/>
          <p:nvPr/>
        </p:nvSpPr>
        <p:spPr>
          <a:xfrm>
            <a:off x="10351008" y="2112264"/>
            <a:ext cx="102412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续费账单、汇款核销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bulletCard"/>
          <p:cNvSpPr/>
          <p:nvPr/>
        </p:nvSpPr>
        <p:spPr>
          <a:xfrm>
            <a:off x="566928" y="3246120"/>
            <a:ext cx="3337560" cy="18745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31" name="accent"/>
          <p:cNvSpPr/>
          <p:nvPr/>
        </p:nvSpPr>
        <p:spPr>
          <a:xfrm>
            <a:off x="566928" y="3246120"/>
            <a:ext cx="47549" cy="187452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32" name="text"/>
          <p:cNvSpPr/>
          <p:nvPr/>
        </p:nvSpPr>
        <p:spPr>
          <a:xfrm>
            <a:off x="768096" y="3392424"/>
            <a:ext cx="29718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营运方动作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bullet"/>
          <p:cNvSpPr/>
          <p:nvPr/>
        </p:nvSpPr>
        <p:spPr>
          <a:xfrm>
            <a:off x="822960" y="3776472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建立企业与公务车服务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bullet"/>
          <p:cNvSpPr/>
          <p:nvPr/>
        </p:nvSpPr>
        <p:spPr>
          <a:xfrm>
            <a:off x="822960" y="4069080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配置签约据点和电子围篱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bullet"/>
          <p:cNvSpPr/>
          <p:nvPr/>
        </p:nvSpPr>
        <p:spPr>
          <a:xfrm>
            <a:off x="822960" y="4361688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建立合约、配额、账单周期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bullet"/>
          <p:cNvSpPr/>
          <p:nvPr/>
        </p:nvSpPr>
        <p:spPr>
          <a:xfrm>
            <a:off x="822960" y="4654296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核对汇款和续费状态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bulletCard"/>
          <p:cNvSpPr/>
          <p:nvPr/>
        </p:nvSpPr>
        <p:spPr>
          <a:xfrm>
            <a:off x="4114800" y="3246120"/>
            <a:ext cx="3337560" cy="18745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38" name="accent"/>
          <p:cNvSpPr/>
          <p:nvPr/>
        </p:nvSpPr>
        <p:spPr>
          <a:xfrm>
            <a:off x="4114800" y="3246120"/>
            <a:ext cx="47549" cy="187452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9" name="text"/>
          <p:cNvSpPr/>
          <p:nvPr/>
        </p:nvSpPr>
        <p:spPr>
          <a:xfrm>
            <a:off x="4315968" y="3392424"/>
            <a:ext cx="29718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企业端动作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bullet"/>
          <p:cNvSpPr/>
          <p:nvPr/>
        </p:nvSpPr>
        <p:spPr>
          <a:xfrm>
            <a:off x="4370832" y="3776472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建立分公司并分配可用据点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bullet"/>
          <p:cNvSpPr/>
          <p:nvPr/>
        </p:nvSpPr>
        <p:spPr>
          <a:xfrm>
            <a:off x="4370832" y="4069080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审核员工加入企业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bullet"/>
          <p:cNvSpPr/>
          <p:nvPr/>
        </p:nvSpPr>
        <p:spPr>
          <a:xfrm>
            <a:off x="4370832" y="4361688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新增车辆、绑定合约、上架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bullet"/>
          <p:cNvSpPr/>
          <p:nvPr/>
        </p:nvSpPr>
        <p:spPr>
          <a:xfrm>
            <a:off x="4370832" y="4654296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处理审核、提醒和统计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bulletCard"/>
          <p:cNvSpPr/>
          <p:nvPr/>
        </p:nvSpPr>
        <p:spPr>
          <a:xfrm>
            <a:off x="7671816" y="3246120"/>
            <a:ext cx="3337560" cy="18745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45" name="accent"/>
          <p:cNvSpPr/>
          <p:nvPr/>
        </p:nvSpPr>
        <p:spPr>
          <a:xfrm>
            <a:off x="7671816" y="3246120"/>
            <a:ext cx="47549" cy="18745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46" name="text"/>
          <p:cNvSpPr/>
          <p:nvPr/>
        </p:nvSpPr>
        <p:spPr>
          <a:xfrm>
            <a:off x="7872984" y="3392424"/>
            <a:ext cx="29718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员工动作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bullet"/>
          <p:cNvSpPr/>
          <p:nvPr/>
        </p:nvSpPr>
        <p:spPr>
          <a:xfrm>
            <a:off x="7927848" y="3776472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进入公务车 APP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bullet"/>
          <p:cNvSpPr/>
          <p:nvPr/>
        </p:nvSpPr>
        <p:spPr>
          <a:xfrm>
            <a:off x="7927848" y="4069080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选择车辆和预约时间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bullet"/>
          <p:cNvSpPr/>
          <p:nvPr/>
        </p:nvSpPr>
        <p:spPr>
          <a:xfrm>
            <a:off x="7927848" y="4361688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等待审核或直接预约成功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bullet"/>
          <p:cNvSpPr/>
          <p:nvPr/>
        </p:nvSpPr>
        <p:spPr>
          <a:xfrm>
            <a:off x="7927848" y="4654296"/>
            <a:ext cx="283464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按企业内部流程取还车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"/>
          <p:cNvSpPr/>
          <p:nvPr/>
        </p:nvSpPr>
        <p:spPr>
          <a:xfrm>
            <a:off x="658368" y="5559552"/>
            <a:ext cx="101955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9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交付判断：不是单页能点通，而是企业、合约、员工、车辆、据点、预约、账单、通知和快照都能贯通。</a:t>
            </a:r>
            <a:endParaRPr lang="zh-CN" sz="9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核心对象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核心对象与口径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按合约控配额、按据点控可见、按资产控管理、按员工控统计。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ard"/>
          <p:cNvSpPr/>
          <p:nvPr/>
        </p:nvSpPr>
        <p:spPr>
          <a:xfrm>
            <a:off x="566928" y="1691640"/>
            <a:ext cx="32918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cardAccent"/>
          <p:cNvSpPr/>
          <p:nvPr/>
        </p:nvSpPr>
        <p:spPr>
          <a:xfrm>
            <a:off x="566928" y="1691640"/>
            <a:ext cx="47549" cy="86868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40664" y="1828800"/>
            <a:ext cx="29443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740664" y="2148840"/>
            <a:ext cx="2944368" cy="3383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9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签约主体、总公司、客户档案</a:t>
            </a:r>
            <a:endParaRPr lang="zh-CN" sz="89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ard"/>
          <p:cNvSpPr/>
          <p:nvPr/>
        </p:nvSpPr>
        <p:spPr>
          <a:xfrm>
            <a:off x="4224528" y="1691640"/>
            <a:ext cx="32918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cardAccent"/>
          <p:cNvSpPr/>
          <p:nvPr/>
        </p:nvSpPr>
        <p:spPr>
          <a:xfrm>
            <a:off x="4224528" y="1691640"/>
            <a:ext cx="47549" cy="86868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2" name="text"/>
          <p:cNvSpPr/>
          <p:nvPr/>
        </p:nvSpPr>
        <p:spPr>
          <a:xfrm>
            <a:off x="4398264" y="1828800"/>
            <a:ext cx="29443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分公司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4398264" y="2148840"/>
            <a:ext cx="2944368" cy="3383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9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员工归属、可用据点、统计归属</a:t>
            </a:r>
            <a:endParaRPr lang="zh-CN" sz="89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card"/>
          <p:cNvSpPr/>
          <p:nvPr/>
        </p:nvSpPr>
        <p:spPr>
          <a:xfrm>
            <a:off x="7882128" y="1691640"/>
            <a:ext cx="32918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cardAccent"/>
          <p:cNvSpPr/>
          <p:nvPr/>
        </p:nvSpPr>
        <p:spPr>
          <a:xfrm>
            <a:off x="7882128" y="1691640"/>
            <a:ext cx="47549" cy="868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8055864" y="1828800"/>
            <a:ext cx="29443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据点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8055864" y="2148840"/>
            <a:ext cx="2944368" cy="3383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9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停车场、电子围篱、员工可见范围</a:t>
            </a:r>
            <a:endParaRPr lang="zh-CN" sz="89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ard"/>
          <p:cNvSpPr/>
          <p:nvPr/>
        </p:nvSpPr>
        <p:spPr>
          <a:xfrm>
            <a:off x="566928" y="2880360"/>
            <a:ext cx="32918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9" name="cardAccent"/>
          <p:cNvSpPr/>
          <p:nvPr/>
        </p:nvSpPr>
        <p:spPr>
          <a:xfrm>
            <a:off x="566928" y="2880360"/>
            <a:ext cx="47549" cy="86868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20" name="text"/>
          <p:cNvSpPr/>
          <p:nvPr/>
        </p:nvSpPr>
        <p:spPr>
          <a:xfrm>
            <a:off x="740664" y="3017520"/>
            <a:ext cx="29443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740664" y="3337560"/>
            <a:ext cx="2944368" cy="3383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9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配额、单价、有效期、续费账单</a:t>
            </a:r>
            <a:endParaRPr lang="zh-CN" sz="89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ard"/>
          <p:cNvSpPr/>
          <p:nvPr/>
        </p:nvSpPr>
        <p:spPr>
          <a:xfrm>
            <a:off x="4224528" y="2880360"/>
            <a:ext cx="32918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3" name="cardAccent"/>
          <p:cNvSpPr/>
          <p:nvPr/>
        </p:nvSpPr>
        <p:spPr>
          <a:xfrm>
            <a:off x="4224528" y="2880360"/>
            <a:ext cx="47549" cy="86868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4398264" y="3017520"/>
            <a:ext cx="29443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4398264" y="3337560"/>
            <a:ext cx="2944368" cy="3383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9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资产归属、所在据点、上架状态</a:t>
            </a:r>
            <a:endParaRPr lang="zh-CN" sz="89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ard"/>
          <p:cNvSpPr/>
          <p:nvPr/>
        </p:nvSpPr>
        <p:spPr>
          <a:xfrm>
            <a:off x="7882128" y="2880360"/>
            <a:ext cx="32918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7" name="cardAccent"/>
          <p:cNvSpPr/>
          <p:nvPr/>
        </p:nvSpPr>
        <p:spPr>
          <a:xfrm>
            <a:off x="7882128" y="2880360"/>
            <a:ext cx="47549" cy="868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28" name="text"/>
          <p:cNvSpPr/>
          <p:nvPr/>
        </p:nvSpPr>
        <p:spPr>
          <a:xfrm>
            <a:off x="8055864" y="3017520"/>
            <a:ext cx="29443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/>
          <p:nvPr/>
        </p:nvSpPr>
        <p:spPr>
          <a:xfrm>
            <a:off x="8055864" y="3337560"/>
            <a:ext cx="2944368" cy="3383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9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员工用车记录、审核、履约快照</a:t>
            </a:r>
            <a:endParaRPr lang="zh-CN" sz="89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card"/>
          <p:cNvSpPr/>
          <p:nvPr/>
        </p:nvSpPr>
        <p:spPr>
          <a:xfrm>
            <a:off x="566928" y="4645152"/>
            <a:ext cx="5084064" cy="868680"/>
          </a:xfrm>
          <a:prstGeom prst="rect">
            <a:avLst/>
          </a:prstGeom>
          <a:solidFill>
            <a:srgbClr val="E5F2EE"/>
          </a:solidFill>
          <a:ln w="9000">
            <a:solidFill>
              <a:srgbClr val="D7E5EC"/>
            </a:solidFill>
          </a:ln>
        </p:spPr>
      </p:sp>
      <p:sp>
        <p:nvSpPr>
          <p:cNvPr id="31" name="cardAccent"/>
          <p:cNvSpPr/>
          <p:nvPr/>
        </p:nvSpPr>
        <p:spPr>
          <a:xfrm>
            <a:off x="566928" y="4645152"/>
            <a:ext cx="47549" cy="86868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32" name="text"/>
          <p:cNvSpPr/>
          <p:nvPr/>
        </p:nvSpPr>
        <p:spPr>
          <a:xfrm>
            <a:off x="740664" y="4782312"/>
            <a:ext cx="473659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预约快照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"/>
          <p:cNvSpPr/>
          <p:nvPr/>
        </p:nvSpPr>
        <p:spPr>
          <a:xfrm>
            <a:off x="740664" y="5102352"/>
            <a:ext cx="4736592" cy="3383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2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保存员工、车辆、据点、合约、预约时间和当时状态。</a:t>
            </a:r>
            <a:endParaRPr lang="zh-CN" sz="92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card"/>
          <p:cNvSpPr/>
          <p:nvPr/>
        </p:nvSpPr>
        <p:spPr>
          <a:xfrm>
            <a:off x="5916168" y="4645152"/>
            <a:ext cx="5084064" cy="868680"/>
          </a:xfrm>
          <a:prstGeom prst="rect">
            <a:avLst/>
          </a:prstGeom>
          <a:solidFill>
            <a:srgbClr val="FFF1D6"/>
          </a:solidFill>
          <a:ln w="9000">
            <a:solidFill>
              <a:srgbClr val="D7E5EC"/>
            </a:solidFill>
          </a:ln>
        </p:spPr>
      </p:sp>
      <p:sp>
        <p:nvSpPr>
          <p:cNvPr id="35" name="cardAccent"/>
          <p:cNvSpPr/>
          <p:nvPr/>
        </p:nvSpPr>
        <p:spPr>
          <a:xfrm>
            <a:off x="5916168" y="4645152"/>
            <a:ext cx="47549" cy="868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36" name="text"/>
          <p:cNvSpPr/>
          <p:nvPr/>
        </p:nvSpPr>
        <p:spPr>
          <a:xfrm>
            <a:off x="6089904" y="4782312"/>
            <a:ext cx="473659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账单快照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"/>
          <p:cNvSpPr/>
          <p:nvPr/>
        </p:nvSpPr>
        <p:spPr>
          <a:xfrm>
            <a:off x="6089904" y="5102352"/>
            <a:ext cx="4736592" cy="3383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2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保存合约编号、周期、配额、单价、应收金额、汇款和续费记录。</a:t>
            </a:r>
            <a:endParaRPr lang="zh-CN" sz="92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状态边界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状态与边界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预约、车辆、合约和审核分轴管理，避免一个状态解释所有场景。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atrix"/>
          <p:cNvSpPr/>
          <p:nvPr/>
        </p:nvSpPr>
        <p:spPr>
          <a:xfrm>
            <a:off x="566928" y="1664208"/>
            <a:ext cx="10442448" cy="694944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matrixAccent"/>
          <p:cNvSpPr/>
          <p:nvPr/>
        </p:nvSpPr>
        <p:spPr>
          <a:xfrm>
            <a:off x="566928" y="1664208"/>
            <a:ext cx="47549" cy="694944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31520" y="1828800"/>
            <a:ext cx="1011326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预约状态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731520" y="2130552"/>
            <a:ext cx="10113264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待审核 / 已预约 / 用车中 / 已完成 / 已取消 / 已驳回｜员工用车生命周期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atrix"/>
          <p:cNvSpPr/>
          <p:nvPr/>
        </p:nvSpPr>
        <p:spPr>
          <a:xfrm>
            <a:off x="566928" y="2606040"/>
            <a:ext cx="10442448" cy="694944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matrixAccent"/>
          <p:cNvSpPr/>
          <p:nvPr/>
        </p:nvSpPr>
        <p:spPr>
          <a:xfrm>
            <a:off x="566928" y="2606040"/>
            <a:ext cx="47549" cy="694944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2" name="text"/>
          <p:cNvSpPr/>
          <p:nvPr/>
        </p:nvSpPr>
        <p:spPr>
          <a:xfrm>
            <a:off x="731520" y="2770632"/>
            <a:ext cx="1011326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车辆状态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731520" y="3072384"/>
            <a:ext cx="10113264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已上架 / 已下架 / 可用 / 不可用 / 所在据点｜是否可被新预约查询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atrix"/>
          <p:cNvSpPr/>
          <p:nvPr/>
        </p:nvSpPr>
        <p:spPr>
          <a:xfrm>
            <a:off x="566928" y="3547872"/>
            <a:ext cx="10442448" cy="694944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matrixAccent"/>
          <p:cNvSpPr/>
          <p:nvPr/>
        </p:nvSpPr>
        <p:spPr>
          <a:xfrm>
            <a:off x="566928" y="3547872"/>
            <a:ext cx="47549" cy="694944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731520" y="3712464"/>
            <a:ext cx="1011326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合约状态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731520" y="4014216"/>
            <a:ext cx="10113264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 / 正式 / 有效 / 到期 / 失效 / 已续费｜是否允许绑定车辆和开放新预约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atrix"/>
          <p:cNvSpPr/>
          <p:nvPr/>
        </p:nvSpPr>
        <p:spPr>
          <a:xfrm>
            <a:off x="566928" y="4489704"/>
            <a:ext cx="10442448" cy="694944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9" name="matrixAccent"/>
          <p:cNvSpPr/>
          <p:nvPr/>
        </p:nvSpPr>
        <p:spPr>
          <a:xfrm>
            <a:off x="566928" y="4489704"/>
            <a:ext cx="47549" cy="694944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0" name="text"/>
          <p:cNvSpPr/>
          <p:nvPr/>
        </p:nvSpPr>
        <p:spPr>
          <a:xfrm>
            <a:off x="731520" y="4654296"/>
            <a:ext cx="1011326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通知状态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731520" y="4956048"/>
            <a:ext cx="10113264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未读 / 已读 / 已处理｜触达状态不等于业务状态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ard"/>
          <p:cNvSpPr/>
          <p:nvPr/>
        </p:nvSpPr>
        <p:spPr>
          <a:xfrm>
            <a:off x="566928" y="5486400"/>
            <a:ext cx="10442448" cy="502920"/>
          </a:xfrm>
          <a:prstGeom prst="rect">
            <a:avLst/>
          </a:prstGeom>
          <a:solidFill>
            <a:srgbClr val="E5F2EE"/>
          </a:solidFill>
          <a:ln w="9000">
            <a:solidFill>
              <a:srgbClr val="D7E5EC"/>
            </a:solidFill>
          </a:ln>
        </p:spPr>
      </p:sp>
      <p:sp>
        <p:nvSpPr>
          <p:cNvPr id="23" name="cardAccent"/>
          <p:cNvSpPr/>
          <p:nvPr/>
        </p:nvSpPr>
        <p:spPr>
          <a:xfrm>
            <a:off x="566928" y="5486400"/>
            <a:ext cx="47549" cy="50292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740664" y="5623560"/>
            <a:ext cx="100949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核心边界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740664" y="5916168"/>
            <a:ext cx="10094976" cy="27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2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车辆调拨、改据点、下架、合约到期或失效都不自动取消已创建预约；旧单继续按历史快照处理。</a:t>
            </a:r>
            <a:endParaRPr lang="zh-CN" sz="92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开通配置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企业开通与据点配置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公务车开通由营运端先建服务和合约，再交给企业端运营。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ulletCard"/>
          <p:cNvSpPr/>
          <p:nvPr/>
        </p:nvSpPr>
        <p:spPr>
          <a:xfrm>
            <a:off x="566928" y="1691640"/>
            <a:ext cx="3063240" cy="260604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accent"/>
          <p:cNvSpPr/>
          <p:nvPr/>
        </p:nvSpPr>
        <p:spPr>
          <a:xfrm>
            <a:off x="566928" y="1691640"/>
            <a:ext cx="47549" cy="260604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68096" y="1837944"/>
            <a:ext cx="269748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营运端先配置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ullet"/>
          <p:cNvSpPr/>
          <p:nvPr/>
        </p:nvSpPr>
        <p:spPr>
          <a:xfrm>
            <a:off x="822960" y="2221992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企业客户与签约服务类型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ullet"/>
          <p:cNvSpPr/>
          <p:nvPr/>
        </p:nvSpPr>
        <p:spPr>
          <a:xfrm>
            <a:off x="822960" y="2514600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签约范围内公务车据点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ullet"/>
          <p:cNvSpPr/>
          <p:nvPr/>
        </p:nvSpPr>
        <p:spPr>
          <a:xfrm>
            <a:off x="822960" y="2807208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地址、坐标、电子围篱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bullet"/>
          <p:cNvSpPr/>
          <p:nvPr/>
        </p:nvSpPr>
        <p:spPr>
          <a:xfrm>
            <a:off x="822960" y="3099816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试用 / 正式合约与配额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ullet"/>
          <p:cNvSpPr/>
          <p:nvPr/>
        </p:nvSpPr>
        <p:spPr>
          <a:xfrm>
            <a:off x="822960" y="3392424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管理员账号和测试账号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ulletCard"/>
          <p:cNvSpPr/>
          <p:nvPr/>
        </p:nvSpPr>
        <p:spPr>
          <a:xfrm>
            <a:off x="4041648" y="1691640"/>
            <a:ext cx="3063240" cy="260604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accent"/>
          <p:cNvSpPr/>
          <p:nvPr/>
        </p:nvSpPr>
        <p:spPr>
          <a:xfrm>
            <a:off x="4041648" y="1691640"/>
            <a:ext cx="47549" cy="260604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4242816" y="1837944"/>
            <a:ext cx="269748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总管理员再分配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ullet"/>
          <p:cNvSpPr/>
          <p:nvPr/>
        </p:nvSpPr>
        <p:spPr>
          <a:xfrm>
            <a:off x="4297680" y="2221992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建立分公司或分支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bullet"/>
          <p:cNvSpPr/>
          <p:nvPr/>
        </p:nvSpPr>
        <p:spPr>
          <a:xfrm>
            <a:off x="4297680" y="2514600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为分公司分配可用据点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ullet"/>
          <p:cNvSpPr/>
          <p:nvPr/>
        </p:nvSpPr>
        <p:spPr>
          <a:xfrm>
            <a:off x="4297680" y="2807208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审核员工加入企业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bullet"/>
          <p:cNvSpPr/>
          <p:nvPr/>
        </p:nvSpPr>
        <p:spPr>
          <a:xfrm>
            <a:off x="4297680" y="3099816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维护车辆和所在据点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ullet"/>
          <p:cNvSpPr/>
          <p:nvPr/>
        </p:nvSpPr>
        <p:spPr>
          <a:xfrm>
            <a:off x="4297680" y="3392424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查看合约账单和统计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bulletCard"/>
          <p:cNvSpPr/>
          <p:nvPr/>
        </p:nvSpPr>
        <p:spPr>
          <a:xfrm>
            <a:off x="7516368" y="1691640"/>
            <a:ext cx="3493008" cy="260604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3" name="accent"/>
          <p:cNvSpPr/>
          <p:nvPr/>
        </p:nvSpPr>
        <p:spPr>
          <a:xfrm>
            <a:off x="7516368" y="1691640"/>
            <a:ext cx="47549" cy="26060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7717536" y="1837944"/>
            <a:ext cx="3127248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员工按范围使用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bullet"/>
          <p:cNvSpPr/>
          <p:nvPr/>
        </p:nvSpPr>
        <p:spPr>
          <a:xfrm>
            <a:off x="7772400" y="2221992"/>
            <a:ext cx="2990088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只能看到所属分公司可用据点车辆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bullet"/>
          <p:cNvSpPr/>
          <p:nvPr/>
        </p:nvSpPr>
        <p:spPr>
          <a:xfrm>
            <a:off x="7772400" y="2514600"/>
            <a:ext cx="2990088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一个据点可被多个分公司共用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bullet"/>
          <p:cNvSpPr/>
          <p:nvPr/>
        </p:nvSpPr>
        <p:spPr>
          <a:xfrm>
            <a:off x="7772400" y="2807208"/>
            <a:ext cx="2990088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车辆资产归属不限制员工可见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bullet"/>
          <p:cNvSpPr/>
          <p:nvPr/>
        </p:nvSpPr>
        <p:spPr>
          <a:xfrm>
            <a:off x="7772400" y="3099816"/>
            <a:ext cx="2990088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时间冲突和上架状态仍需校验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bullet"/>
          <p:cNvSpPr/>
          <p:nvPr/>
        </p:nvSpPr>
        <p:spPr>
          <a:xfrm>
            <a:off x="7772400" y="3392424"/>
            <a:ext cx="2990088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不通过个人租车入口预约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card"/>
          <p:cNvSpPr/>
          <p:nvPr/>
        </p:nvSpPr>
        <p:spPr>
          <a:xfrm>
            <a:off x="566928" y="4892040"/>
            <a:ext cx="10442448" cy="530352"/>
          </a:xfrm>
          <a:prstGeom prst="rect">
            <a:avLst/>
          </a:prstGeom>
          <a:solidFill>
            <a:srgbClr val="FBFCFA"/>
          </a:solidFill>
          <a:ln w="9000">
            <a:solidFill>
              <a:srgbClr val="D7E5EC"/>
            </a:solidFill>
          </a:ln>
        </p:spPr>
      </p:sp>
      <p:sp>
        <p:nvSpPr>
          <p:cNvPr id="31" name="cardAccent"/>
          <p:cNvSpPr/>
          <p:nvPr/>
        </p:nvSpPr>
        <p:spPr>
          <a:xfrm>
            <a:off x="566928" y="4892040"/>
            <a:ext cx="47549" cy="53035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2" name="text"/>
          <p:cNvSpPr/>
          <p:nvPr/>
        </p:nvSpPr>
        <p:spPr>
          <a:xfrm>
            <a:off x="740664" y="5029200"/>
            <a:ext cx="100949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本期边界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"/>
          <p:cNvSpPr/>
          <p:nvPr/>
        </p:nvSpPr>
        <p:spPr>
          <a:xfrm>
            <a:off x="740664" y="5349240"/>
            <a:ext cx="10094976" cy="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4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企业端可调整车辆所在据点，但不负责新建物理据点、地图选点或电子围篱配置。</a:t>
            </a:r>
            <a:endParaRPr lang="zh-CN" sz="94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合约配额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合约、配额与账单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公务车账单来自企业合约，不来自员工每笔预约订单。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ulletCard"/>
          <p:cNvSpPr/>
          <p:nvPr/>
        </p:nvSpPr>
        <p:spPr>
          <a:xfrm>
            <a:off x="566928" y="1691640"/>
            <a:ext cx="3063240" cy="18745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accent"/>
          <p:cNvSpPr/>
          <p:nvPr/>
        </p:nvSpPr>
        <p:spPr>
          <a:xfrm>
            <a:off x="566928" y="1691640"/>
            <a:ext cx="47549" cy="187452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68096" y="1837944"/>
            <a:ext cx="269748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合约控制什么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ullet"/>
          <p:cNvSpPr/>
          <p:nvPr/>
        </p:nvSpPr>
        <p:spPr>
          <a:xfrm>
            <a:off x="822960" y="2221992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可管理公务车配额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ullet"/>
          <p:cNvSpPr/>
          <p:nvPr/>
        </p:nvSpPr>
        <p:spPr>
          <a:xfrm>
            <a:off x="822960" y="2514600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月缴 / 年缴单车单价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ullet"/>
          <p:cNvSpPr/>
          <p:nvPr/>
        </p:nvSpPr>
        <p:spPr>
          <a:xfrm>
            <a:off x="822960" y="2807208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计费周期和有效期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bullet"/>
          <p:cNvSpPr/>
          <p:nvPr/>
        </p:nvSpPr>
        <p:spPr>
          <a:xfrm>
            <a:off x="822960" y="3099816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试用合约与正式合约独立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ullet"/>
          <p:cNvSpPr/>
          <p:nvPr/>
        </p:nvSpPr>
        <p:spPr>
          <a:xfrm>
            <a:off x="822960" y="3392424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实际用车企业和结算代付方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ulletCard"/>
          <p:cNvSpPr/>
          <p:nvPr/>
        </p:nvSpPr>
        <p:spPr>
          <a:xfrm>
            <a:off x="4041648" y="1691640"/>
            <a:ext cx="3063240" cy="18745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accent"/>
          <p:cNvSpPr/>
          <p:nvPr/>
        </p:nvSpPr>
        <p:spPr>
          <a:xfrm>
            <a:off x="4041648" y="1691640"/>
            <a:ext cx="47549" cy="187452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4242816" y="1837944"/>
            <a:ext cx="269748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账单怎么走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ullet"/>
          <p:cNvSpPr/>
          <p:nvPr/>
        </p:nvSpPr>
        <p:spPr>
          <a:xfrm>
            <a:off x="4297680" y="2221992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新增账单：新增或增加配额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bullet"/>
          <p:cNvSpPr/>
          <p:nvPr/>
        </p:nvSpPr>
        <p:spPr>
          <a:xfrm>
            <a:off x="4297680" y="2514600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续费账单：合约周期续费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ullet"/>
          <p:cNvSpPr/>
          <p:nvPr/>
        </p:nvSpPr>
        <p:spPr>
          <a:xfrm>
            <a:off x="4297680" y="2807208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企业确认账单内容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bullet"/>
          <p:cNvSpPr/>
          <p:nvPr/>
        </p:nvSpPr>
        <p:spPr>
          <a:xfrm>
            <a:off x="4297680" y="3099816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线下公对公汇款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ullet"/>
          <p:cNvSpPr/>
          <p:nvPr/>
        </p:nvSpPr>
        <p:spPr>
          <a:xfrm>
            <a:off x="4297680" y="3392424"/>
            <a:ext cx="256032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营运端确认到账核销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bulletCard"/>
          <p:cNvSpPr/>
          <p:nvPr/>
        </p:nvSpPr>
        <p:spPr>
          <a:xfrm>
            <a:off x="7516368" y="1691640"/>
            <a:ext cx="3493008" cy="18745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3" name="accent"/>
          <p:cNvSpPr/>
          <p:nvPr/>
        </p:nvSpPr>
        <p:spPr>
          <a:xfrm>
            <a:off x="7516368" y="1691640"/>
            <a:ext cx="47549" cy="18745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7717536" y="1837944"/>
            <a:ext cx="3127248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调拨怎么处理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bullet"/>
          <p:cNvSpPr/>
          <p:nvPr/>
        </p:nvSpPr>
        <p:spPr>
          <a:xfrm>
            <a:off x="7772400" y="2221992"/>
            <a:ext cx="2990088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总管理员调整资产归属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bullet"/>
          <p:cNvSpPr/>
          <p:nvPr/>
        </p:nvSpPr>
        <p:spPr>
          <a:xfrm>
            <a:off x="7772400" y="2514600"/>
            <a:ext cx="2990088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原分公司合约绑定失效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bullet"/>
          <p:cNvSpPr/>
          <p:nvPr/>
        </p:nvSpPr>
        <p:spPr>
          <a:xfrm>
            <a:off x="7772400" y="2807208"/>
            <a:ext cx="2990088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旧配额不继续占用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bullet"/>
          <p:cNvSpPr/>
          <p:nvPr/>
        </p:nvSpPr>
        <p:spPr>
          <a:xfrm>
            <a:off x="7772400" y="3099816"/>
            <a:ext cx="2990088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新分公司重新选择可用合约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bullet"/>
          <p:cNvSpPr/>
          <p:nvPr/>
        </p:nvSpPr>
        <p:spPr>
          <a:xfrm>
            <a:off x="7772400" y="3392424"/>
            <a:ext cx="2990088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未重新绑定前不能上架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"/>
          <p:cNvSpPr/>
          <p:nvPr/>
        </p:nvSpPr>
        <p:spPr>
          <a:xfrm>
            <a:off x="658368" y="4224528"/>
            <a:ext cx="1188720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账单状态</a:t>
            </a:r>
            <a:endParaRPr lang="zh-CN" sz="105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pill"/>
          <p:cNvSpPr/>
          <p:nvPr/>
        </p:nvSpPr>
        <p:spPr>
          <a:xfrm>
            <a:off x="1755648" y="4151376"/>
            <a:ext cx="1234440" cy="310896"/>
          </a:xfrm>
          <a:prstGeom prst="rect">
            <a:avLst/>
          </a:prstGeom>
          <a:solidFill>
            <a:srgbClr val="DDF0F8"/>
          </a:solidFill>
          <a:ln w="0">
            <a:noFill/>
          </a:ln>
        </p:spPr>
        <p:txBody>
          <a:bodyPr wrap="square" lIns="8000" tIns="0" rIns="8000" bIns="0" anchor="ctr"/>
          <a:lstStyle/>
          <a:p>
            <a:pPr algn="ctr"/>
            <a:r>
              <a:rPr lang="zh-CN" sz="9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待客户确认</a:t>
            </a:r>
            <a:endParaRPr lang="zh-CN" sz="9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pill"/>
          <p:cNvSpPr/>
          <p:nvPr/>
        </p:nvSpPr>
        <p:spPr>
          <a:xfrm>
            <a:off x="3246120" y="4151376"/>
            <a:ext cx="1234440" cy="310896"/>
          </a:xfrm>
          <a:prstGeom prst="rect">
            <a:avLst/>
          </a:prstGeom>
          <a:solidFill>
            <a:srgbClr val="DDF0F8"/>
          </a:solidFill>
          <a:ln w="0">
            <a:noFill/>
          </a:ln>
        </p:spPr>
        <p:txBody>
          <a:bodyPr wrap="square" lIns="8000" tIns="0" rIns="8000" bIns="0" anchor="ctr"/>
          <a:lstStyle/>
          <a:p>
            <a:pPr algn="ctr"/>
            <a:r>
              <a:rPr lang="zh-CN" sz="9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待提供汇款账户</a:t>
            </a:r>
            <a:endParaRPr lang="zh-CN" sz="9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pill"/>
          <p:cNvSpPr/>
          <p:nvPr/>
        </p:nvSpPr>
        <p:spPr>
          <a:xfrm>
            <a:off x="4736592" y="4151376"/>
            <a:ext cx="1234440" cy="310896"/>
          </a:xfrm>
          <a:prstGeom prst="rect">
            <a:avLst/>
          </a:prstGeom>
          <a:solidFill>
            <a:srgbClr val="DDF0F8"/>
          </a:solidFill>
          <a:ln w="0">
            <a:noFill/>
          </a:ln>
        </p:spPr>
        <p:txBody>
          <a:bodyPr wrap="square" lIns="8000" tIns="0" rIns="8000" bIns="0" anchor="ctr"/>
          <a:lstStyle/>
          <a:p>
            <a:pPr algn="ctr"/>
            <a:r>
              <a:rPr lang="zh-CN" sz="9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待汇款</a:t>
            </a:r>
            <a:endParaRPr lang="zh-CN" sz="9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pill"/>
          <p:cNvSpPr/>
          <p:nvPr/>
        </p:nvSpPr>
        <p:spPr>
          <a:xfrm>
            <a:off x="6227064" y="4151376"/>
            <a:ext cx="1234440" cy="310896"/>
          </a:xfrm>
          <a:prstGeom prst="rect">
            <a:avLst/>
          </a:prstGeom>
          <a:solidFill>
            <a:srgbClr val="DDF0F8"/>
          </a:solidFill>
          <a:ln w="0">
            <a:noFill/>
          </a:ln>
        </p:spPr>
        <p:txBody>
          <a:bodyPr wrap="square" lIns="8000" tIns="0" rIns="8000" bIns="0" anchor="ctr"/>
          <a:lstStyle/>
          <a:p>
            <a:pPr algn="ctr"/>
            <a:r>
              <a:rPr lang="zh-CN" sz="9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汇款确认中</a:t>
            </a:r>
            <a:endParaRPr lang="zh-CN" sz="9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pill"/>
          <p:cNvSpPr/>
          <p:nvPr/>
        </p:nvSpPr>
        <p:spPr>
          <a:xfrm>
            <a:off x="7717536" y="4151376"/>
            <a:ext cx="1234440" cy="310896"/>
          </a:xfrm>
          <a:prstGeom prst="rect">
            <a:avLst/>
          </a:prstGeom>
          <a:solidFill>
            <a:srgbClr val="E5F2EE"/>
          </a:solidFill>
          <a:ln w="0">
            <a:noFill/>
          </a:ln>
        </p:spPr>
        <p:txBody>
          <a:bodyPr wrap="square" lIns="8000" tIns="0" rIns="8000" bIns="0" anchor="ctr"/>
          <a:lstStyle/>
          <a:p>
            <a:pPr algn="ctr"/>
            <a:r>
              <a:rPr lang="zh-CN" sz="92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已缴费</a:t>
            </a:r>
            <a:endParaRPr lang="zh-CN" sz="920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pill"/>
          <p:cNvSpPr/>
          <p:nvPr/>
        </p:nvSpPr>
        <p:spPr>
          <a:xfrm>
            <a:off x="9208008" y="4151376"/>
            <a:ext cx="1234440" cy="310896"/>
          </a:xfrm>
          <a:prstGeom prst="rect">
            <a:avLst/>
          </a:prstGeom>
          <a:solidFill>
            <a:srgbClr val="FBECEC"/>
          </a:solidFill>
          <a:ln w="0">
            <a:noFill/>
          </a:ln>
        </p:spPr>
        <p:txBody>
          <a:bodyPr wrap="square" lIns="8000" tIns="0" rIns="8000" bIns="0" anchor="ctr"/>
          <a:lstStyle/>
          <a:p>
            <a:pPr algn="ctr"/>
            <a:r>
              <a:rPr lang="zh-CN" sz="920" b="1">
                <a:solidFill>
                  <a:srgbClr val="B8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已过期</a:t>
            </a:r>
            <a:endParaRPr lang="zh-CN" sz="920">
              <a:solidFill>
                <a:srgbClr val="B8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card"/>
          <p:cNvSpPr/>
          <p:nvPr/>
        </p:nvSpPr>
        <p:spPr>
          <a:xfrm>
            <a:off x="566928" y="4956048"/>
            <a:ext cx="10442448" cy="594360"/>
          </a:xfrm>
          <a:prstGeom prst="rect">
            <a:avLst/>
          </a:prstGeom>
          <a:solidFill>
            <a:srgbClr val="FBFCFA"/>
          </a:solidFill>
          <a:ln w="9000">
            <a:solidFill>
              <a:srgbClr val="D7E5EC"/>
            </a:solidFill>
          </a:ln>
        </p:spPr>
      </p:sp>
      <p:sp>
        <p:nvSpPr>
          <p:cNvPr id="38" name="cardAccent"/>
          <p:cNvSpPr/>
          <p:nvPr/>
        </p:nvSpPr>
        <p:spPr>
          <a:xfrm>
            <a:off x="566928" y="4956048"/>
            <a:ext cx="47549" cy="59436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9" name="text"/>
          <p:cNvSpPr/>
          <p:nvPr/>
        </p:nvSpPr>
        <p:spPr>
          <a:xfrm>
            <a:off x="740664" y="5093208"/>
            <a:ext cx="100949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资金边界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"/>
          <p:cNvSpPr/>
          <p:nvPr/>
        </p:nvSpPr>
        <p:spPr>
          <a:xfrm>
            <a:off x="740664" y="5413248"/>
            <a:ext cx="10094976" cy="640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员工预约公务车不会产生个人应付费用，不走个人预授权、个人支付或个人退款；企业月结租赁账单和公务车合约账单是不同来源。</a:t>
            </a:r>
            <a:endParaRPr lang="zh-CN" sz="8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车辆与据点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分公司、据点与车辆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三个口径必须拆开：资产归属管管理权，所在据点管可见性，员工所属管统计。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atrix"/>
          <p:cNvSpPr/>
          <p:nvPr/>
        </p:nvSpPr>
        <p:spPr>
          <a:xfrm>
            <a:off x="566928" y="1664208"/>
            <a:ext cx="3246120" cy="17373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matrixAccent"/>
          <p:cNvSpPr/>
          <p:nvPr/>
        </p:nvSpPr>
        <p:spPr>
          <a:xfrm>
            <a:off x="566928" y="1664208"/>
            <a:ext cx="47549" cy="173736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31520" y="1828800"/>
            <a:ext cx="29169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资产归属分公司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731520" y="2130552"/>
            <a:ext cx="2916936" cy="12070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决定谁能管理车辆。总管理员可调拨；分公司管理员只能维护资产归属为本分公司的车辆。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atrix"/>
          <p:cNvSpPr/>
          <p:nvPr/>
        </p:nvSpPr>
        <p:spPr>
          <a:xfrm>
            <a:off x="4096512" y="1664208"/>
            <a:ext cx="3246120" cy="17373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matrixAccent"/>
          <p:cNvSpPr/>
          <p:nvPr/>
        </p:nvSpPr>
        <p:spPr>
          <a:xfrm>
            <a:off x="4096512" y="1664208"/>
            <a:ext cx="47549" cy="173736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2" name="text"/>
          <p:cNvSpPr/>
          <p:nvPr/>
        </p:nvSpPr>
        <p:spPr>
          <a:xfrm>
            <a:off x="4261104" y="1828800"/>
            <a:ext cx="29169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车辆所在据点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4261104" y="2130552"/>
            <a:ext cx="2916936" cy="12070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决定员工是否看得到车辆。企业端可在已配置公务车据点内调整；一个据点可被多个分公司共用。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atrix"/>
          <p:cNvSpPr/>
          <p:nvPr/>
        </p:nvSpPr>
        <p:spPr>
          <a:xfrm>
            <a:off x="7626096" y="1664208"/>
            <a:ext cx="3246120" cy="17373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matrixAccent"/>
          <p:cNvSpPr/>
          <p:nvPr/>
        </p:nvSpPr>
        <p:spPr>
          <a:xfrm>
            <a:off x="7626096" y="1664208"/>
            <a:ext cx="47549" cy="17373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7790688" y="1828800"/>
            <a:ext cx="291693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员工所属分公司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7790688" y="2130552"/>
            <a:ext cx="2916936" cy="12070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决定预约和统计归属。员工属于哪个分公司，预约和用车统计就归属哪个分公司。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ard"/>
          <p:cNvSpPr/>
          <p:nvPr/>
        </p:nvSpPr>
        <p:spPr>
          <a:xfrm>
            <a:off x="566928" y="4041648"/>
            <a:ext cx="10442448" cy="987552"/>
          </a:xfrm>
          <a:prstGeom prst="rect">
            <a:avLst/>
          </a:prstGeom>
          <a:solidFill>
            <a:srgbClr val="FFF1D6"/>
          </a:solidFill>
          <a:ln w="9000">
            <a:solidFill>
              <a:srgbClr val="D7E5EC"/>
            </a:solidFill>
          </a:ln>
        </p:spPr>
      </p:sp>
      <p:sp>
        <p:nvSpPr>
          <p:cNvPr id="19" name="cardAccent"/>
          <p:cNvSpPr/>
          <p:nvPr/>
        </p:nvSpPr>
        <p:spPr>
          <a:xfrm>
            <a:off x="566928" y="4041648"/>
            <a:ext cx="47549" cy="987552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20" name="text"/>
          <p:cNvSpPr/>
          <p:nvPr/>
        </p:nvSpPr>
        <p:spPr>
          <a:xfrm>
            <a:off x="740664" y="4178808"/>
            <a:ext cx="100949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740664" y="4498848"/>
            <a:ext cx="10094976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车辆资产归属 A 分公司，但停放在 B 分公司可用据点；B 分公司员工可以预约，但 B 分公司管理员不能管理这台车。</a:t>
            </a:r>
            <a:endParaRPr lang="zh-CN" sz="112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"/>
          <p:cNvSpPr/>
          <p:nvPr/>
        </p:nvSpPr>
        <p:spPr>
          <a:xfrm>
            <a:off x="685800" y="5449824"/>
            <a:ext cx="1014984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9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清洁保养母版、车辆管理权限和合约绑定按资产归属分公司处理；员工用车记录按员工所属分公司处理。</a:t>
            </a:r>
            <a:endParaRPr lang="zh-CN" sz="9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员工预约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员工预约与审核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分公司可配置是否启用用车审核，审核开启后由主管或分公司管理员处理。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ep"/>
          <p:cNvSpPr/>
          <p:nvPr/>
        </p:nvSpPr>
        <p:spPr>
          <a:xfrm>
            <a:off x="566928" y="1691640"/>
            <a:ext cx="1847088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shape"/>
          <p:cNvSpPr/>
          <p:nvPr/>
        </p:nvSpPr>
        <p:spPr>
          <a:xfrm>
            <a:off x="676656" y="1837944"/>
            <a:ext cx="301752" cy="301752"/>
          </a:xfrm>
          <a:prstGeom prst="ellipse">
            <a:avLst/>
          </a:prstGeom>
          <a:solidFill>
            <a:srgbClr val="2D7D6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/>
          <p:nvPr/>
        </p:nvSpPr>
        <p:spPr>
          <a:xfrm>
            <a:off x="1069848" y="1810512"/>
            <a:ext cx="122529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员工进入 APP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1069848" y="2084832"/>
            <a:ext cx="1225296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通过企业审核后才能使用公务车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tep"/>
          <p:cNvSpPr/>
          <p:nvPr/>
        </p:nvSpPr>
        <p:spPr>
          <a:xfrm>
            <a:off x="2651760" y="1691640"/>
            <a:ext cx="1847088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shape"/>
          <p:cNvSpPr/>
          <p:nvPr/>
        </p:nvSpPr>
        <p:spPr>
          <a:xfrm>
            <a:off x="2761488" y="1837944"/>
            <a:ext cx="301752" cy="301752"/>
          </a:xfrm>
          <a:prstGeom prst="ellipse">
            <a:avLst/>
          </a:prstGeom>
          <a:solidFill>
            <a:srgbClr val="00689E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/>
          <p:nvPr/>
        </p:nvSpPr>
        <p:spPr>
          <a:xfrm>
            <a:off x="3154680" y="1810512"/>
            <a:ext cx="122529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查询可用车辆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3154680" y="2084832"/>
            <a:ext cx="1225296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按分公司可用据点和时间冲突过滤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tep"/>
          <p:cNvSpPr/>
          <p:nvPr/>
        </p:nvSpPr>
        <p:spPr>
          <a:xfrm>
            <a:off x="4736592" y="1691640"/>
            <a:ext cx="1847088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shape"/>
          <p:cNvSpPr/>
          <p:nvPr/>
        </p:nvSpPr>
        <p:spPr>
          <a:xfrm>
            <a:off x="4846320" y="1837944"/>
            <a:ext cx="301752" cy="301752"/>
          </a:xfrm>
          <a:prstGeom prst="ellipse">
            <a:avLst/>
          </a:prstGeom>
          <a:solidFill>
            <a:srgbClr val="D9770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/>
          <p:nvPr/>
        </p:nvSpPr>
        <p:spPr>
          <a:xfrm>
            <a:off x="5239512" y="1810512"/>
            <a:ext cx="122529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提交预约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5239512" y="2084832"/>
            <a:ext cx="1225296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可立即用车、跨天、提前还车或延长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tep"/>
          <p:cNvSpPr/>
          <p:nvPr/>
        </p:nvSpPr>
        <p:spPr>
          <a:xfrm>
            <a:off x="6821424" y="1691640"/>
            <a:ext cx="1847088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9" name="shape"/>
          <p:cNvSpPr/>
          <p:nvPr/>
        </p:nvSpPr>
        <p:spPr>
          <a:xfrm>
            <a:off x="6931152" y="1837944"/>
            <a:ext cx="301752" cy="301752"/>
          </a:xfrm>
          <a:prstGeom prst="ellipse">
            <a:avLst/>
          </a:prstGeom>
          <a:solidFill>
            <a:srgbClr val="00689E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/>
          <p:nvPr/>
        </p:nvSpPr>
        <p:spPr>
          <a:xfrm>
            <a:off x="7324344" y="1810512"/>
            <a:ext cx="122529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审核开关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7324344" y="2084832"/>
            <a:ext cx="1225296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未开启直接预约；开启后进入待审核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tep"/>
          <p:cNvSpPr/>
          <p:nvPr/>
        </p:nvSpPr>
        <p:spPr>
          <a:xfrm>
            <a:off x="8906256" y="1691640"/>
            <a:ext cx="1847088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3" name="shape"/>
          <p:cNvSpPr/>
          <p:nvPr/>
        </p:nvSpPr>
        <p:spPr>
          <a:xfrm>
            <a:off x="9015984" y="1837944"/>
            <a:ext cx="301752" cy="301752"/>
          </a:xfrm>
          <a:prstGeom prst="ellipse">
            <a:avLst/>
          </a:prstGeom>
          <a:solidFill>
            <a:srgbClr val="2D7D6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/>
          <p:nvPr/>
        </p:nvSpPr>
        <p:spPr>
          <a:xfrm>
            <a:off x="9409176" y="1810512"/>
            <a:ext cx="122529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审核结果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9409176" y="2084832"/>
            <a:ext cx="1225296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主管或分公司管理员通过后生效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bulletCard"/>
          <p:cNvSpPr/>
          <p:nvPr/>
        </p:nvSpPr>
        <p:spPr>
          <a:xfrm>
            <a:off x="566928" y="3246120"/>
            <a:ext cx="5029200" cy="14173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7" name="accent"/>
          <p:cNvSpPr/>
          <p:nvPr/>
        </p:nvSpPr>
        <p:spPr>
          <a:xfrm>
            <a:off x="566928" y="3246120"/>
            <a:ext cx="47549" cy="141732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8" name="text"/>
          <p:cNvSpPr/>
          <p:nvPr/>
        </p:nvSpPr>
        <p:spPr>
          <a:xfrm>
            <a:off x="768096" y="3392424"/>
            <a:ext cx="466344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审核开启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bullet"/>
          <p:cNvSpPr/>
          <p:nvPr/>
        </p:nvSpPr>
        <p:spPr>
          <a:xfrm>
            <a:off x="822960" y="3776472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员工提交后进入待审核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bullet"/>
          <p:cNvSpPr/>
          <p:nvPr/>
        </p:nvSpPr>
        <p:spPr>
          <a:xfrm>
            <a:off x="822960" y="4069080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系统推送给员工部门主管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bullet"/>
          <p:cNvSpPr/>
          <p:nvPr/>
        </p:nvSpPr>
        <p:spPr>
          <a:xfrm>
            <a:off x="822960" y="4361688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分公司管理员后台也可以审核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bullet"/>
          <p:cNvSpPr/>
          <p:nvPr/>
        </p:nvSpPr>
        <p:spPr>
          <a:xfrm>
            <a:off x="822960" y="4654296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审核不通过后不形成有效预约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bulletCard"/>
          <p:cNvSpPr/>
          <p:nvPr/>
        </p:nvSpPr>
        <p:spPr>
          <a:xfrm>
            <a:off x="5980176" y="3246120"/>
            <a:ext cx="5029200" cy="141732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34" name="accent"/>
          <p:cNvSpPr/>
          <p:nvPr/>
        </p:nvSpPr>
        <p:spPr>
          <a:xfrm>
            <a:off x="5980176" y="3246120"/>
            <a:ext cx="47549" cy="141732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35" name="text"/>
          <p:cNvSpPr/>
          <p:nvPr/>
        </p:nvSpPr>
        <p:spPr>
          <a:xfrm>
            <a:off x="6181344" y="3392424"/>
            <a:ext cx="466344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审核关闭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bullet"/>
          <p:cNvSpPr/>
          <p:nvPr/>
        </p:nvSpPr>
        <p:spPr>
          <a:xfrm>
            <a:off x="6236208" y="3776472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员工提交后直接创建预约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bullet"/>
          <p:cNvSpPr/>
          <p:nvPr/>
        </p:nvSpPr>
        <p:spPr>
          <a:xfrm>
            <a:off x="6236208" y="4069080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仍校验车辆可用、据点可用、时间不冲突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bullet"/>
          <p:cNvSpPr/>
          <p:nvPr/>
        </p:nvSpPr>
        <p:spPr>
          <a:xfrm>
            <a:off x="6236208" y="4361688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不走个人支付、预授权和退款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bullet"/>
          <p:cNvSpPr/>
          <p:nvPr/>
        </p:nvSpPr>
        <p:spPr>
          <a:xfrm>
            <a:off x="6236208" y="4654296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订单类通知发送给预约员工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screenshot"/>
          <p:cNvSpPr/>
          <p:nvPr/>
        </p:nvSpPr>
        <p:spPr>
          <a:xfrm>
            <a:off x="566928" y="5074920"/>
            <a:ext cx="5029200" cy="685800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41" name="ssAccent"/>
          <p:cNvSpPr/>
          <p:nvPr/>
        </p:nvSpPr>
        <p:spPr>
          <a:xfrm>
            <a:off x="566928" y="5074920"/>
            <a:ext cx="47549" cy="68580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42" name="text"/>
          <p:cNvSpPr/>
          <p:nvPr/>
        </p:nvSpPr>
        <p:spPr>
          <a:xfrm>
            <a:off x="694944" y="5184648"/>
            <a:ext cx="4773168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"/>
          <p:cNvSpPr/>
          <p:nvPr/>
        </p:nvSpPr>
        <p:spPr>
          <a:xfrm>
            <a:off x="731520" y="5422392"/>
            <a:ext cx="4700016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 APP 预约页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screenshot"/>
          <p:cNvSpPr/>
          <p:nvPr/>
        </p:nvSpPr>
        <p:spPr>
          <a:xfrm>
            <a:off x="5980176" y="5074920"/>
            <a:ext cx="5029200" cy="685800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45" name="ssAccent"/>
          <p:cNvSpPr/>
          <p:nvPr/>
        </p:nvSpPr>
        <p:spPr>
          <a:xfrm>
            <a:off x="5980176" y="5074920"/>
            <a:ext cx="47549" cy="68580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46" name="text"/>
          <p:cNvSpPr/>
          <p:nvPr/>
        </p:nvSpPr>
        <p:spPr>
          <a:xfrm>
            <a:off x="6108192" y="5184648"/>
            <a:ext cx="4773168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"/>
          <p:cNvSpPr/>
          <p:nvPr/>
        </p:nvSpPr>
        <p:spPr>
          <a:xfrm>
            <a:off x="6144768" y="5422392"/>
            <a:ext cx="4700016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企业端用车审核页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履约保护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履约与既有预约保护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调拨、改据点、下架和合约到期都不自动取消既有预约。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ulletCard"/>
          <p:cNvSpPr/>
          <p:nvPr/>
        </p:nvSpPr>
        <p:spPr>
          <a:xfrm>
            <a:off x="566928" y="1691640"/>
            <a:ext cx="3246120" cy="19659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accent"/>
          <p:cNvSpPr/>
          <p:nvPr/>
        </p:nvSpPr>
        <p:spPr>
          <a:xfrm>
            <a:off x="566928" y="1691640"/>
            <a:ext cx="47549" cy="196596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68096" y="1837944"/>
            <a:ext cx="28803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履约方式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ullet"/>
          <p:cNvSpPr/>
          <p:nvPr/>
        </p:nvSpPr>
        <p:spPr>
          <a:xfrm>
            <a:off x="822960" y="2221992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当前未接入车机时按预约管理和人工交付闭环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ullet"/>
          <p:cNvSpPr/>
          <p:nvPr/>
        </p:nvSpPr>
        <p:spPr>
          <a:xfrm>
            <a:off x="822960" y="2514600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企业内部线下交钥匙、验车和确认归还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ullet"/>
          <p:cNvSpPr/>
          <p:nvPr/>
        </p:nvSpPr>
        <p:spPr>
          <a:xfrm>
            <a:off x="822960" y="2807208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后续绑定车机后，员工可在 APP 开锁和还车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bullet"/>
          <p:cNvSpPr/>
          <p:nvPr/>
        </p:nvSpPr>
        <p:spPr>
          <a:xfrm>
            <a:off x="822960" y="3099816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车机异常、定位异常本期以异常记录和人工处理为主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ulletCard"/>
          <p:cNvSpPr/>
          <p:nvPr/>
        </p:nvSpPr>
        <p:spPr>
          <a:xfrm>
            <a:off x="4096512" y="1691640"/>
            <a:ext cx="3246120" cy="19659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4" name="accent"/>
          <p:cNvSpPr/>
          <p:nvPr/>
        </p:nvSpPr>
        <p:spPr>
          <a:xfrm>
            <a:off x="4096512" y="1691640"/>
            <a:ext cx="47549" cy="196596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5" name="text"/>
          <p:cNvSpPr/>
          <p:nvPr/>
        </p:nvSpPr>
        <p:spPr>
          <a:xfrm>
            <a:off x="4297680" y="1837944"/>
            <a:ext cx="28803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不会自动取消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ullet"/>
          <p:cNvSpPr/>
          <p:nvPr/>
        </p:nvSpPr>
        <p:spPr>
          <a:xfrm>
            <a:off x="4352544" y="2221992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车辆资产调拨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ullet"/>
          <p:cNvSpPr/>
          <p:nvPr/>
        </p:nvSpPr>
        <p:spPr>
          <a:xfrm>
            <a:off x="4352544" y="2514600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车辆所在据点调整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bullet"/>
          <p:cNvSpPr/>
          <p:nvPr/>
        </p:nvSpPr>
        <p:spPr>
          <a:xfrm>
            <a:off x="4352544" y="2807208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车辆下架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ullet"/>
          <p:cNvSpPr/>
          <p:nvPr/>
        </p:nvSpPr>
        <p:spPr>
          <a:xfrm>
            <a:off x="4352544" y="3099816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合约到期或失效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bullet"/>
          <p:cNvSpPr/>
          <p:nvPr/>
        </p:nvSpPr>
        <p:spPr>
          <a:xfrm>
            <a:off x="4352544" y="3392424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既有预约继续保留原订单记录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ulletCard"/>
          <p:cNvSpPr/>
          <p:nvPr/>
        </p:nvSpPr>
        <p:spPr>
          <a:xfrm>
            <a:off x="7626096" y="1691640"/>
            <a:ext cx="3246120" cy="19659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2" name="accent"/>
          <p:cNvSpPr/>
          <p:nvPr/>
        </p:nvSpPr>
        <p:spPr>
          <a:xfrm>
            <a:off x="7626096" y="1691640"/>
            <a:ext cx="47549" cy="1965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23" name="text"/>
          <p:cNvSpPr/>
          <p:nvPr/>
        </p:nvSpPr>
        <p:spPr>
          <a:xfrm>
            <a:off x="7827264" y="1837944"/>
            <a:ext cx="28803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继续按快照处理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bullet"/>
          <p:cNvSpPr/>
          <p:nvPr/>
        </p:nvSpPr>
        <p:spPr>
          <a:xfrm>
            <a:off x="7882128" y="2221992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订单创建时保存车辆、据点、时间和状态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bullet"/>
          <p:cNvSpPr/>
          <p:nvPr/>
        </p:nvSpPr>
        <p:spPr>
          <a:xfrm>
            <a:off x="7882128" y="2514600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后续主数据变化不回改旧单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bullet"/>
          <p:cNvSpPr/>
          <p:nvPr/>
        </p:nvSpPr>
        <p:spPr>
          <a:xfrm>
            <a:off x="7882128" y="2807208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新预约按最新车辆、据点、合约和上架状态判断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bullet"/>
          <p:cNvSpPr/>
          <p:nvPr/>
        </p:nvSpPr>
        <p:spPr>
          <a:xfrm>
            <a:off x="7882128" y="3099816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企业内部自行协调既有预约是否继续履约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card"/>
          <p:cNvSpPr/>
          <p:nvPr/>
        </p:nvSpPr>
        <p:spPr>
          <a:xfrm>
            <a:off x="566928" y="4462272"/>
            <a:ext cx="10442448" cy="749808"/>
          </a:xfrm>
          <a:prstGeom prst="rect">
            <a:avLst/>
          </a:prstGeom>
          <a:solidFill>
            <a:srgbClr val="DDF0F8"/>
          </a:solidFill>
          <a:ln w="9000">
            <a:solidFill>
              <a:srgbClr val="D7E5EC"/>
            </a:solidFill>
          </a:ln>
        </p:spPr>
      </p:sp>
      <p:sp>
        <p:nvSpPr>
          <p:cNvPr id="29" name="cardAccent"/>
          <p:cNvSpPr/>
          <p:nvPr/>
        </p:nvSpPr>
        <p:spPr>
          <a:xfrm>
            <a:off x="566928" y="4462272"/>
            <a:ext cx="47549" cy="749808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0" name="text"/>
          <p:cNvSpPr/>
          <p:nvPr/>
        </p:nvSpPr>
        <p:spPr>
          <a:xfrm>
            <a:off x="740664" y="4599432"/>
            <a:ext cx="100949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为什么要保护既有预约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"/>
          <p:cNvSpPr/>
          <p:nvPr/>
        </p:nvSpPr>
        <p:spPr>
          <a:xfrm>
            <a:off x="740664" y="4919472"/>
            <a:ext cx="1009497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避免企业内部调拨、停车位置调整或合约续费动作破坏已确认的员工用车安排。</a:t>
            </a:r>
            <a:endParaRPr lang="zh-CN" sz="10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清洁保养提醒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清洁保养提醒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提醒能力服务车辆管理，不替代工单、维修、费用和车辆管控模块。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ep"/>
          <p:cNvSpPr/>
          <p:nvPr/>
        </p:nvSpPr>
        <p:spPr>
          <a:xfrm>
            <a:off x="566928" y="1691640"/>
            <a:ext cx="1847088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shape"/>
          <p:cNvSpPr/>
          <p:nvPr/>
        </p:nvSpPr>
        <p:spPr>
          <a:xfrm>
            <a:off x="676656" y="1837944"/>
            <a:ext cx="301752" cy="301752"/>
          </a:xfrm>
          <a:prstGeom prst="ellipse">
            <a:avLst/>
          </a:prstGeom>
          <a:solidFill>
            <a:srgbClr val="2D7D6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/>
          <p:nvPr/>
        </p:nvSpPr>
        <p:spPr>
          <a:xfrm>
            <a:off x="1069848" y="1810512"/>
            <a:ext cx="122529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维护母版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1069848" y="2084832"/>
            <a:ext cx="1225296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企业通用 / 分公司专用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tep"/>
          <p:cNvSpPr/>
          <p:nvPr/>
        </p:nvSpPr>
        <p:spPr>
          <a:xfrm>
            <a:off x="2651760" y="1691640"/>
            <a:ext cx="1847088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shape"/>
          <p:cNvSpPr/>
          <p:nvPr/>
        </p:nvSpPr>
        <p:spPr>
          <a:xfrm>
            <a:off x="2761488" y="1837944"/>
            <a:ext cx="301752" cy="301752"/>
          </a:xfrm>
          <a:prstGeom prst="ellipse">
            <a:avLst/>
          </a:prstGeom>
          <a:solidFill>
            <a:srgbClr val="00689E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/>
          <p:nvPr/>
        </p:nvSpPr>
        <p:spPr>
          <a:xfrm>
            <a:off x="3154680" y="1810512"/>
            <a:ext cx="122529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车辆套用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3154680" y="2084832"/>
            <a:ext cx="1225296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每车绑定保养和清洁母版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tep"/>
          <p:cNvSpPr/>
          <p:nvPr/>
        </p:nvSpPr>
        <p:spPr>
          <a:xfrm>
            <a:off x="4736592" y="1691640"/>
            <a:ext cx="1847088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shape"/>
          <p:cNvSpPr/>
          <p:nvPr/>
        </p:nvSpPr>
        <p:spPr>
          <a:xfrm>
            <a:off x="4846320" y="1837944"/>
            <a:ext cx="301752" cy="301752"/>
          </a:xfrm>
          <a:prstGeom prst="ellipse">
            <a:avLst/>
          </a:prstGeom>
          <a:solidFill>
            <a:srgbClr val="D9770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/>
          <p:nvPr/>
        </p:nvSpPr>
        <p:spPr>
          <a:xfrm>
            <a:off x="5239512" y="1810512"/>
            <a:ext cx="122529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定时判断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5239512" y="2084832"/>
            <a:ext cx="1225296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里程、月份、次数、天数任一触发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tep"/>
          <p:cNvSpPr/>
          <p:nvPr/>
        </p:nvSpPr>
        <p:spPr>
          <a:xfrm>
            <a:off x="6821424" y="1691640"/>
            <a:ext cx="1847088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9" name="shape"/>
          <p:cNvSpPr/>
          <p:nvPr/>
        </p:nvSpPr>
        <p:spPr>
          <a:xfrm>
            <a:off x="6931152" y="1837944"/>
            <a:ext cx="301752" cy="301752"/>
          </a:xfrm>
          <a:prstGeom prst="ellipse">
            <a:avLst/>
          </a:prstGeom>
          <a:solidFill>
            <a:srgbClr val="00689E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/>
          <p:nvPr/>
        </p:nvSpPr>
        <p:spPr>
          <a:xfrm>
            <a:off x="7324344" y="1810512"/>
            <a:ext cx="122529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提醒处理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7324344" y="2084832"/>
            <a:ext cx="1225296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登记完成或忽略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tep"/>
          <p:cNvSpPr/>
          <p:nvPr/>
        </p:nvSpPr>
        <p:spPr>
          <a:xfrm>
            <a:off x="8906256" y="1691640"/>
            <a:ext cx="1847088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3" name="shape"/>
          <p:cNvSpPr/>
          <p:nvPr/>
        </p:nvSpPr>
        <p:spPr>
          <a:xfrm>
            <a:off x="9015984" y="1837944"/>
            <a:ext cx="301752" cy="301752"/>
          </a:xfrm>
          <a:prstGeom prst="ellipse">
            <a:avLst/>
          </a:prstGeom>
          <a:solidFill>
            <a:srgbClr val="2D7D6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/>
          <p:nvPr/>
        </p:nvSpPr>
        <p:spPr>
          <a:xfrm>
            <a:off x="9409176" y="1810512"/>
            <a:ext cx="1225296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重新计算</a:t>
            </a:r>
            <a:endParaRPr lang="zh-CN" sz="10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9409176" y="2084832"/>
            <a:ext cx="1225296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78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回写新基线，进入下一周期</a:t>
            </a:r>
            <a:endParaRPr lang="zh-CN" sz="78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bulletCard"/>
          <p:cNvSpPr/>
          <p:nvPr/>
        </p:nvSpPr>
        <p:spPr>
          <a:xfrm>
            <a:off x="566928" y="3246120"/>
            <a:ext cx="3246120" cy="15087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7" name="accent"/>
          <p:cNvSpPr/>
          <p:nvPr/>
        </p:nvSpPr>
        <p:spPr>
          <a:xfrm>
            <a:off x="566928" y="3246120"/>
            <a:ext cx="47549" cy="150876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28" name="text"/>
          <p:cNvSpPr/>
          <p:nvPr/>
        </p:nvSpPr>
        <p:spPr>
          <a:xfrm>
            <a:off x="768096" y="3392424"/>
            <a:ext cx="28803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保养提醒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bullet"/>
          <p:cNvSpPr/>
          <p:nvPr/>
        </p:nvSpPr>
        <p:spPr>
          <a:xfrm>
            <a:off x="822960" y="3776472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当前里程 - 上次保养里程 &gt;= 阈值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bullet"/>
          <p:cNvSpPr/>
          <p:nvPr/>
        </p:nvSpPr>
        <p:spPr>
          <a:xfrm>
            <a:off x="822960" y="4069080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或 当前日期 &gt;= 上次保养日期 + 间隔月数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bullet"/>
          <p:cNvSpPr/>
          <p:nvPr/>
        </p:nvSpPr>
        <p:spPr>
          <a:xfrm>
            <a:off x="822960" y="4361688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登记已保养后回写保养日期和里程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bulletCard"/>
          <p:cNvSpPr/>
          <p:nvPr/>
        </p:nvSpPr>
        <p:spPr>
          <a:xfrm>
            <a:off x="4096512" y="3246120"/>
            <a:ext cx="3246120" cy="15087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33" name="accent"/>
          <p:cNvSpPr/>
          <p:nvPr/>
        </p:nvSpPr>
        <p:spPr>
          <a:xfrm>
            <a:off x="4096512" y="3246120"/>
            <a:ext cx="47549" cy="150876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4" name="text"/>
          <p:cNvSpPr/>
          <p:nvPr/>
        </p:nvSpPr>
        <p:spPr>
          <a:xfrm>
            <a:off x="4297680" y="3392424"/>
            <a:ext cx="28803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清洁提醒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bullet"/>
          <p:cNvSpPr/>
          <p:nvPr/>
        </p:nvSpPr>
        <p:spPr>
          <a:xfrm>
            <a:off x="4352544" y="3776472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上次清洁后已完成预约次数 &gt;= 阈值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bullet"/>
          <p:cNvSpPr/>
          <p:nvPr/>
        </p:nvSpPr>
        <p:spPr>
          <a:xfrm>
            <a:off x="4352544" y="4069080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或 当前日期 &gt;= 上次清洁日期 + 间隔天数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bullet"/>
          <p:cNvSpPr/>
          <p:nvPr/>
        </p:nvSpPr>
        <p:spPr>
          <a:xfrm>
            <a:off x="4352544" y="4361688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登记已清洁后重置清洁后累计次数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bulletCard"/>
          <p:cNvSpPr/>
          <p:nvPr/>
        </p:nvSpPr>
        <p:spPr>
          <a:xfrm>
            <a:off x="7626096" y="3246120"/>
            <a:ext cx="3246120" cy="15087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39" name="accent"/>
          <p:cNvSpPr/>
          <p:nvPr/>
        </p:nvSpPr>
        <p:spPr>
          <a:xfrm>
            <a:off x="7626096" y="3246120"/>
            <a:ext cx="47549" cy="15087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40" name="text"/>
          <p:cNvSpPr/>
          <p:nvPr/>
        </p:nvSpPr>
        <p:spPr>
          <a:xfrm>
            <a:off x="7827264" y="3392424"/>
            <a:ext cx="28803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bullet"/>
          <p:cNvSpPr/>
          <p:nvPr/>
        </p:nvSpPr>
        <p:spPr>
          <a:xfrm>
            <a:off x="7882128" y="3776472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不生成工单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bullet"/>
          <p:cNvSpPr/>
          <p:nvPr/>
        </p:nvSpPr>
        <p:spPr>
          <a:xfrm>
            <a:off x="7882128" y="4069080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不记录维修费用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bullet"/>
          <p:cNvSpPr/>
          <p:nvPr/>
        </p:nvSpPr>
        <p:spPr>
          <a:xfrm>
            <a:off x="7882128" y="4361688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不自动下架或管控车辆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bullet"/>
          <p:cNvSpPr/>
          <p:nvPr/>
        </p:nvSpPr>
        <p:spPr>
          <a:xfrm>
            <a:off x="7882128" y="4654296"/>
            <a:ext cx="274320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不阻断员工预约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screenshot"/>
          <p:cNvSpPr/>
          <p:nvPr/>
        </p:nvSpPr>
        <p:spPr>
          <a:xfrm>
            <a:off x="566928" y="5166360"/>
            <a:ext cx="5029200" cy="548640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46" name="ssAccent"/>
          <p:cNvSpPr/>
          <p:nvPr/>
        </p:nvSpPr>
        <p:spPr>
          <a:xfrm>
            <a:off x="566928" y="5166360"/>
            <a:ext cx="47549" cy="54864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47" name="text"/>
          <p:cNvSpPr/>
          <p:nvPr/>
        </p:nvSpPr>
        <p:spPr>
          <a:xfrm>
            <a:off x="694944" y="5276088"/>
            <a:ext cx="4773168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"/>
          <p:cNvSpPr/>
          <p:nvPr/>
        </p:nvSpPr>
        <p:spPr>
          <a:xfrm>
            <a:off x="731520" y="5513832"/>
            <a:ext cx="4700016" cy="13716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企业端清洁保养提醒页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screenshot"/>
          <p:cNvSpPr/>
          <p:nvPr/>
        </p:nvSpPr>
        <p:spPr>
          <a:xfrm>
            <a:off x="5980176" y="5166360"/>
            <a:ext cx="5029200" cy="548640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50" name="ssAccent"/>
          <p:cNvSpPr/>
          <p:nvPr/>
        </p:nvSpPr>
        <p:spPr>
          <a:xfrm>
            <a:off x="5980176" y="5166360"/>
            <a:ext cx="47549" cy="54864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51" name="text"/>
          <p:cNvSpPr/>
          <p:nvPr/>
        </p:nvSpPr>
        <p:spPr>
          <a:xfrm>
            <a:off x="6108192" y="5276088"/>
            <a:ext cx="4773168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"/>
          <p:cNvSpPr/>
          <p:nvPr/>
        </p:nvSpPr>
        <p:spPr>
          <a:xfrm>
            <a:off x="6144768" y="5513832"/>
            <a:ext cx="4700016" cy="13716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清洁保养设定弹窗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数据追溯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数据快照与历史追溯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历史预约、合约和账单读取历史快照，不用当前主数据重新解释。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atrix"/>
          <p:cNvSpPr/>
          <p:nvPr/>
        </p:nvSpPr>
        <p:spPr>
          <a:xfrm>
            <a:off x="566928" y="1755648"/>
            <a:ext cx="5029200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matrixAccent"/>
          <p:cNvSpPr/>
          <p:nvPr/>
        </p:nvSpPr>
        <p:spPr>
          <a:xfrm>
            <a:off x="566928" y="1755648"/>
            <a:ext cx="47549" cy="932688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31520" y="1920240"/>
            <a:ext cx="470001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预约快照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731520" y="2221992"/>
            <a:ext cx="4700016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企业、员工、车辆、据点、合约、预约时间、实际用车时间、预约状态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atrix"/>
          <p:cNvSpPr/>
          <p:nvPr/>
        </p:nvSpPr>
        <p:spPr>
          <a:xfrm>
            <a:off x="5961888" y="1755648"/>
            <a:ext cx="5029200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matrixAccent"/>
          <p:cNvSpPr/>
          <p:nvPr/>
        </p:nvSpPr>
        <p:spPr>
          <a:xfrm>
            <a:off x="5961888" y="1755648"/>
            <a:ext cx="47549" cy="932688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2" name="text"/>
          <p:cNvSpPr/>
          <p:nvPr/>
        </p:nvSpPr>
        <p:spPr>
          <a:xfrm>
            <a:off x="6126480" y="1920240"/>
            <a:ext cx="470001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车辆快照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6126480" y="2221992"/>
            <a:ext cx="4700016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车牌、车型、资产归属、所在据点、上架状态和当时可见范围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atrix"/>
          <p:cNvSpPr/>
          <p:nvPr/>
        </p:nvSpPr>
        <p:spPr>
          <a:xfrm>
            <a:off x="566928" y="2971800"/>
            <a:ext cx="5029200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matrixAccent"/>
          <p:cNvSpPr/>
          <p:nvPr/>
        </p:nvSpPr>
        <p:spPr>
          <a:xfrm>
            <a:off x="566928" y="2971800"/>
            <a:ext cx="47549" cy="932688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731520" y="3136392"/>
            <a:ext cx="470001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合约快照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731520" y="3438144"/>
            <a:ext cx="4700016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合约编号、合约类型、有效期、配额、单车单价、计费周期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atrix"/>
          <p:cNvSpPr/>
          <p:nvPr/>
        </p:nvSpPr>
        <p:spPr>
          <a:xfrm>
            <a:off x="5961888" y="2971800"/>
            <a:ext cx="5029200" cy="932688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9" name="matrixAccent"/>
          <p:cNvSpPr/>
          <p:nvPr/>
        </p:nvSpPr>
        <p:spPr>
          <a:xfrm>
            <a:off x="5961888" y="2971800"/>
            <a:ext cx="47549" cy="932688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0" name="text"/>
          <p:cNvSpPr/>
          <p:nvPr/>
        </p:nvSpPr>
        <p:spPr>
          <a:xfrm>
            <a:off x="6126480" y="3136392"/>
            <a:ext cx="470001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账单快照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6126480" y="3438144"/>
            <a:ext cx="4700016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应收金额、汇款记录、到账核销、续费记录和账单状态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ard"/>
          <p:cNvSpPr/>
          <p:nvPr/>
        </p:nvSpPr>
        <p:spPr>
          <a:xfrm>
            <a:off x="566928" y="4736592"/>
            <a:ext cx="10442448" cy="566928"/>
          </a:xfrm>
          <a:prstGeom prst="rect">
            <a:avLst/>
          </a:prstGeom>
          <a:solidFill>
            <a:srgbClr val="E5F2EE"/>
          </a:solidFill>
          <a:ln w="9000">
            <a:solidFill>
              <a:srgbClr val="D7E5EC"/>
            </a:solidFill>
          </a:ln>
        </p:spPr>
      </p:sp>
      <p:sp>
        <p:nvSpPr>
          <p:cNvPr id="23" name="cardAccent"/>
          <p:cNvSpPr/>
          <p:nvPr/>
        </p:nvSpPr>
        <p:spPr>
          <a:xfrm>
            <a:off x="566928" y="4736592"/>
            <a:ext cx="47549" cy="566928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740664" y="4873752"/>
            <a:ext cx="100949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不回改历史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740664" y="5193792"/>
            <a:ext cx="10094976" cy="3657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4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车辆调拨、改据点、改分公司、合约续费、企业改名，都不反向改写历史预约和账单。</a:t>
            </a:r>
            <a:endParaRPr lang="zh-CN" sz="94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creenshot"/>
          <p:cNvSpPr/>
          <p:nvPr/>
        </p:nvSpPr>
        <p:spPr>
          <a:xfrm>
            <a:off x="566928" y="5596128"/>
            <a:ext cx="3246120" cy="438912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27" name="ssAccent"/>
          <p:cNvSpPr/>
          <p:nvPr/>
        </p:nvSpPr>
        <p:spPr>
          <a:xfrm>
            <a:off x="566928" y="5596128"/>
            <a:ext cx="47549" cy="43891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8" name="text"/>
          <p:cNvSpPr/>
          <p:nvPr/>
        </p:nvSpPr>
        <p:spPr>
          <a:xfrm>
            <a:off x="694944" y="5705856"/>
            <a:ext cx="2990088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/>
          <p:nvPr/>
        </p:nvSpPr>
        <p:spPr>
          <a:xfrm>
            <a:off x="731520" y="5943600"/>
            <a:ext cx="2916936" cy="27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预约详情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creenshot"/>
          <p:cNvSpPr/>
          <p:nvPr/>
        </p:nvSpPr>
        <p:spPr>
          <a:xfrm>
            <a:off x="4096512" y="5596128"/>
            <a:ext cx="3246120" cy="438912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31" name="ssAccent"/>
          <p:cNvSpPr/>
          <p:nvPr/>
        </p:nvSpPr>
        <p:spPr>
          <a:xfrm>
            <a:off x="4096512" y="5596128"/>
            <a:ext cx="47549" cy="43891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2" name="text"/>
          <p:cNvSpPr/>
          <p:nvPr/>
        </p:nvSpPr>
        <p:spPr>
          <a:xfrm>
            <a:off x="4224528" y="5705856"/>
            <a:ext cx="2990088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"/>
          <p:cNvSpPr/>
          <p:nvPr/>
        </p:nvSpPr>
        <p:spPr>
          <a:xfrm>
            <a:off x="4261104" y="5943600"/>
            <a:ext cx="2916936" cy="27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历史用车记录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screenshot"/>
          <p:cNvSpPr/>
          <p:nvPr/>
        </p:nvSpPr>
        <p:spPr>
          <a:xfrm>
            <a:off x="7626096" y="5596128"/>
            <a:ext cx="3246120" cy="438912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35" name="ssAccent"/>
          <p:cNvSpPr/>
          <p:nvPr/>
        </p:nvSpPr>
        <p:spPr>
          <a:xfrm>
            <a:off x="7626096" y="5596128"/>
            <a:ext cx="47549" cy="43891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6" name="text"/>
          <p:cNvSpPr/>
          <p:nvPr/>
        </p:nvSpPr>
        <p:spPr>
          <a:xfrm>
            <a:off x="7754112" y="5705856"/>
            <a:ext cx="2990088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"/>
          <p:cNvSpPr/>
          <p:nvPr/>
        </p:nvSpPr>
        <p:spPr>
          <a:xfrm>
            <a:off x="7790688" y="5943600"/>
            <a:ext cx="2916936" cy="27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合约账单详情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通知提醒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通知与提醒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员工接收订单类通知，管理员接收审批和合约类提醒。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ard"/>
          <p:cNvSpPr/>
          <p:nvPr/>
        </p:nvSpPr>
        <p:spPr>
          <a:xfrm>
            <a:off x="566928" y="1691640"/>
            <a:ext cx="3246120" cy="17373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cardAccent"/>
          <p:cNvSpPr/>
          <p:nvPr/>
        </p:nvSpPr>
        <p:spPr>
          <a:xfrm>
            <a:off x="566928" y="1691640"/>
            <a:ext cx="47549" cy="173736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40664" y="1828800"/>
            <a:ext cx="289864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员工通知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740664" y="2148840"/>
            <a:ext cx="2898648" cy="12070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2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预约提交、审核结果、预约成功、预约取消、即将用车、即将结束、异常状态变化。</a:t>
            </a:r>
            <a:endParaRPr lang="zh-CN" sz="92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ard"/>
          <p:cNvSpPr/>
          <p:nvPr/>
        </p:nvSpPr>
        <p:spPr>
          <a:xfrm>
            <a:off x="4096512" y="1691640"/>
            <a:ext cx="3246120" cy="17373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cardAccent"/>
          <p:cNvSpPr/>
          <p:nvPr/>
        </p:nvSpPr>
        <p:spPr>
          <a:xfrm>
            <a:off x="4096512" y="1691640"/>
            <a:ext cx="47549" cy="173736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2" name="text"/>
          <p:cNvSpPr/>
          <p:nvPr/>
        </p:nvSpPr>
        <p:spPr>
          <a:xfrm>
            <a:off x="4270248" y="1828800"/>
            <a:ext cx="289864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主管 / 分公司管理员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4270248" y="2148840"/>
            <a:ext cx="2898648" cy="12070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2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用车审核待处理、审核结果、员工加入企业申请。</a:t>
            </a:r>
            <a:endParaRPr lang="zh-CN" sz="92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card"/>
          <p:cNvSpPr/>
          <p:nvPr/>
        </p:nvSpPr>
        <p:spPr>
          <a:xfrm>
            <a:off x="7626096" y="1691640"/>
            <a:ext cx="3246120" cy="173736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cardAccent"/>
          <p:cNvSpPr/>
          <p:nvPr/>
        </p:nvSpPr>
        <p:spPr>
          <a:xfrm>
            <a:off x="7626096" y="1691640"/>
            <a:ext cx="47549" cy="17373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7799832" y="1828800"/>
            <a:ext cx="289864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企业总管理员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7799832" y="2148840"/>
            <a:ext cx="2898648" cy="12070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2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员工加入企业申请、合约续费提醒、合约到期提醒、重要车辆提醒。</a:t>
            </a:r>
            <a:endParaRPr lang="zh-CN" sz="92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bulletCard"/>
          <p:cNvSpPr/>
          <p:nvPr/>
        </p:nvSpPr>
        <p:spPr>
          <a:xfrm>
            <a:off x="566928" y="3950208"/>
            <a:ext cx="5029200" cy="13258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9" name="accent"/>
          <p:cNvSpPr/>
          <p:nvPr/>
        </p:nvSpPr>
        <p:spPr>
          <a:xfrm>
            <a:off x="566928" y="3950208"/>
            <a:ext cx="47549" cy="132588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0" name="text"/>
          <p:cNvSpPr/>
          <p:nvPr/>
        </p:nvSpPr>
        <p:spPr>
          <a:xfrm>
            <a:off x="768096" y="4096512"/>
            <a:ext cx="466344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右上角提醒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ullet"/>
          <p:cNvSpPr/>
          <p:nvPr/>
        </p:nvSpPr>
        <p:spPr>
          <a:xfrm>
            <a:off x="822960" y="4480560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清洁保养待处理提醒进入企业端右上角通知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bullet"/>
          <p:cNvSpPr/>
          <p:nvPr/>
        </p:nvSpPr>
        <p:spPr>
          <a:xfrm>
            <a:off x="822960" y="4773168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点击跳转到处理页面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bullet"/>
          <p:cNvSpPr/>
          <p:nvPr/>
        </p:nvSpPr>
        <p:spPr>
          <a:xfrm>
            <a:off x="822960" y="5065776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已读不等于业务完成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bulletCard"/>
          <p:cNvSpPr/>
          <p:nvPr/>
        </p:nvSpPr>
        <p:spPr>
          <a:xfrm>
            <a:off x="5980176" y="3950208"/>
            <a:ext cx="5029200" cy="13258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25" name="accent"/>
          <p:cNvSpPr/>
          <p:nvPr/>
        </p:nvSpPr>
        <p:spPr>
          <a:xfrm>
            <a:off x="5980176" y="3950208"/>
            <a:ext cx="47549" cy="132588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26" name="text"/>
          <p:cNvSpPr/>
          <p:nvPr/>
        </p:nvSpPr>
        <p:spPr>
          <a:xfrm>
            <a:off x="6181344" y="4096512"/>
            <a:ext cx="466344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处理原则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bullet"/>
          <p:cNvSpPr/>
          <p:nvPr/>
        </p:nvSpPr>
        <p:spPr>
          <a:xfrm>
            <a:off x="6236208" y="4480560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业务状态以审批、续费、登记已保养 / 已清洁等操作为准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bullet"/>
          <p:cNvSpPr/>
          <p:nvPr/>
        </p:nvSpPr>
        <p:spPr>
          <a:xfrm>
            <a:off x="6236208" y="4773168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同一业务记录合并或更新，不重复生成无效提醒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bullet"/>
          <p:cNvSpPr/>
          <p:nvPr/>
        </p:nvSpPr>
        <p:spPr>
          <a:xfrm>
            <a:off x="6236208" y="5065776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通知只做触达，不替代业务处理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后台能力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后台能力地图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公务车业务线不是单一页面，而是一组营运端、企业端和 APP 能力共同闭环。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atrix"/>
          <p:cNvSpPr/>
          <p:nvPr/>
        </p:nvSpPr>
        <p:spPr>
          <a:xfrm>
            <a:off x="566928" y="1700784"/>
            <a:ext cx="5029200" cy="804672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matrixAccent"/>
          <p:cNvSpPr/>
          <p:nvPr/>
        </p:nvSpPr>
        <p:spPr>
          <a:xfrm>
            <a:off x="566928" y="1700784"/>
            <a:ext cx="47549" cy="804672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31520" y="1865376"/>
            <a:ext cx="470001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营运端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731520" y="2167128"/>
            <a:ext cx="4700016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企业客户、公务车服务、签约据点、电子围篱、合约、配额、账单核销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atrix"/>
          <p:cNvSpPr/>
          <p:nvPr/>
        </p:nvSpPr>
        <p:spPr>
          <a:xfrm>
            <a:off x="5961888" y="1700784"/>
            <a:ext cx="5029200" cy="804672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matrixAccent"/>
          <p:cNvSpPr/>
          <p:nvPr/>
        </p:nvSpPr>
        <p:spPr>
          <a:xfrm>
            <a:off x="5961888" y="1700784"/>
            <a:ext cx="47549" cy="80467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2" name="text"/>
          <p:cNvSpPr/>
          <p:nvPr/>
        </p:nvSpPr>
        <p:spPr>
          <a:xfrm>
            <a:off x="6126480" y="1865376"/>
            <a:ext cx="470001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6126480" y="2167128"/>
            <a:ext cx="4700016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分公司、员工审核、车辆管理、合约与配额查看、清洁保养提醒、用车统计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atrix"/>
          <p:cNvSpPr/>
          <p:nvPr/>
        </p:nvSpPr>
        <p:spPr>
          <a:xfrm>
            <a:off x="566928" y="2752344"/>
            <a:ext cx="5029200" cy="804672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matrixAccent"/>
          <p:cNvSpPr/>
          <p:nvPr/>
        </p:nvSpPr>
        <p:spPr>
          <a:xfrm>
            <a:off x="566928" y="2752344"/>
            <a:ext cx="47549" cy="804672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731520" y="2916936"/>
            <a:ext cx="470001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 APP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731520" y="3218688"/>
            <a:ext cx="4700016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员工身份、可用车辆查询、预约申请、审核结果、用车记录、订单通知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atrix"/>
          <p:cNvSpPr/>
          <p:nvPr/>
        </p:nvSpPr>
        <p:spPr>
          <a:xfrm>
            <a:off x="5961888" y="2752344"/>
            <a:ext cx="5029200" cy="804672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9" name="matrixAccent"/>
          <p:cNvSpPr/>
          <p:nvPr/>
        </p:nvSpPr>
        <p:spPr>
          <a:xfrm>
            <a:off x="5961888" y="2752344"/>
            <a:ext cx="47549" cy="80467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0" name="text"/>
          <p:cNvSpPr/>
          <p:nvPr/>
        </p:nvSpPr>
        <p:spPr>
          <a:xfrm>
            <a:off x="6126480" y="2916936"/>
            <a:ext cx="470001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数据与规则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6126480" y="3218688"/>
            <a:ext cx="4700016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权限、快照、通知、操作记录、状态轴、合约有效期、配额占用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creenshot"/>
          <p:cNvSpPr/>
          <p:nvPr/>
        </p:nvSpPr>
        <p:spPr>
          <a:xfrm>
            <a:off x="566928" y="4526280"/>
            <a:ext cx="2432304" cy="621792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23" name="ssAccent"/>
          <p:cNvSpPr/>
          <p:nvPr/>
        </p:nvSpPr>
        <p:spPr>
          <a:xfrm>
            <a:off x="566928" y="4526280"/>
            <a:ext cx="47549" cy="62179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694944" y="4636008"/>
            <a:ext cx="217627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731520" y="4873752"/>
            <a:ext cx="2103120" cy="21031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营运端企业客户 / 服务开通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creenshot"/>
          <p:cNvSpPr/>
          <p:nvPr/>
        </p:nvSpPr>
        <p:spPr>
          <a:xfrm>
            <a:off x="3273552" y="4526280"/>
            <a:ext cx="2432304" cy="621792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27" name="ssAccent"/>
          <p:cNvSpPr/>
          <p:nvPr/>
        </p:nvSpPr>
        <p:spPr>
          <a:xfrm>
            <a:off x="3273552" y="4526280"/>
            <a:ext cx="47549" cy="62179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8" name="text"/>
          <p:cNvSpPr/>
          <p:nvPr/>
        </p:nvSpPr>
        <p:spPr>
          <a:xfrm>
            <a:off x="3401568" y="4636008"/>
            <a:ext cx="217627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/>
          <p:nvPr/>
        </p:nvSpPr>
        <p:spPr>
          <a:xfrm>
            <a:off x="3438144" y="4873752"/>
            <a:ext cx="2103120" cy="21031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公务车合约 / 配额 / 账单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creenshot"/>
          <p:cNvSpPr/>
          <p:nvPr/>
        </p:nvSpPr>
        <p:spPr>
          <a:xfrm>
            <a:off x="5980176" y="4526280"/>
            <a:ext cx="2432304" cy="621792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31" name="ssAccent"/>
          <p:cNvSpPr/>
          <p:nvPr/>
        </p:nvSpPr>
        <p:spPr>
          <a:xfrm>
            <a:off x="5980176" y="4526280"/>
            <a:ext cx="47549" cy="62179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2" name="text"/>
          <p:cNvSpPr/>
          <p:nvPr/>
        </p:nvSpPr>
        <p:spPr>
          <a:xfrm>
            <a:off x="6108192" y="4636008"/>
            <a:ext cx="217627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"/>
          <p:cNvSpPr/>
          <p:nvPr/>
        </p:nvSpPr>
        <p:spPr>
          <a:xfrm>
            <a:off x="6144768" y="4873752"/>
            <a:ext cx="2103120" cy="21031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企业端车辆管理 / 分公司据点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screenshot"/>
          <p:cNvSpPr/>
          <p:nvPr/>
        </p:nvSpPr>
        <p:spPr>
          <a:xfrm>
            <a:off x="8686800" y="4526280"/>
            <a:ext cx="2432304" cy="621792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35" name="ssAccent"/>
          <p:cNvSpPr/>
          <p:nvPr/>
        </p:nvSpPr>
        <p:spPr>
          <a:xfrm>
            <a:off x="8686800" y="4526280"/>
            <a:ext cx="47549" cy="62179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6" name="text"/>
          <p:cNvSpPr/>
          <p:nvPr/>
        </p:nvSpPr>
        <p:spPr>
          <a:xfrm>
            <a:off x="8814816" y="4636008"/>
            <a:ext cx="217627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"/>
          <p:cNvSpPr/>
          <p:nvPr/>
        </p:nvSpPr>
        <p:spPr>
          <a:xfrm>
            <a:off x="8851392" y="4873752"/>
            <a:ext cx="2103120" cy="21031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预约 / 用车记录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"/>
          <p:cNvSpPr/>
          <p:nvPr/>
        </p:nvSpPr>
        <p:spPr>
          <a:xfrm>
            <a:off x="685800" y="5532120"/>
            <a:ext cx="1014984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9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方案交付时需要按能力域联调，确保企业、合约、员工、车辆、据点、预约和账单口径一致。</a:t>
            </a:r>
            <a:endParaRPr lang="zh-CN" sz="9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本期边界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本期边界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先讲清企业内部用车主链路，复杂自动化和跨业务排程后置。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ulletCard"/>
          <p:cNvSpPr/>
          <p:nvPr/>
        </p:nvSpPr>
        <p:spPr>
          <a:xfrm>
            <a:off x="566928" y="1700784"/>
            <a:ext cx="5029200" cy="2907792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accent"/>
          <p:cNvSpPr/>
          <p:nvPr/>
        </p:nvSpPr>
        <p:spPr>
          <a:xfrm>
            <a:off x="566928" y="1700784"/>
            <a:ext cx="47549" cy="2907792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68096" y="1847088"/>
            <a:ext cx="466344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本期不做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ullet"/>
          <p:cNvSpPr/>
          <p:nvPr/>
        </p:nvSpPr>
        <p:spPr>
          <a:xfrm>
            <a:off x="822960" y="2231136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企业端自行新建物理公务车据点、地图选点和电子围篱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ullet"/>
          <p:cNvSpPr/>
          <p:nvPr/>
        </p:nvSpPr>
        <p:spPr>
          <a:xfrm>
            <a:off x="822960" y="2523744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个人支付、个人预授权、个人退款和按单收费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ullet"/>
          <p:cNvSpPr/>
          <p:nvPr/>
        </p:nvSpPr>
        <p:spPr>
          <a:xfrm>
            <a:off x="822960" y="2816352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车辆调拨、下架、合约到期后的自动取消预约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bullet"/>
          <p:cNvSpPr/>
          <p:nvPr/>
        </p:nvSpPr>
        <p:spPr>
          <a:xfrm>
            <a:off x="822960" y="3108960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提醒自动转维修工单、自动管控车辆或阻断预约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ullet"/>
          <p:cNvSpPr/>
          <p:nvPr/>
        </p:nvSpPr>
        <p:spPr>
          <a:xfrm>
            <a:off x="822960" y="3401568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统一排程中心和跨业务车辆共享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ulletCard"/>
          <p:cNvSpPr/>
          <p:nvPr/>
        </p:nvSpPr>
        <p:spPr>
          <a:xfrm>
            <a:off x="5980176" y="1700784"/>
            <a:ext cx="5029200" cy="2907792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accent"/>
          <p:cNvSpPr/>
          <p:nvPr/>
        </p:nvSpPr>
        <p:spPr>
          <a:xfrm>
            <a:off x="5980176" y="1700784"/>
            <a:ext cx="47549" cy="2907792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6181344" y="1847088"/>
            <a:ext cx="466344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本期必须闭合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ullet"/>
          <p:cNvSpPr/>
          <p:nvPr/>
        </p:nvSpPr>
        <p:spPr>
          <a:xfrm>
            <a:off x="6236208" y="2231136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企业开通、合约配额、账单续费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bullet"/>
          <p:cNvSpPr/>
          <p:nvPr/>
        </p:nvSpPr>
        <p:spPr>
          <a:xfrm>
            <a:off x="6236208" y="2523744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分公司、员工、可用据点、车辆管理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ullet"/>
          <p:cNvSpPr/>
          <p:nvPr/>
        </p:nvSpPr>
        <p:spPr>
          <a:xfrm>
            <a:off x="6236208" y="2816352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员工预约、审核、人工交付和用车记录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bullet"/>
          <p:cNvSpPr/>
          <p:nvPr/>
        </p:nvSpPr>
        <p:spPr>
          <a:xfrm>
            <a:off x="6236208" y="3108960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清洁保养提醒、右上角提醒和完成登记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ullet"/>
          <p:cNvSpPr/>
          <p:nvPr/>
        </p:nvSpPr>
        <p:spPr>
          <a:xfrm>
            <a:off x="6236208" y="3401568"/>
            <a:ext cx="4526280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历史预约、合约、账单快照追溯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ard"/>
          <p:cNvSpPr/>
          <p:nvPr/>
        </p:nvSpPr>
        <p:spPr>
          <a:xfrm>
            <a:off x="566928" y="5166360"/>
            <a:ext cx="10442448" cy="530352"/>
          </a:xfrm>
          <a:prstGeom prst="rect">
            <a:avLst/>
          </a:prstGeom>
          <a:solidFill>
            <a:srgbClr val="DDF0F8"/>
          </a:solidFill>
          <a:ln w="9000">
            <a:solidFill>
              <a:srgbClr val="D7E5EC"/>
            </a:solidFill>
          </a:ln>
        </p:spPr>
      </p:sp>
      <p:sp>
        <p:nvSpPr>
          <p:cNvPr id="23" name="cardAccent"/>
          <p:cNvSpPr/>
          <p:nvPr/>
        </p:nvSpPr>
        <p:spPr>
          <a:xfrm>
            <a:off x="566928" y="5166360"/>
            <a:ext cx="47549" cy="530352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740664" y="5303520"/>
            <a:ext cx="1009497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边界说明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740664" y="5623560"/>
            <a:ext cx="10094976" cy="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边界收窄不是功能缺失，而是确保公务车现有主链路可被客户理解、运营交付和开发维护。</a:t>
            </a:r>
            <a:endParaRPr lang="zh-CN" sz="9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实施优先级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实施优先级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第一版按“能开通、能管车、能预约、能续费、能追溯”组织交付。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atrix"/>
          <p:cNvSpPr/>
          <p:nvPr/>
        </p:nvSpPr>
        <p:spPr>
          <a:xfrm>
            <a:off x="566928" y="1700784"/>
            <a:ext cx="10442448" cy="6400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matrixAccent"/>
          <p:cNvSpPr/>
          <p:nvPr/>
        </p:nvSpPr>
        <p:spPr>
          <a:xfrm>
            <a:off x="566928" y="1700784"/>
            <a:ext cx="47549" cy="64008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731520" y="1865376"/>
            <a:ext cx="1011326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1｜开通与合约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731520" y="2167128"/>
            <a:ext cx="10113264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企业客户、公务车服务、签约据点、合约配额、账单周期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atrix"/>
          <p:cNvSpPr/>
          <p:nvPr/>
        </p:nvSpPr>
        <p:spPr>
          <a:xfrm>
            <a:off x="566928" y="2551176"/>
            <a:ext cx="10442448" cy="6400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matrixAccent"/>
          <p:cNvSpPr/>
          <p:nvPr/>
        </p:nvSpPr>
        <p:spPr>
          <a:xfrm>
            <a:off x="566928" y="2551176"/>
            <a:ext cx="47549" cy="64008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2" name="text"/>
          <p:cNvSpPr/>
          <p:nvPr/>
        </p:nvSpPr>
        <p:spPr>
          <a:xfrm>
            <a:off x="731520" y="2715768"/>
            <a:ext cx="1011326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2｜企业端管理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731520" y="3017520"/>
            <a:ext cx="10113264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分公司、员工审核、车辆资料、可用据点、车辆上架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atrix"/>
          <p:cNvSpPr/>
          <p:nvPr/>
        </p:nvSpPr>
        <p:spPr>
          <a:xfrm>
            <a:off x="566928" y="3401568"/>
            <a:ext cx="10442448" cy="6400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matrixAccent"/>
          <p:cNvSpPr/>
          <p:nvPr/>
        </p:nvSpPr>
        <p:spPr>
          <a:xfrm>
            <a:off x="566928" y="3401568"/>
            <a:ext cx="47549" cy="6400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731520" y="3566160"/>
            <a:ext cx="1011326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3｜员工预约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731520" y="3867912"/>
            <a:ext cx="10113264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查询、预约申请、用车审核、人工交付、用车记录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atrix"/>
          <p:cNvSpPr/>
          <p:nvPr/>
        </p:nvSpPr>
        <p:spPr>
          <a:xfrm>
            <a:off x="566928" y="4251960"/>
            <a:ext cx="10442448" cy="64008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9" name="matrixAccent"/>
          <p:cNvSpPr/>
          <p:nvPr/>
        </p:nvSpPr>
        <p:spPr>
          <a:xfrm>
            <a:off x="566928" y="4251960"/>
            <a:ext cx="47549" cy="64008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0" name="text"/>
          <p:cNvSpPr/>
          <p:nvPr/>
        </p:nvSpPr>
        <p:spPr>
          <a:xfrm>
            <a:off x="731520" y="4416552"/>
            <a:ext cx="1011326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3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4｜运营增强</a:t>
            </a:r>
            <a:endParaRPr lang="zh-CN" sz="113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731520" y="4718304"/>
            <a:ext cx="10113264" cy="10972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83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合约续费、到期提醒、清洁保养、统计导出、通知中心</a:t>
            </a:r>
            <a:endParaRPr lang="zh-CN" sz="83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creenshot"/>
          <p:cNvSpPr/>
          <p:nvPr/>
        </p:nvSpPr>
        <p:spPr>
          <a:xfrm>
            <a:off x="566928" y="5376672"/>
            <a:ext cx="2432304" cy="502920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23" name="ssAccent"/>
          <p:cNvSpPr/>
          <p:nvPr/>
        </p:nvSpPr>
        <p:spPr>
          <a:xfrm>
            <a:off x="566928" y="5376672"/>
            <a:ext cx="47549" cy="50292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694944" y="5486400"/>
            <a:ext cx="217627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731520" y="5724144"/>
            <a:ext cx="2103120" cy="914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企业客户与服务开通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creenshot"/>
          <p:cNvSpPr/>
          <p:nvPr/>
        </p:nvSpPr>
        <p:spPr>
          <a:xfrm>
            <a:off x="3273552" y="5376672"/>
            <a:ext cx="2432304" cy="502920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27" name="ssAccent"/>
          <p:cNvSpPr/>
          <p:nvPr/>
        </p:nvSpPr>
        <p:spPr>
          <a:xfrm>
            <a:off x="3273552" y="5376672"/>
            <a:ext cx="47549" cy="50292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8" name="text"/>
          <p:cNvSpPr/>
          <p:nvPr/>
        </p:nvSpPr>
        <p:spPr>
          <a:xfrm>
            <a:off x="3401568" y="5486400"/>
            <a:ext cx="217627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/>
          <p:nvPr/>
        </p:nvSpPr>
        <p:spPr>
          <a:xfrm>
            <a:off x="3438144" y="5724144"/>
            <a:ext cx="2103120" cy="914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合约、配额和账单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creenshot"/>
          <p:cNvSpPr/>
          <p:nvPr/>
        </p:nvSpPr>
        <p:spPr>
          <a:xfrm>
            <a:off x="5980176" y="5376672"/>
            <a:ext cx="2432304" cy="502920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31" name="ssAccent"/>
          <p:cNvSpPr/>
          <p:nvPr/>
        </p:nvSpPr>
        <p:spPr>
          <a:xfrm>
            <a:off x="5980176" y="5376672"/>
            <a:ext cx="47549" cy="50292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2" name="text"/>
          <p:cNvSpPr/>
          <p:nvPr/>
        </p:nvSpPr>
        <p:spPr>
          <a:xfrm>
            <a:off x="6108192" y="5486400"/>
            <a:ext cx="217627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"/>
          <p:cNvSpPr/>
          <p:nvPr/>
        </p:nvSpPr>
        <p:spPr>
          <a:xfrm>
            <a:off x="6144768" y="5724144"/>
            <a:ext cx="2103120" cy="914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企业端车辆与据点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screenshot"/>
          <p:cNvSpPr/>
          <p:nvPr/>
        </p:nvSpPr>
        <p:spPr>
          <a:xfrm>
            <a:off x="8686800" y="5376672"/>
            <a:ext cx="2432304" cy="502920"/>
          </a:xfrm>
          <a:prstGeom prst="rect">
            <a:avLst/>
          </a:prstGeom>
          <a:solidFill>
            <a:srgbClr val="F5F8F9"/>
          </a:solidFill>
          <a:ln w="9000">
            <a:solidFill>
              <a:srgbClr val="C8DAE2"/>
            </a:solidFill>
          </a:ln>
        </p:spPr>
      </p:sp>
      <p:sp>
        <p:nvSpPr>
          <p:cNvPr id="35" name="ssAccent"/>
          <p:cNvSpPr/>
          <p:nvPr/>
        </p:nvSpPr>
        <p:spPr>
          <a:xfrm>
            <a:off x="8686800" y="5376672"/>
            <a:ext cx="47549" cy="50292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36" name="text"/>
          <p:cNvSpPr/>
          <p:nvPr/>
        </p:nvSpPr>
        <p:spPr>
          <a:xfrm>
            <a:off x="8814816" y="5486400"/>
            <a:ext cx="217627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zh-CN" sz="82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待补系统截图</a:t>
            </a:r>
            <a:endParaRPr lang="zh-CN" sz="82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"/>
          <p:cNvSpPr/>
          <p:nvPr/>
        </p:nvSpPr>
        <p:spPr>
          <a:xfrm>
            <a:off x="8851392" y="5724144"/>
            <a:ext cx="2103120" cy="914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76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预约与记录</a:t>
            </a:r>
            <a:endParaRPr lang="zh-CN" sz="76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95605" y="362102"/>
            <a:ext cx="5907024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交付目标</a:t>
            </a:r>
            <a:endParaRPr lang="zh-CN" sz="90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/>
          <p:nvPr/>
        </p:nvSpPr>
        <p:spPr>
          <a:xfrm>
            <a:off x="495605" y="647395"/>
            <a:ext cx="932688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公务车业务线的交付目标</a:t>
            </a:r>
            <a:endParaRPr lang="zh-CN" sz="25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/>
          <p:nvPr/>
        </p:nvSpPr>
        <p:spPr>
          <a:xfrm>
            <a:off x="495605" y="1238098"/>
            <a:ext cx="9098280" cy="4023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125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让企业能够在合约配额内管理公务车辆，让员工能够通过公务车 APP 完成内部预约使用，并保证车辆、账单、提醒和历史记录可追溯。</a:t>
            </a:r>
            <a:endParaRPr lang="zh-CN" sz="1125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/>
          <p:nvPr/>
        </p:nvSpPr>
        <p:spPr>
          <a:xfrm>
            <a:off x="11045952" y="6574536"/>
            <a:ext cx="667512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zh-CN" sz="75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lang="zh-CN" sz="75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ard"/>
          <p:cNvSpPr/>
          <p:nvPr/>
        </p:nvSpPr>
        <p:spPr>
          <a:xfrm>
            <a:off x="658368" y="1874520"/>
            <a:ext cx="4892040" cy="9144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7" name="cardAccent"/>
          <p:cNvSpPr/>
          <p:nvPr/>
        </p:nvSpPr>
        <p:spPr>
          <a:xfrm>
            <a:off x="658368" y="1874520"/>
            <a:ext cx="47549" cy="914400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8" name="text"/>
          <p:cNvSpPr/>
          <p:nvPr/>
        </p:nvSpPr>
        <p:spPr>
          <a:xfrm>
            <a:off x="832104" y="2011680"/>
            <a:ext cx="45445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业务可开通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/>
          <p:nvPr/>
        </p:nvSpPr>
        <p:spPr>
          <a:xfrm>
            <a:off x="832104" y="2331720"/>
            <a:ext cx="454456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营运端完成企业、公务车服务、合约、配额和签约据点配置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ard"/>
          <p:cNvSpPr/>
          <p:nvPr/>
        </p:nvSpPr>
        <p:spPr>
          <a:xfrm>
            <a:off x="5916168" y="1874520"/>
            <a:ext cx="4892040" cy="9144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1" name="cardAccent"/>
          <p:cNvSpPr/>
          <p:nvPr/>
        </p:nvSpPr>
        <p:spPr>
          <a:xfrm>
            <a:off x="5916168" y="1874520"/>
            <a:ext cx="47549" cy="91440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12" name="text"/>
          <p:cNvSpPr/>
          <p:nvPr/>
        </p:nvSpPr>
        <p:spPr>
          <a:xfrm>
            <a:off x="6089904" y="2011680"/>
            <a:ext cx="45445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车辆可管理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/>
          <p:nvPr/>
        </p:nvSpPr>
        <p:spPr>
          <a:xfrm>
            <a:off x="6089904" y="2331720"/>
            <a:ext cx="454456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企业端按资产归属、所在据点、上架状态和提醒母版管理车辆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card"/>
          <p:cNvSpPr/>
          <p:nvPr/>
        </p:nvSpPr>
        <p:spPr>
          <a:xfrm>
            <a:off x="658368" y="3108960"/>
            <a:ext cx="4892040" cy="9144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5" name="cardAccent"/>
          <p:cNvSpPr/>
          <p:nvPr/>
        </p:nvSpPr>
        <p:spPr>
          <a:xfrm>
            <a:off x="658368" y="3108960"/>
            <a:ext cx="47549" cy="9144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6" name="text"/>
          <p:cNvSpPr/>
          <p:nvPr/>
        </p:nvSpPr>
        <p:spPr>
          <a:xfrm>
            <a:off x="832104" y="3246120"/>
            <a:ext cx="45445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员工可预约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/>
          <p:nvPr/>
        </p:nvSpPr>
        <p:spPr>
          <a:xfrm>
            <a:off x="832104" y="3566160"/>
            <a:ext cx="454456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按员工分公司可用据点查询车辆，支持审核和人工交付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ard"/>
          <p:cNvSpPr/>
          <p:nvPr/>
        </p:nvSpPr>
        <p:spPr>
          <a:xfrm>
            <a:off x="5916168" y="3108960"/>
            <a:ext cx="4892040" cy="9144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5EC"/>
            </a:solidFill>
          </a:ln>
        </p:spPr>
      </p:sp>
      <p:sp>
        <p:nvSpPr>
          <p:cNvPr id="19" name="cardAccent"/>
          <p:cNvSpPr/>
          <p:nvPr/>
        </p:nvSpPr>
        <p:spPr>
          <a:xfrm>
            <a:off x="5916168" y="3108960"/>
            <a:ext cx="47549" cy="914400"/>
          </a:xfrm>
          <a:prstGeom prst="rect">
            <a:avLst/>
          </a:prstGeom>
          <a:solidFill>
            <a:srgbClr val="00689E"/>
          </a:solidFill>
          <a:ln w="0">
            <a:noFill/>
          </a:ln>
        </p:spPr>
      </p:sp>
      <p:sp>
        <p:nvSpPr>
          <p:cNvPr id="20" name="text"/>
          <p:cNvSpPr/>
          <p:nvPr/>
        </p:nvSpPr>
        <p:spPr>
          <a:xfrm>
            <a:off x="6089904" y="3246120"/>
            <a:ext cx="45445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账单可核对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/>
          <p:nvPr/>
        </p:nvSpPr>
        <p:spPr>
          <a:xfrm>
            <a:off x="6089904" y="3566160"/>
            <a:ext cx="454456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90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新增账单、续费账单、汇款核销和历史快照保持同一口径</a:t>
            </a:r>
            <a:endParaRPr lang="zh-CN" sz="90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ard"/>
          <p:cNvSpPr/>
          <p:nvPr/>
        </p:nvSpPr>
        <p:spPr>
          <a:xfrm>
            <a:off x="658368" y="4892040"/>
            <a:ext cx="10149840" cy="658368"/>
          </a:xfrm>
          <a:prstGeom prst="rect">
            <a:avLst/>
          </a:prstGeom>
          <a:solidFill>
            <a:srgbClr val="E5F2EE"/>
          </a:solidFill>
          <a:ln w="9000">
            <a:solidFill>
              <a:srgbClr val="D7E5EC"/>
            </a:solidFill>
          </a:ln>
        </p:spPr>
      </p:sp>
      <p:sp>
        <p:nvSpPr>
          <p:cNvPr id="23" name="cardAccent"/>
          <p:cNvSpPr/>
          <p:nvPr/>
        </p:nvSpPr>
        <p:spPr>
          <a:xfrm>
            <a:off x="658368" y="4892040"/>
            <a:ext cx="47549" cy="658368"/>
          </a:xfrm>
          <a:prstGeom prst="rect">
            <a:avLst/>
          </a:prstGeom>
          <a:solidFill>
            <a:srgbClr val="2D7D66"/>
          </a:solidFill>
          <a:ln w="0">
            <a:noFill/>
          </a:ln>
        </p:spPr>
      </p:sp>
      <p:sp>
        <p:nvSpPr>
          <p:cNvPr id="24" name="text"/>
          <p:cNvSpPr/>
          <p:nvPr/>
        </p:nvSpPr>
        <p:spPr>
          <a:xfrm>
            <a:off x="832104" y="5029200"/>
            <a:ext cx="980236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后续扩展</a:t>
            </a:r>
            <a:endParaRPr lang="zh-CN" sz="135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/>
          <p:nvPr/>
        </p:nvSpPr>
        <p:spPr>
          <a:xfrm>
            <a:off x="832104" y="5349240"/>
            <a:ext cx="9802368" cy="12801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zh-CN" sz="1050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以不破坏现有主链路为前提，再逐步增加车机深度接入、提醒转工单和更复杂的审批配置。</a:t>
            </a:r>
            <a:endParaRPr lang="zh-CN" sz="1050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5452</Words>
  <Application>WPS 演示</Application>
  <PresentationFormat>Converted Presentation</PresentationFormat>
  <Paragraphs>878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肖金鹏</cp:lastModifiedBy>
  <cp:revision>18</cp:revision>
  <dcterms:created xsi:type="dcterms:W3CDTF">2026-05-25T02:11:00Z</dcterms:created>
  <dcterms:modified xsi:type="dcterms:W3CDTF">2026-05-25T09:36:17Z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AEC9478B60EA47A1B3F7A03AE17E0676_12</vt:lpwstr>
  </property>
  <property fmtid="{D5CDD505-2E9C-101B-9397-08002B2CF9AE}" pid="3" name="KSOProductBuildVer">
    <vt:lpwstr>2052-12.1.0.26373</vt:lpwstr>
  </property>
</Properties>
</file>