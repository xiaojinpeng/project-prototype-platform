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AFC"/>
    <a:srgbClr val="00689E"/>
    <a:srgbClr val="EAF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0689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 userDrawn="1"/>
        </p:nvSpPr>
        <p:spPr>
          <a:xfrm>
            <a:off x="495300" y="6438900"/>
            <a:ext cx="8572500" cy="12383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 userDrawn="1"/>
        </p:nvSpPr>
        <p:spPr>
          <a:xfrm>
            <a:off x="495300" y="657225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 | </a:t>
            </a:r>
            <a:r>
              <a:rPr lang="zh-CN"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</a:t>
            </a:r>
            <a:r>
              <a:rPr lang="zh-CN"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用车</a:t>
            </a:r>
            <a:r>
              <a:rPr sz="67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业务方案</a:t>
            </a:r>
            <a:endParaRPr sz="67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4.png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24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7.png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8.png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image" Target="../media/image10.emf"/><Relationship Id="rId7" Type="http://schemas.openxmlformats.org/officeDocument/2006/relationships/oleObject" Target="../embeddings/oleObject2.bin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image" Target="../media/image9.emf"/><Relationship Id="rId3" Type="http://schemas.openxmlformats.org/officeDocument/2006/relationships/oleObject" Target="../embeddings/oleObject1.bin"/><Relationship Id="rId2" Type="http://schemas.openxmlformats.org/officeDocument/2006/relationships/tags" Target="../tags/tag54.xml"/><Relationship Id="rId13" Type="http://schemas.openxmlformats.org/officeDocument/2006/relationships/notesSlide" Target="../notesSlides/notesSlide10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58.xml"/><Relationship Id="rId1" Type="http://schemas.openxmlformats.org/officeDocument/2006/relationships/tags" Target="../tags/tag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609600"/>
            <a:ext cx="6858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RIMO Rental</a:t>
            </a:r>
            <a:endParaRPr sz="16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1238250"/>
            <a:ext cx="75247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6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公务车清洁保养提醒
</a:t>
            </a:r>
            <a:r>
              <a:rPr lang="zh-CN" sz="36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sz="36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 sz="36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2400300"/>
            <a:ext cx="590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基于企业端公务车管理，建立保养、清洁提醒的母版配置、车辆套用、自动判断、通知</a:t>
            </a:r>
            <a:r>
              <a:rPr lang="zh-CN" sz="14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送达</a:t>
            </a:r>
            <a:r>
              <a:rPr sz="14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和处理闭环。</a:t>
            </a:r>
            <a:endParaRPr sz="14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3238500"/>
            <a:ext cx="10668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28612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方案说明</a:t>
            </a:r>
            <a:endParaRPr sz="8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3238500"/>
            <a:ext cx="1295400" cy="228600"/>
          </a:xfrm>
          <a:prstGeom prst="rect">
            <a:avLst/>
          </a:prstGeom>
          <a:solidFill>
            <a:srgbClr val="DDF0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962150" y="328612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r>
              <a:rPr sz="85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</a:t>
            </a:r>
            <a:endParaRPr sz="85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76600" y="3238500"/>
            <a:ext cx="1200150" cy="228600"/>
          </a:xfrm>
          <a:prstGeom prst="rect">
            <a:avLst/>
          </a:prstGeom>
          <a:solidFill>
            <a:srgbClr val="FFF1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371850" y="3286125"/>
            <a:ext cx="1009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5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2026-05-27</a:t>
            </a:r>
            <a:endParaRPr sz="85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29500" y="876300"/>
            <a:ext cx="3619500" cy="4191000"/>
          </a:xfrm>
          <a:prstGeom prst="rect">
            <a:avLst/>
          </a:prstGeom>
          <a:solidFill>
            <a:srgbClr val="FDFEFC"/>
          </a:solidFill>
          <a:ln w="9525">
            <a:solidFill>
              <a:srgbClr val="D4E3EA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7650" y="1238250"/>
            <a:ext cx="514350" cy="5143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6900" y="1238250"/>
            <a:ext cx="514350" cy="514350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8477250" y="1485900"/>
            <a:ext cx="838200" cy="1905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829550" y="1981200"/>
            <a:ext cx="13811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规则设定</a:t>
            </a:r>
            <a:endParaRPr sz="12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382125" y="1981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通知触达</a:t>
            </a:r>
            <a:endParaRPr sz="120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829550" y="2400300"/>
            <a:ext cx="133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保养母版 / 清洁母版
车辆套用与提醒判断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382125" y="2400300"/>
            <a:ext cx="1333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站内提醒 / 外部 Email
按车辆条件匹配接收人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962900" y="3695700"/>
            <a:ext cx="2686050" cy="11430"/>
          </a:xfrm>
          <a:prstGeom prst="rect">
            <a:avLst/>
          </a:prstGeom>
          <a:solidFill>
            <a:srgbClr val="D4E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905750" y="3962400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共同底座</a:t>
            </a:r>
            <a:endParaRPr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810625" y="3943350"/>
            <a:ext cx="1952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企业组织、车辆资产、据点、合约、里程、预约次数和提醒通知</a:t>
            </a:r>
            <a:endParaRPr sz="90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cs typeface="微软雅黑" panose="020B0503020204020204" charset="-122"/>
              </a:rPr>
              <a:t>02</a:t>
            </a:r>
            <a:endParaRPr sz="75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1">
                <a:solidFill>
                  <a:srgbClr val="00689E"/>
                </a:solidFill>
                <a:cs typeface="微软雅黑" panose="020B0503020204020204" charset="-122"/>
              </a:rPr>
              <a:t>本次</a:t>
            </a:r>
            <a:r>
              <a:rPr sz="900" b="1">
                <a:solidFill>
                  <a:srgbClr val="00689E"/>
                </a:solidFill>
                <a:cs typeface="微软雅黑" panose="020B0503020204020204" charset="-122"/>
              </a:rPr>
              <a:t>范围</a:t>
            </a:r>
            <a:endParaRPr sz="900" b="1">
              <a:solidFill>
                <a:srgbClr val="00689E"/>
              </a:solidFill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cs typeface="微软雅黑" panose="020B0503020204020204" charset="-122"/>
              </a:rPr>
              <a:t>把清洁保养从人工记忆改为系统提醒闭环</a:t>
            </a:r>
            <a:endParaRPr sz="2550" b="1">
              <a:solidFill>
                <a:srgbClr val="14242E"/>
              </a:solidFill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cs typeface="微软雅黑" panose="020B0503020204020204" charset="-122"/>
              </a:rPr>
              <a:t>本</a:t>
            </a:r>
            <a:r>
              <a:rPr lang="zh-CN" sz="1125" b="0">
                <a:solidFill>
                  <a:srgbClr val="5A6B74"/>
                </a:solidFill>
                <a:cs typeface="微软雅黑" panose="020B0503020204020204" charset="-122"/>
              </a:rPr>
              <a:t>次</a:t>
            </a:r>
            <a:r>
              <a:rPr sz="1125" b="0">
                <a:solidFill>
                  <a:srgbClr val="5A6B74"/>
                </a:solidFill>
                <a:cs typeface="微软雅黑" panose="020B0503020204020204" charset="-122"/>
              </a:rPr>
              <a:t>只做企业端提醒能力，不延伸到维修工单、费用管理、自动管控或预约阻断。</a:t>
            </a:r>
            <a:endParaRPr sz="1125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1001" name="矩形 1001"/>
          <p:cNvSpPr/>
          <p:nvPr/>
        </p:nvSpPr>
        <p:spPr>
          <a:xfrm>
            <a:off x="685800" y="1645920"/>
            <a:ext cx="3063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2" name="矩形 1002"/>
          <p:cNvSpPr/>
          <p:nvPr/>
        </p:nvSpPr>
        <p:spPr>
          <a:xfrm>
            <a:off x="685800" y="1645920"/>
            <a:ext cx="54864" cy="960120"/>
          </a:xfrm>
          <a:prstGeom prst="rect">
            <a:avLst/>
          </a:prstGeom>
          <a:solidFill>
            <a:srgbClr val="00689E"/>
          </a:solidFill>
          <a:ln w="9525">
            <a:solidFill>
              <a:srgbClr val="00689E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3" name="文本框 1003"/>
          <p:cNvSpPr txBox="1"/>
          <p:nvPr/>
        </p:nvSpPr>
        <p:spPr>
          <a:xfrm>
            <a:off x="850392" y="1792224"/>
            <a:ext cx="274320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本</a:t>
            </a:r>
            <a:r>
              <a:rPr lang="zh-CN" alt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次</a:t>
            </a:r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要解决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04" name="文本框 1004"/>
          <p:cNvSpPr txBox="1"/>
          <p:nvPr/>
        </p:nvSpPr>
        <p:spPr>
          <a:xfrm>
            <a:off x="850392" y="2084832"/>
            <a:ext cx="27432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企业公务车数量增加后，保养里程、保养时间、清洁次数、清洁天数依赖人工追踪，容易漏提醒。</a:t>
            </a:r>
            <a:endParaRPr lang="zh-TW" sz="8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05" name="矩形 1005"/>
          <p:cNvSpPr/>
          <p:nvPr/>
        </p:nvSpPr>
        <p:spPr>
          <a:xfrm>
            <a:off x="4434840" y="1645920"/>
            <a:ext cx="3063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6" name="矩形 1006"/>
          <p:cNvSpPr/>
          <p:nvPr/>
        </p:nvSpPr>
        <p:spPr>
          <a:xfrm>
            <a:off x="4434840" y="1645920"/>
            <a:ext cx="54864" cy="960120"/>
          </a:xfrm>
          <a:prstGeom prst="rect">
            <a:avLst/>
          </a:prstGeom>
          <a:solidFill>
            <a:srgbClr val="2E7D6B"/>
          </a:solidFill>
          <a:ln w="9525">
            <a:solidFill>
              <a:srgbClr val="2E7D6B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7" name="文本框 1007"/>
          <p:cNvSpPr txBox="1"/>
          <p:nvPr/>
        </p:nvSpPr>
        <p:spPr>
          <a:xfrm>
            <a:off x="4599432" y="1792224"/>
            <a:ext cx="274320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本次做什么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08" name="文本框 1008"/>
          <p:cNvSpPr txBox="1"/>
          <p:nvPr/>
        </p:nvSpPr>
        <p:spPr>
          <a:xfrm>
            <a:off x="4599432" y="2084832"/>
            <a:ext cx="27432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企业端新增清洁保养提醒页面，配置母版、套用车辆、自动判断提醒，并支持登记处理。</a:t>
            </a:r>
            <a:endParaRPr lang="zh-TW" sz="8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09" name="矩形 1009"/>
          <p:cNvSpPr/>
          <p:nvPr/>
        </p:nvSpPr>
        <p:spPr>
          <a:xfrm>
            <a:off x="8183880" y="1645920"/>
            <a:ext cx="3063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0" name="矩形 1010"/>
          <p:cNvSpPr/>
          <p:nvPr/>
        </p:nvSpPr>
        <p:spPr>
          <a:xfrm>
            <a:off x="8183880" y="1645920"/>
            <a:ext cx="54864" cy="960120"/>
          </a:xfrm>
          <a:prstGeom prst="rect">
            <a:avLst/>
          </a:prstGeom>
          <a:solidFill>
            <a:srgbClr val="C97913"/>
          </a:solidFill>
          <a:ln w="9525">
            <a:solidFill>
              <a:srgbClr val="C97913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1" name="文本框 1011"/>
          <p:cNvSpPr txBox="1"/>
          <p:nvPr/>
        </p:nvSpPr>
        <p:spPr>
          <a:xfrm>
            <a:off x="8348472" y="1792224"/>
            <a:ext cx="274320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本次不做什么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12" name="文本框 1012"/>
          <p:cNvSpPr txBox="1"/>
          <p:nvPr/>
        </p:nvSpPr>
        <p:spPr>
          <a:xfrm>
            <a:off x="8348472" y="2084832"/>
            <a:ext cx="27432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不生成维修/清洁工单，不记录维修费用，不自动下架车辆，不阻断员工预约。</a:t>
            </a:r>
            <a:endParaRPr lang="zh-TW" sz="8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3" name="文本框 1013"/>
          <p:cNvSpPr txBox="1"/>
          <p:nvPr/>
        </p:nvSpPr>
        <p:spPr>
          <a:xfrm>
            <a:off x="685800" y="3108960"/>
            <a:ext cx="1371600" cy="30670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4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页面能力</a:t>
            </a:r>
            <a:endParaRPr lang="zh-TW" sz="14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14" name="文本框 1014"/>
          <p:cNvSpPr txBox="1"/>
          <p:nvPr/>
        </p:nvSpPr>
        <p:spPr>
          <a:xfrm>
            <a:off x="777240" y="3520440"/>
            <a:ext cx="137160" cy="24511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0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•</a:t>
            </a:r>
            <a:endParaRPr lang="zh-TW" sz="10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15" name="文本框 1015"/>
          <p:cNvSpPr txBox="1"/>
          <p:nvPr/>
        </p:nvSpPr>
        <p:spPr>
          <a:xfrm>
            <a:off x="978408" y="3493008"/>
            <a:ext cx="4187952" cy="22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顶部统计卡支持筛选，再次点击取消选中</a:t>
            </a:r>
            <a:endParaRPr lang="zh-TW" sz="8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16" name="文本框 1016"/>
          <p:cNvSpPr txBox="1"/>
          <p:nvPr/>
        </p:nvSpPr>
        <p:spPr>
          <a:xfrm>
            <a:off x="777240" y="3886200"/>
            <a:ext cx="137160" cy="24511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0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•</a:t>
            </a:r>
            <a:endParaRPr lang="zh-TW" sz="10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17" name="文本框 1017"/>
          <p:cNvSpPr txBox="1"/>
          <p:nvPr/>
        </p:nvSpPr>
        <p:spPr>
          <a:xfrm>
            <a:off x="978408" y="3858768"/>
            <a:ext cx="4187952" cy="22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提醒列表展示车辆、据点、当前值、规则阈值和处理状态</a:t>
            </a:r>
            <a:endParaRPr lang="zh-TW" sz="8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18" name="文本框 1018"/>
          <p:cNvSpPr txBox="1"/>
          <p:nvPr/>
        </p:nvSpPr>
        <p:spPr>
          <a:xfrm>
            <a:off x="777240" y="4251960"/>
            <a:ext cx="137160" cy="24511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0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•</a:t>
            </a:r>
            <a:endParaRPr lang="zh-TW" sz="10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19" name="文本框 1019"/>
          <p:cNvSpPr txBox="1"/>
          <p:nvPr/>
        </p:nvSpPr>
        <p:spPr>
          <a:xfrm>
            <a:off x="978408" y="4224528"/>
            <a:ext cx="4187952" cy="22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设定弹窗维护保养母版、清洁母版和车辆套用</a:t>
            </a:r>
            <a:endParaRPr lang="zh-TW" sz="8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20" name="文本框 1020"/>
          <p:cNvSpPr txBox="1"/>
          <p:nvPr/>
        </p:nvSpPr>
        <p:spPr>
          <a:xfrm>
            <a:off x="6446520" y="3108960"/>
            <a:ext cx="1371600" cy="30670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4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处理能力</a:t>
            </a:r>
            <a:endParaRPr lang="zh-TW" sz="14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21" name="文本框 1021"/>
          <p:cNvSpPr txBox="1"/>
          <p:nvPr/>
        </p:nvSpPr>
        <p:spPr>
          <a:xfrm>
            <a:off x="6537960" y="3520440"/>
            <a:ext cx="137160" cy="24511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0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•</a:t>
            </a:r>
            <a:endParaRPr lang="zh-TW" sz="10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22" name="文本框 1022"/>
          <p:cNvSpPr txBox="1"/>
          <p:nvPr/>
        </p:nvSpPr>
        <p:spPr>
          <a:xfrm>
            <a:off x="6739128" y="3493008"/>
            <a:ext cx="4187952" cy="22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待处理和已忽略记录均可登记已保养/已清洁</a:t>
            </a:r>
            <a:endParaRPr lang="zh-TW" sz="8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3" name="文本框 1023"/>
          <p:cNvSpPr txBox="1"/>
          <p:nvPr/>
        </p:nvSpPr>
        <p:spPr>
          <a:xfrm>
            <a:off x="6537960" y="3886200"/>
            <a:ext cx="137160" cy="24511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0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•</a:t>
            </a:r>
            <a:endParaRPr lang="zh-TW" sz="10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24" name="文本框 1024"/>
          <p:cNvSpPr txBox="1"/>
          <p:nvPr/>
        </p:nvSpPr>
        <p:spPr>
          <a:xfrm>
            <a:off x="6739128" y="3858768"/>
            <a:ext cx="4187952" cy="22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忽略本次代表完成提示处理，不代表车辆当前必然处理完成</a:t>
            </a:r>
            <a:endParaRPr lang="zh-TW" sz="8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25" name="文本框 1025"/>
          <p:cNvSpPr txBox="1"/>
          <p:nvPr/>
        </p:nvSpPr>
        <p:spPr>
          <a:xfrm>
            <a:off x="6537960" y="4251960"/>
            <a:ext cx="137160" cy="24511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0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•</a:t>
            </a:r>
            <a:endParaRPr lang="zh-TW" sz="10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26" name="文本框 1026"/>
          <p:cNvSpPr txBox="1"/>
          <p:nvPr/>
        </p:nvSpPr>
        <p:spPr>
          <a:xfrm>
            <a:off x="6739128" y="4224528"/>
            <a:ext cx="4187952" cy="22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页面重新载入、事件驱动和定时任务触发最新判断</a:t>
            </a:r>
            <a:endParaRPr lang="zh-TW" sz="8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cs typeface="微软雅黑" panose="020B0503020204020204" charset="-122"/>
              </a:rPr>
              <a:t>03</a:t>
            </a:r>
            <a:endParaRPr sz="750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cs typeface="微软雅黑" panose="020B0503020204020204" charset="-122"/>
              </a:rPr>
              <a:t>配置模型</a:t>
            </a:r>
            <a:endParaRPr sz="900" b="1">
              <a:solidFill>
                <a:srgbClr val="00689E"/>
              </a:solidFill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cs typeface="微软雅黑" panose="020B0503020204020204" charset="-122"/>
              </a:rPr>
              <a:t>母版和车辆套用决定每台车的提醒规则</a:t>
            </a:r>
            <a:endParaRPr sz="2550" b="1">
              <a:solidFill>
                <a:srgbClr val="14242E"/>
              </a:solidFill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cs typeface="微软雅黑" panose="020B0503020204020204" charset="-122"/>
              </a:rPr>
              <a:t>通过企业通用母版和分公司专用母版，覆盖不同车辆的新旧程度、使用频率和管理责任差异。</a:t>
            </a:r>
            <a:endParaRPr sz="1125" b="0">
              <a:solidFill>
                <a:srgbClr val="5A6B74"/>
              </a:solidFill>
              <a:cs typeface="微软雅黑" panose="020B0503020204020204" charset="-122"/>
            </a:endParaRPr>
          </a:p>
        </p:txBody>
      </p:sp>
      <p:sp>
        <p:nvSpPr>
          <p:cNvPr id="1027" name="圆形 1027"/>
          <p:cNvSpPr/>
          <p:nvPr/>
        </p:nvSpPr>
        <p:spPr>
          <a:xfrm>
            <a:off x="777240" y="1700784"/>
            <a:ext cx="329184" cy="329184"/>
          </a:xfrm>
          <a:prstGeom prst="ellipse">
            <a:avLst/>
          </a:prstGeom>
          <a:solidFill>
            <a:srgbClr val="00689E"/>
          </a:solidFill>
          <a:ln w="9525">
            <a:solidFill>
              <a:srgbClr val="00689E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8" name="文本框 1028"/>
          <p:cNvSpPr txBox="1"/>
          <p:nvPr/>
        </p:nvSpPr>
        <p:spPr>
          <a:xfrm>
            <a:off x="896112" y="1773936"/>
            <a:ext cx="73152" cy="22987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1</a:t>
            </a:r>
            <a:endParaRPr lang="zh-TW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29" name="矩形 1029"/>
          <p:cNvSpPr/>
          <p:nvPr/>
        </p:nvSpPr>
        <p:spPr>
          <a:xfrm>
            <a:off x="1216152" y="1682496"/>
            <a:ext cx="2148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0" name="文本框 1030"/>
          <p:cNvSpPr txBox="1"/>
          <p:nvPr/>
        </p:nvSpPr>
        <p:spPr>
          <a:xfrm>
            <a:off x="1344168" y="1728216"/>
            <a:ext cx="187452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建立母版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31" name="文本框 1031"/>
          <p:cNvSpPr txBox="1"/>
          <p:nvPr/>
        </p:nvSpPr>
        <p:spPr>
          <a:xfrm>
            <a:off x="1344168" y="1929384"/>
            <a:ext cx="1847088" cy="34861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4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命名后配置里程、月份、次数、天数和提前提醒值。</a:t>
            </a:r>
            <a:endParaRPr lang="zh-TW" sz="84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32" name="圆形 1032"/>
          <p:cNvSpPr/>
          <p:nvPr/>
        </p:nvSpPr>
        <p:spPr>
          <a:xfrm>
            <a:off x="4343400" y="1700784"/>
            <a:ext cx="329184" cy="329184"/>
          </a:xfrm>
          <a:prstGeom prst="ellipse">
            <a:avLst/>
          </a:prstGeom>
          <a:solidFill>
            <a:srgbClr val="2E7D6B"/>
          </a:solidFill>
          <a:ln w="9525">
            <a:solidFill>
              <a:srgbClr val="2E7D6B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3" name="文本框 1033"/>
          <p:cNvSpPr txBox="1"/>
          <p:nvPr/>
        </p:nvSpPr>
        <p:spPr>
          <a:xfrm>
            <a:off x="4462272" y="1773936"/>
            <a:ext cx="73152" cy="22987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2</a:t>
            </a:r>
            <a:endParaRPr lang="zh-TW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34" name="矩形 1034"/>
          <p:cNvSpPr/>
          <p:nvPr/>
        </p:nvSpPr>
        <p:spPr>
          <a:xfrm>
            <a:off x="4782312" y="1682496"/>
            <a:ext cx="2148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5" name="文本框 1035"/>
          <p:cNvSpPr txBox="1"/>
          <p:nvPr/>
        </p:nvSpPr>
        <p:spPr>
          <a:xfrm>
            <a:off x="4910328" y="1728216"/>
            <a:ext cx="187452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设定层级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36" name="文本框 1036"/>
          <p:cNvSpPr txBox="1"/>
          <p:nvPr/>
        </p:nvSpPr>
        <p:spPr>
          <a:xfrm>
            <a:off x="4910328" y="1929384"/>
            <a:ext cx="1847088" cy="34861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4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总管理员建立企业通用母版；开启后分公司可建专用母版。</a:t>
            </a:r>
            <a:endParaRPr lang="zh-TW" sz="84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37" name="圆形 1037"/>
          <p:cNvSpPr/>
          <p:nvPr/>
        </p:nvSpPr>
        <p:spPr>
          <a:xfrm>
            <a:off x="7909560" y="1700784"/>
            <a:ext cx="329184" cy="329184"/>
          </a:xfrm>
          <a:prstGeom prst="ellipse">
            <a:avLst/>
          </a:prstGeom>
          <a:solidFill>
            <a:srgbClr val="C97913"/>
          </a:solidFill>
          <a:ln w="9525">
            <a:solidFill>
              <a:srgbClr val="C97913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8" name="文本框 1038"/>
          <p:cNvSpPr txBox="1"/>
          <p:nvPr/>
        </p:nvSpPr>
        <p:spPr>
          <a:xfrm>
            <a:off x="8028432" y="1773936"/>
            <a:ext cx="73152" cy="22987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3</a:t>
            </a:r>
            <a:endParaRPr lang="zh-TW"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39" name="矩形 1039"/>
          <p:cNvSpPr/>
          <p:nvPr/>
        </p:nvSpPr>
        <p:spPr>
          <a:xfrm>
            <a:off x="8348472" y="1682496"/>
            <a:ext cx="2148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0" name="文本框 1040"/>
          <p:cNvSpPr txBox="1"/>
          <p:nvPr/>
        </p:nvSpPr>
        <p:spPr>
          <a:xfrm>
            <a:off x="8476488" y="1728216"/>
            <a:ext cx="187452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车辆套用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41" name="文本框 1041"/>
          <p:cNvSpPr txBox="1"/>
          <p:nvPr/>
        </p:nvSpPr>
        <p:spPr>
          <a:xfrm>
            <a:off x="8476488" y="1929384"/>
            <a:ext cx="1847088" cy="34861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84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每台车分别套用 1 个保养母版和 1 个清洁母版。</a:t>
            </a:r>
            <a:endParaRPr lang="zh-TW" sz="84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2" name="文本框 1042"/>
          <p:cNvSpPr txBox="1"/>
          <p:nvPr/>
        </p:nvSpPr>
        <p:spPr>
          <a:xfrm>
            <a:off x="685800" y="3063240"/>
            <a:ext cx="1828800" cy="33718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6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车辆可选范围</a:t>
            </a:r>
            <a:endParaRPr lang="zh-TW" sz="16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43" name="矩形 1043"/>
          <p:cNvSpPr/>
          <p:nvPr/>
        </p:nvSpPr>
        <p:spPr>
          <a:xfrm>
            <a:off x="685800" y="3520440"/>
            <a:ext cx="2834640" cy="786384"/>
          </a:xfrm>
          <a:prstGeom prst="rect">
            <a:avLst/>
          </a:prstGeom>
          <a:solidFill>
            <a:srgbClr val="EAF6FC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4" name="矩形 1044"/>
          <p:cNvSpPr/>
          <p:nvPr/>
        </p:nvSpPr>
        <p:spPr>
          <a:xfrm>
            <a:off x="685800" y="3520440"/>
            <a:ext cx="54864" cy="786384"/>
          </a:xfrm>
          <a:prstGeom prst="rect">
            <a:avLst/>
          </a:prstGeom>
          <a:solidFill>
            <a:srgbClr val="00689E"/>
          </a:solidFill>
          <a:ln w="9525">
            <a:solidFill>
              <a:srgbClr val="00689E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5" name="文本框 1045"/>
          <p:cNvSpPr txBox="1"/>
          <p:nvPr/>
        </p:nvSpPr>
        <p:spPr>
          <a:xfrm>
            <a:off x="850392" y="3550539"/>
            <a:ext cx="2514600" cy="30670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4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企业通用母版</a:t>
            </a:r>
            <a:endParaRPr lang="zh-TW" sz="14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46" name="文本框 1046"/>
          <p:cNvSpPr txBox="1"/>
          <p:nvPr/>
        </p:nvSpPr>
        <p:spPr>
          <a:xfrm>
            <a:off x="850392" y="3843147"/>
            <a:ext cx="2514600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当前企业全部公务车都可选。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47" name="矩形 1047"/>
          <p:cNvSpPr/>
          <p:nvPr/>
        </p:nvSpPr>
        <p:spPr>
          <a:xfrm>
            <a:off x="3977640" y="3520440"/>
            <a:ext cx="3200400" cy="786384"/>
          </a:xfrm>
          <a:prstGeom prst="rect">
            <a:avLst/>
          </a:prstGeom>
          <a:solidFill>
            <a:srgbClr val="E9F5F1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" name="矩形 1048"/>
          <p:cNvSpPr/>
          <p:nvPr/>
        </p:nvSpPr>
        <p:spPr>
          <a:xfrm>
            <a:off x="3977640" y="3520440"/>
            <a:ext cx="54864" cy="786384"/>
          </a:xfrm>
          <a:prstGeom prst="rect">
            <a:avLst/>
          </a:prstGeom>
          <a:solidFill>
            <a:srgbClr val="2E7D6B"/>
          </a:solidFill>
          <a:ln w="9525">
            <a:solidFill>
              <a:srgbClr val="2E7D6B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9" name="文本框 1049"/>
          <p:cNvSpPr txBox="1"/>
          <p:nvPr/>
        </p:nvSpPr>
        <p:spPr>
          <a:xfrm>
            <a:off x="4142232" y="3550539"/>
            <a:ext cx="2880360" cy="30670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4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本分公司专用母版</a:t>
            </a:r>
            <a:endParaRPr lang="zh-TW" sz="14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50" name="文本框 1050"/>
          <p:cNvSpPr txBox="1"/>
          <p:nvPr/>
        </p:nvSpPr>
        <p:spPr>
          <a:xfrm>
            <a:off x="4142232" y="3843147"/>
            <a:ext cx="2880360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车辆资产归属分公司与母版归属分公司一致时可选。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51" name="矩形 1051"/>
          <p:cNvSpPr/>
          <p:nvPr/>
        </p:nvSpPr>
        <p:spPr>
          <a:xfrm>
            <a:off x="7726680" y="3520440"/>
            <a:ext cx="3291840" cy="786384"/>
          </a:xfrm>
          <a:prstGeom prst="rect">
            <a:avLst/>
          </a:prstGeom>
          <a:solidFill>
            <a:srgbClr val="FFF3D8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2" name="矩形 1052"/>
          <p:cNvSpPr/>
          <p:nvPr/>
        </p:nvSpPr>
        <p:spPr>
          <a:xfrm>
            <a:off x="7726680" y="3520440"/>
            <a:ext cx="54864" cy="786384"/>
          </a:xfrm>
          <a:prstGeom prst="rect">
            <a:avLst/>
          </a:prstGeom>
          <a:solidFill>
            <a:srgbClr val="C97913"/>
          </a:solidFill>
          <a:ln w="9525">
            <a:solidFill>
              <a:srgbClr val="C97913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3" name="文本框 1053"/>
          <p:cNvSpPr txBox="1"/>
          <p:nvPr/>
        </p:nvSpPr>
        <p:spPr>
          <a:xfrm>
            <a:off x="7891272" y="3550539"/>
            <a:ext cx="2971800" cy="30670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4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其他分公司专用母版</a:t>
            </a:r>
            <a:endParaRPr lang="zh-TW" sz="14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54" name="文本框 1054"/>
          <p:cNvSpPr txBox="1"/>
          <p:nvPr/>
        </p:nvSpPr>
        <p:spPr>
          <a:xfrm>
            <a:off x="7891272" y="3843147"/>
            <a:ext cx="2971800" cy="3860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不可绑定；车辆调拨后旧分公司专用母版自动清空并标记待补。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55" name="文本框 1055"/>
          <p:cNvSpPr txBox="1"/>
          <p:nvPr/>
        </p:nvSpPr>
        <p:spPr>
          <a:xfrm>
            <a:off x="685800" y="5102352"/>
            <a:ext cx="9326880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分公司专用关闭时：分公司不显示新增母版按钮，只能查看母版表并设定本分公司车辆套用。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提醒逻辑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提醒按基线计算，同一周期不重复刷屏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保养和清洁均采用“提前提醒 + 到期提醒”的双阶段提醒，并以基线是否更新判断是否进入下一轮周期。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6" name="矩形 1056"/>
          <p:cNvSpPr/>
          <p:nvPr/>
        </p:nvSpPr>
        <p:spPr>
          <a:xfrm>
            <a:off x="685800" y="1554480"/>
            <a:ext cx="4617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7" name="矩形 1057"/>
          <p:cNvSpPr/>
          <p:nvPr/>
        </p:nvSpPr>
        <p:spPr>
          <a:xfrm>
            <a:off x="685800" y="1554480"/>
            <a:ext cx="54864" cy="713232"/>
          </a:xfrm>
          <a:prstGeom prst="rect">
            <a:avLst/>
          </a:prstGeom>
          <a:solidFill>
            <a:srgbClr val="00689E"/>
          </a:solidFill>
          <a:ln w="9525">
            <a:solidFill>
              <a:srgbClr val="00689E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8" name="文本框 1058"/>
          <p:cNvSpPr txBox="1"/>
          <p:nvPr/>
        </p:nvSpPr>
        <p:spPr>
          <a:xfrm>
            <a:off x="850392" y="1569974"/>
            <a:ext cx="429768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保养到期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59" name="文本框 1059"/>
          <p:cNvSpPr txBox="1"/>
          <p:nvPr/>
        </p:nvSpPr>
        <p:spPr>
          <a:xfrm>
            <a:off x="850392" y="1862582"/>
            <a:ext cx="4297680" cy="368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0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当前里程 - 上次保养里程 ≥ 保养里程阈值；或 当前日期 ≥ 上次保养日期 + 保养月份阈值。</a:t>
            </a:r>
            <a:endParaRPr lang="zh-TW" sz="90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0" name="矩形 1060"/>
          <p:cNvSpPr/>
          <p:nvPr/>
        </p:nvSpPr>
        <p:spPr>
          <a:xfrm>
            <a:off x="6446520" y="1554480"/>
            <a:ext cx="4617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1" name="矩形 1061"/>
          <p:cNvSpPr/>
          <p:nvPr/>
        </p:nvSpPr>
        <p:spPr>
          <a:xfrm>
            <a:off x="6446520" y="1554480"/>
            <a:ext cx="54864" cy="713232"/>
          </a:xfrm>
          <a:prstGeom prst="rect">
            <a:avLst/>
          </a:prstGeom>
          <a:solidFill>
            <a:srgbClr val="2E7D6B"/>
          </a:solidFill>
          <a:ln w="9525">
            <a:solidFill>
              <a:srgbClr val="2E7D6B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2" name="文本框 1062"/>
          <p:cNvSpPr txBox="1"/>
          <p:nvPr/>
        </p:nvSpPr>
        <p:spPr>
          <a:xfrm>
            <a:off x="6611112" y="1569974"/>
            <a:ext cx="429768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清洁到期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63" name="文本框 1063"/>
          <p:cNvSpPr txBox="1"/>
          <p:nvPr/>
        </p:nvSpPr>
        <p:spPr>
          <a:xfrm>
            <a:off x="6611112" y="1862582"/>
            <a:ext cx="4297680" cy="368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0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上次清洁完成后用车次数 ≥ 清洁次数阈值；或 当前日期 ≥ 上次清洁日期 + 清洁天数阈值。</a:t>
            </a:r>
            <a:endParaRPr lang="zh-TW" sz="90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4" name="矩形 1064"/>
          <p:cNvSpPr/>
          <p:nvPr/>
        </p:nvSpPr>
        <p:spPr>
          <a:xfrm>
            <a:off x="685800" y="2587752"/>
            <a:ext cx="4617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5" name="矩形 1065"/>
          <p:cNvSpPr/>
          <p:nvPr/>
        </p:nvSpPr>
        <p:spPr>
          <a:xfrm>
            <a:off x="685800" y="2587752"/>
            <a:ext cx="54864" cy="713232"/>
          </a:xfrm>
          <a:prstGeom prst="rect">
            <a:avLst/>
          </a:prstGeom>
          <a:solidFill>
            <a:srgbClr val="00689E"/>
          </a:solidFill>
          <a:ln w="9525">
            <a:solidFill>
              <a:srgbClr val="00689E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6" name="文本框 1066"/>
          <p:cNvSpPr txBox="1"/>
          <p:nvPr/>
        </p:nvSpPr>
        <p:spPr>
          <a:xfrm>
            <a:off x="850392" y="2603246"/>
            <a:ext cx="429768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保养提前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67" name="文本框 1067"/>
          <p:cNvSpPr txBox="1"/>
          <p:nvPr/>
        </p:nvSpPr>
        <p:spPr>
          <a:xfrm>
            <a:off x="850392" y="2895854"/>
            <a:ext cx="4297680" cy="22987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0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里程差达到“阈值 - 提前公里数”；或 当前日期达到“到期日 - 提前天数”。</a:t>
            </a:r>
            <a:endParaRPr lang="zh-TW" sz="90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8" name="矩形 1068"/>
          <p:cNvSpPr/>
          <p:nvPr/>
        </p:nvSpPr>
        <p:spPr>
          <a:xfrm>
            <a:off x="6446520" y="2587752"/>
            <a:ext cx="4617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9" name="矩形 1069"/>
          <p:cNvSpPr/>
          <p:nvPr/>
        </p:nvSpPr>
        <p:spPr>
          <a:xfrm>
            <a:off x="6446520" y="2587752"/>
            <a:ext cx="54864" cy="713232"/>
          </a:xfrm>
          <a:prstGeom prst="rect">
            <a:avLst/>
          </a:prstGeom>
          <a:solidFill>
            <a:srgbClr val="2E7D6B"/>
          </a:solidFill>
          <a:ln w="9525">
            <a:solidFill>
              <a:srgbClr val="2E7D6B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0" name="文本框 1070"/>
          <p:cNvSpPr txBox="1"/>
          <p:nvPr/>
        </p:nvSpPr>
        <p:spPr>
          <a:xfrm>
            <a:off x="6611112" y="2603246"/>
            <a:ext cx="429768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清洁提前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71" name="文本框 1071"/>
          <p:cNvSpPr txBox="1"/>
          <p:nvPr/>
        </p:nvSpPr>
        <p:spPr>
          <a:xfrm>
            <a:off x="6611112" y="2895854"/>
            <a:ext cx="4297680" cy="22987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0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用车次数达到“阈值 - 提前次数”；或 当前日期达到“到期日 - 提前天数”。</a:t>
            </a:r>
            <a:endParaRPr lang="zh-TW" sz="90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2" name="矩形 1072"/>
          <p:cNvSpPr/>
          <p:nvPr/>
        </p:nvSpPr>
        <p:spPr>
          <a:xfrm>
            <a:off x="685800" y="3730752"/>
            <a:ext cx="103784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3" name="文本框 1073"/>
          <p:cNvSpPr txBox="1"/>
          <p:nvPr/>
        </p:nvSpPr>
        <p:spPr>
          <a:xfrm>
            <a:off x="960120" y="3931920"/>
            <a:ext cx="914400" cy="24511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0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去重规则</a:t>
            </a:r>
            <a:endParaRPr lang="zh-TW" sz="10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74" name="文本框 1074"/>
          <p:cNvSpPr txBox="1"/>
          <p:nvPr/>
        </p:nvSpPr>
        <p:spPr>
          <a:xfrm>
            <a:off x="1965960" y="3886200"/>
            <a:ext cx="8595360" cy="368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0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基线未更新前，即使车辆继续行驶、继续用车或跨过阈值，系统只更新原提醒当前值，不新增第二条同类型提醒。只有登记已保养或已清洁后，回写新基线并进入下一轮周期。</a:t>
            </a:r>
            <a:endParaRPr lang="zh-TW" sz="90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75" name="矩形 1075"/>
          <p:cNvSpPr/>
          <p:nvPr/>
        </p:nvSpPr>
        <p:spPr>
          <a:xfrm>
            <a:off x="2560320" y="4736592"/>
            <a:ext cx="914400" cy="210312"/>
          </a:xfrm>
          <a:prstGeom prst="rect">
            <a:avLst/>
          </a:prstGeom>
          <a:solidFill>
            <a:srgbClr val="FFF3D8"/>
          </a:solidFill>
          <a:ln w="9525">
            <a:solidFill>
              <a:srgbClr val="FFF3D8"/>
            </a:solidFill>
          </a:ln>
        </p:spPr>
        <p:txBody>
          <a:bodyPr/>
          <a:lstStyle/>
          <a:p>
            <a:endParaRPr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6" name="文本框 1076"/>
          <p:cNvSpPr txBox="1"/>
          <p:nvPr/>
        </p:nvSpPr>
        <p:spPr>
          <a:xfrm>
            <a:off x="2707005" y="4707890"/>
            <a:ext cx="788670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 b="1">
                <a:solidFill>
                  <a:srgbClr val="C9791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即将到期</a:t>
            </a:r>
            <a:endParaRPr lang="zh-TW" sz="960" b="1">
              <a:solidFill>
                <a:srgbClr val="C9791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77" name="矩形 1077"/>
          <p:cNvSpPr/>
          <p:nvPr/>
        </p:nvSpPr>
        <p:spPr>
          <a:xfrm>
            <a:off x="3840480" y="4736592"/>
            <a:ext cx="914400" cy="210312"/>
          </a:xfrm>
          <a:prstGeom prst="rect">
            <a:avLst/>
          </a:prstGeom>
          <a:solidFill>
            <a:srgbClr val="FDECEC"/>
          </a:solidFill>
          <a:ln w="9525">
            <a:solidFill>
              <a:srgbClr val="FDECEC"/>
            </a:solidFill>
          </a:ln>
        </p:spPr>
        <p:txBody>
          <a:bodyPr/>
          <a:lstStyle/>
          <a:p>
            <a:endParaRPr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8" name="文本框 1078"/>
          <p:cNvSpPr txBox="1"/>
          <p:nvPr/>
        </p:nvSpPr>
        <p:spPr>
          <a:xfrm>
            <a:off x="4051300" y="4707890"/>
            <a:ext cx="591185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 b="1">
                <a:solidFill>
                  <a:srgbClr val="B94A48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已到期</a:t>
            </a:r>
            <a:endParaRPr lang="zh-TW" sz="960" b="1">
              <a:solidFill>
                <a:srgbClr val="B94A48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79" name="矩形 1079"/>
          <p:cNvSpPr/>
          <p:nvPr/>
        </p:nvSpPr>
        <p:spPr>
          <a:xfrm>
            <a:off x="5120640" y="4736592"/>
            <a:ext cx="1600200" cy="210312"/>
          </a:xfrm>
          <a:prstGeom prst="rect">
            <a:avLst/>
          </a:prstGeom>
          <a:solidFill>
            <a:srgbClr val="EAF6FC"/>
          </a:solidFill>
          <a:ln w="9525">
            <a:solidFill>
              <a:srgbClr val="EAF6FC"/>
            </a:solidFill>
          </a:ln>
        </p:spPr>
        <p:txBody>
          <a:bodyPr/>
          <a:lstStyle/>
          <a:p>
            <a:endParaRPr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0" name="文本框 1080"/>
          <p:cNvSpPr txBox="1"/>
          <p:nvPr/>
        </p:nvSpPr>
        <p:spPr>
          <a:xfrm>
            <a:off x="5358765" y="4707890"/>
            <a:ext cx="1447165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已忽略但可登记完成</a:t>
            </a:r>
            <a:endParaRPr lang="zh-TW" sz="96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81" name="矩形 1081"/>
          <p:cNvSpPr/>
          <p:nvPr/>
        </p:nvSpPr>
        <p:spPr>
          <a:xfrm>
            <a:off x="7178040" y="4736592"/>
            <a:ext cx="1600200" cy="210312"/>
          </a:xfrm>
          <a:prstGeom prst="rect">
            <a:avLst/>
          </a:prstGeom>
          <a:solidFill>
            <a:srgbClr val="E9F5F1"/>
          </a:solidFill>
          <a:ln w="9525">
            <a:solidFill>
              <a:srgbClr val="E9F5F1"/>
            </a:solidFill>
          </a:ln>
        </p:spPr>
        <p:txBody>
          <a:bodyPr/>
          <a:lstStyle/>
          <a:p>
            <a:endParaRPr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2" name="文本框 1082"/>
          <p:cNvSpPr txBox="1"/>
          <p:nvPr/>
        </p:nvSpPr>
        <p:spPr>
          <a:xfrm>
            <a:off x="7416165" y="4707890"/>
            <a:ext cx="1447165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已完成进入下一周期</a:t>
            </a:r>
            <a:endParaRPr lang="zh-TW" sz="960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交付目标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通知设定按类型和车辆条件触达，不绑定具体车辆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95300" y="1238250"/>
            <a:ext cx="8953500" cy="2641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系统同时支持站内提醒和外部 Email，Email 只做提醒</a:t>
            </a:r>
            <a:r>
              <a:rPr lang="zh-CN"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</a:t>
            </a:r>
            <a:r>
              <a:rPr sz="1125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达，不授予外部通知人系统权限。</a:t>
            </a:r>
            <a:endParaRPr sz="1125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3" name="矩形 1083"/>
          <p:cNvSpPr/>
          <p:nvPr/>
        </p:nvSpPr>
        <p:spPr>
          <a:xfrm>
            <a:off x="685800" y="1554480"/>
            <a:ext cx="306324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4" name="矩形 1084"/>
          <p:cNvSpPr/>
          <p:nvPr/>
        </p:nvSpPr>
        <p:spPr>
          <a:xfrm>
            <a:off x="685800" y="1554480"/>
            <a:ext cx="54864" cy="941832"/>
          </a:xfrm>
          <a:prstGeom prst="rect">
            <a:avLst/>
          </a:prstGeom>
          <a:solidFill>
            <a:srgbClr val="00689E"/>
          </a:solidFill>
          <a:ln w="9525">
            <a:solidFill>
              <a:srgbClr val="00689E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5" name="文本框 1085"/>
          <p:cNvSpPr txBox="1"/>
          <p:nvPr/>
        </p:nvSpPr>
        <p:spPr>
          <a:xfrm>
            <a:off x="850392" y="1700784"/>
            <a:ext cx="2743200" cy="30670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4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站内提醒</a:t>
            </a:r>
            <a:endParaRPr lang="zh-TW" sz="14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86" name="文本框 1086"/>
          <p:cNvSpPr txBox="1"/>
          <p:nvPr/>
        </p:nvSpPr>
        <p:spPr>
          <a:xfrm>
            <a:off x="850392" y="1993392"/>
            <a:ext cx="2743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待处理提醒同步进入企业端右上角提醒。总管理员收企业全部提醒，分公司管理员收本分公司提醒。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87" name="矩形 1087"/>
          <p:cNvSpPr/>
          <p:nvPr/>
        </p:nvSpPr>
        <p:spPr>
          <a:xfrm>
            <a:off x="4434840" y="1554480"/>
            <a:ext cx="306324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8" name="矩形 1088"/>
          <p:cNvSpPr/>
          <p:nvPr/>
        </p:nvSpPr>
        <p:spPr>
          <a:xfrm>
            <a:off x="4434840" y="1554480"/>
            <a:ext cx="54864" cy="941832"/>
          </a:xfrm>
          <a:prstGeom prst="rect">
            <a:avLst/>
          </a:prstGeom>
          <a:solidFill>
            <a:srgbClr val="2E7D6B"/>
          </a:solidFill>
          <a:ln w="9525">
            <a:solidFill>
              <a:srgbClr val="2E7D6B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9" name="文本框 1089"/>
          <p:cNvSpPr txBox="1"/>
          <p:nvPr/>
        </p:nvSpPr>
        <p:spPr>
          <a:xfrm>
            <a:off x="4599432" y="1700784"/>
            <a:ext cx="2743200" cy="30670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4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 Email</a:t>
            </a:r>
            <a:endParaRPr lang="zh-TW" sz="14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0" name="文本框 1090"/>
          <p:cNvSpPr txBox="1"/>
          <p:nvPr/>
        </p:nvSpPr>
        <p:spPr>
          <a:xfrm>
            <a:off x="4599432" y="1993392"/>
            <a:ext cx="2743200" cy="3860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仅企业总管理员维护。通知人可以不是系统用户，只填写姓名、Email、通知范围和车辆范围。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1" name="矩形 1091"/>
          <p:cNvSpPr/>
          <p:nvPr/>
        </p:nvSpPr>
        <p:spPr>
          <a:xfrm>
            <a:off x="8183880" y="1554480"/>
            <a:ext cx="306324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2" name="矩形 1092"/>
          <p:cNvSpPr/>
          <p:nvPr/>
        </p:nvSpPr>
        <p:spPr>
          <a:xfrm>
            <a:off x="8183880" y="1554480"/>
            <a:ext cx="54864" cy="941832"/>
          </a:xfrm>
          <a:prstGeom prst="rect">
            <a:avLst/>
          </a:prstGeom>
          <a:solidFill>
            <a:srgbClr val="C97913"/>
          </a:solidFill>
          <a:ln w="9525">
            <a:solidFill>
              <a:srgbClr val="C97913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3" name="文本框 1093"/>
          <p:cNvSpPr txBox="1"/>
          <p:nvPr/>
        </p:nvSpPr>
        <p:spPr>
          <a:xfrm>
            <a:off x="8348472" y="1700784"/>
            <a:ext cx="2743200" cy="30670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4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车辆范围</a:t>
            </a:r>
            <a:endParaRPr lang="zh-TW" sz="14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94" name="文本框 1094"/>
          <p:cNvSpPr txBox="1"/>
          <p:nvPr/>
        </p:nvSpPr>
        <p:spPr>
          <a:xfrm>
            <a:off x="8348472" y="1993392"/>
            <a:ext cx="2743200" cy="3860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默认全部车辆；也可选择一个条件类型，再选择车辆来源、分公司、据点或合约对应值。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95" name="文本框 1095"/>
          <p:cNvSpPr txBox="1"/>
          <p:nvPr/>
        </p:nvSpPr>
        <p:spPr>
          <a:xfrm>
            <a:off x="685800" y="3017520"/>
            <a:ext cx="1828800" cy="33718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zh-TW" sz="16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通知</a:t>
            </a:r>
            <a:r>
              <a:rPr lang="zh-CN" altLang="zh-TW" sz="16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规则</a:t>
            </a:r>
            <a:endParaRPr lang="zh-CN" altLang="zh-TW" sz="16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96" name="文本框 1096"/>
          <p:cNvSpPr txBox="1"/>
          <p:nvPr/>
        </p:nvSpPr>
        <p:spPr>
          <a:xfrm>
            <a:off x="777240" y="3429000"/>
            <a:ext cx="13716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•</a:t>
            </a:r>
            <a:endParaRPr lang="zh-TW"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97" name="文本框 1097"/>
          <p:cNvSpPr txBox="1"/>
          <p:nvPr/>
        </p:nvSpPr>
        <p:spPr>
          <a:xfrm>
            <a:off x="978408" y="3401568"/>
            <a:ext cx="9400032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通知设定保存时校验：通知人、Email、通知范围；按条件匹配时必须选择条件类型和值。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8" name="文本框 1098"/>
          <p:cNvSpPr txBox="1"/>
          <p:nvPr/>
        </p:nvSpPr>
        <p:spPr>
          <a:xfrm>
            <a:off x="777240" y="3712464"/>
            <a:ext cx="13716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•</a:t>
            </a:r>
            <a:endParaRPr lang="zh-TW"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099" name="文本框 1099"/>
          <p:cNvSpPr txBox="1"/>
          <p:nvPr/>
        </p:nvSpPr>
        <p:spPr>
          <a:xfrm>
            <a:off x="978408" y="3685032"/>
            <a:ext cx="9400032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发送邮件时同时匹配提醒类型与车辆范围；同一提醒、同一程度、同一 Email 不重复发送。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0" name="文本框 1100"/>
          <p:cNvSpPr txBox="1"/>
          <p:nvPr/>
        </p:nvSpPr>
        <p:spPr>
          <a:xfrm>
            <a:off x="777240" y="3995928"/>
            <a:ext cx="13716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•</a:t>
            </a:r>
            <a:endParaRPr lang="zh-TW"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101" name="文本框 1101"/>
          <p:cNvSpPr txBox="1"/>
          <p:nvPr/>
        </p:nvSpPr>
        <p:spPr>
          <a:xfrm>
            <a:off x="978408" y="3968496"/>
            <a:ext cx="9400032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同一提醒从“即将到期”更新为“已到期”时，可再次发送 1 次已到期通知。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2" name="文本框 1102"/>
          <p:cNvSpPr txBox="1"/>
          <p:nvPr/>
        </p:nvSpPr>
        <p:spPr>
          <a:xfrm>
            <a:off x="777240" y="4279392"/>
            <a:ext cx="13716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•</a:t>
            </a:r>
            <a:endParaRPr lang="zh-TW"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103" name="文本框 1103"/>
          <p:cNvSpPr txBox="1"/>
          <p:nvPr/>
        </p:nvSpPr>
        <p:spPr>
          <a:xfrm>
            <a:off x="978408" y="4251960"/>
            <a:ext cx="9400032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邮件发送失败不影响提醒状态，需记录发送状态和失败原因。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104" name="文本框 1104"/>
          <p:cNvSpPr txBox="1"/>
          <p:nvPr/>
        </p:nvSpPr>
        <p:spPr>
          <a:xfrm>
            <a:off x="777240" y="4562856"/>
            <a:ext cx="13716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•</a:t>
            </a:r>
            <a:endParaRPr lang="zh-TW"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105" name="文本框 1105"/>
          <p:cNvSpPr txBox="1"/>
          <p:nvPr/>
        </p:nvSpPr>
        <p:spPr>
          <a:xfrm>
            <a:off x="978408" y="4535424"/>
            <a:ext cx="9400032" cy="238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6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新车符合车辆条件后，自动进入该通知人的通知范围，无需重新绑定。</a:t>
            </a:r>
            <a:endParaRPr lang="zh-TW" sz="96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106" name="矩形 1106"/>
          <p:cNvSpPr/>
          <p:nvPr/>
        </p:nvSpPr>
        <p:spPr>
          <a:xfrm>
            <a:off x="685800" y="5193792"/>
            <a:ext cx="10378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7" name="文本框 1107"/>
          <p:cNvSpPr txBox="1"/>
          <p:nvPr/>
        </p:nvSpPr>
        <p:spPr>
          <a:xfrm>
            <a:off x="978535" y="5255133"/>
            <a:ext cx="9601200" cy="23431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3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企业可以用统一母版管理提醒规则，用车辆套用处理差异，用通知设定把提醒推给真正负责的人。</a:t>
            </a:r>
            <a:endParaRPr lang="zh-TW" sz="93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原型展示 01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提醒列表总览：让用户先看到待处理车辆和处理入口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01" name="矩形 30001"/>
          <p:cNvSpPr/>
          <p:nvPr/>
        </p:nvSpPr>
        <p:spPr>
          <a:xfrm>
            <a:off x="424815" y="1569085"/>
            <a:ext cx="8133715" cy="4794885"/>
          </a:xfrm>
          <a:prstGeom prst="rect">
            <a:avLst/>
          </a:prstGeom>
          <a:solidFill>
            <a:srgbClr val="FDFEFC"/>
          </a:solidFill>
          <a:ln w="15240">
            <a:solidFill>
              <a:srgbClr val="9CC9DD"/>
            </a:solidFill>
            <a:prstDash val="dash"/>
          </a:ln>
        </p:spPr>
        <p:txBody>
          <a:bodyPr/>
          <a:lstStyle/>
          <a:p/>
        </p:txBody>
      </p:sp>
      <p:sp>
        <p:nvSpPr>
          <p:cNvPr id="30004" name="文本框 30004"/>
          <p:cNvSpPr txBox="1"/>
          <p:nvPr/>
        </p:nvSpPr>
        <p:spPr>
          <a:xfrm>
            <a:off x="8848725" y="1663573"/>
            <a:ext cx="1097280" cy="33718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6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说明重点</a:t>
            </a:r>
            <a:endParaRPr lang="zh-TW" sz="16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05" name="矩形 30005"/>
          <p:cNvSpPr/>
          <p:nvPr>
            <p:custDataLst>
              <p:tags r:id="rId1"/>
            </p:custDataLst>
          </p:nvPr>
        </p:nvSpPr>
        <p:spPr>
          <a:xfrm>
            <a:off x="8849360" y="2029654"/>
            <a:ext cx="2925445" cy="841065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06" name="矩形 30006"/>
          <p:cNvSpPr/>
          <p:nvPr>
            <p:custDataLst>
              <p:tags r:id="rId2"/>
            </p:custDataLst>
          </p:nvPr>
        </p:nvSpPr>
        <p:spPr>
          <a:xfrm>
            <a:off x="8849360" y="2029654"/>
            <a:ext cx="45710" cy="841065"/>
          </a:xfrm>
          <a:prstGeom prst="rect">
            <a:avLst/>
          </a:prstGeom>
          <a:solidFill>
            <a:srgbClr val="00689E"/>
          </a:solidFill>
          <a:ln w="15240">
            <a:solidFill>
              <a:srgbClr val="00689E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07" name="文本框 30007"/>
          <p:cNvSpPr txBox="1"/>
          <p:nvPr>
            <p:custDataLst>
              <p:tags r:id="rId3"/>
            </p:custDataLst>
          </p:nvPr>
        </p:nvSpPr>
        <p:spPr>
          <a:xfrm>
            <a:off x="9032200" y="2194211"/>
            <a:ext cx="201124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1</a:t>
            </a:r>
            <a:endParaRPr lang="zh-TW"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08" name="文本框 30008"/>
          <p:cNvSpPr txBox="1"/>
          <p:nvPr>
            <p:custDataLst>
              <p:tags r:id="rId4"/>
            </p:custDataLst>
          </p:nvPr>
        </p:nvSpPr>
        <p:spPr>
          <a:xfrm>
            <a:off x="9306461" y="2166785"/>
            <a:ext cx="2148374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统计卡筛选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09" name="文本框 30009"/>
          <p:cNvSpPr txBox="1"/>
          <p:nvPr>
            <p:custDataLst>
              <p:tags r:id="rId5"/>
            </p:custDataLst>
          </p:nvPr>
        </p:nvSpPr>
        <p:spPr>
          <a:xfrm>
            <a:off x="9306461" y="2422761"/>
            <a:ext cx="2239794" cy="370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顶部待保养、待清洁、资料待补等数字可点击筛选，再次点击取消筛选。</a:t>
            </a:r>
            <a:endParaRPr lang="zh-TW"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10" name="矩形 30010"/>
          <p:cNvSpPr/>
          <p:nvPr>
            <p:custDataLst>
              <p:tags r:id="rId6"/>
            </p:custDataLst>
          </p:nvPr>
        </p:nvSpPr>
        <p:spPr>
          <a:xfrm>
            <a:off x="8849360" y="3090128"/>
            <a:ext cx="2925445" cy="841065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11" name="矩形 30011"/>
          <p:cNvSpPr/>
          <p:nvPr>
            <p:custDataLst>
              <p:tags r:id="rId7"/>
            </p:custDataLst>
          </p:nvPr>
        </p:nvSpPr>
        <p:spPr>
          <a:xfrm>
            <a:off x="8849360" y="3090128"/>
            <a:ext cx="45710" cy="841065"/>
          </a:xfrm>
          <a:prstGeom prst="rect">
            <a:avLst/>
          </a:prstGeom>
          <a:solidFill>
            <a:srgbClr val="2E7D6B"/>
          </a:solidFill>
          <a:ln w="15240">
            <a:solidFill>
              <a:srgbClr val="2E7D6B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12" name="文本框 30012"/>
          <p:cNvSpPr txBox="1"/>
          <p:nvPr>
            <p:custDataLst>
              <p:tags r:id="rId8"/>
            </p:custDataLst>
          </p:nvPr>
        </p:nvSpPr>
        <p:spPr>
          <a:xfrm>
            <a:off x="9032200" y="3254685"/>
            <a:ext cx="201124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2</a:t>
            </a:r>
            <a:endParaRPr lang="zh-TW" sz="1200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13" name="文本框 30013"/>
          <p:cNvSpPr txBox="1"/>
          <p:nvPr>
            <p:custDataLst>
              <p:tags r:id="rId9"/>
            </p:custDataLst>
          </p:nvPr>
        </p:nvSpPr>
        <p:spPr>
          <a:xfrm>
            <a:off x="9306461" y="3227259"/>
            <a:ext cx="2148374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列表信息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14" name="文本框 30014"/>
          <p:cNvSpPr txBox="1"/>
          <p:nvPr>
            <p:custDataLst>
              <p:tags r:id="rId10"/>
            </p:custDataLst>
          </p:nvPr>
        </p:nvSpPr>
        <p:spPr>
          <a:xfrm>
            <a:off x="9306461" y="3483235"/>
            <a:ext cx="2239794" cy="370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车辆、分公司、据点、当前值、当前套用母版和状态在同一页展示。</a:t>
            </a:r>
            <a:endParaRPr lang="zh-TW"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15" name="矩形 30015"/>
          <p:cNvSpPr/>
          <p:nvPr>
            <p:custDataLst>
              <p:tags r:id="rId11"/>
            </p:custDataLst>
          </p:nvPr>
        </p:nvSpPr>
        <p:spPr>
          <a:xfrm>
            <a:off x="8849360" y="4150602"/>
            <a:ext cx="2925445" cy="841065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16" name="矩形 30016"/>
          <p:cNvSpPr/>
          <p:nvPr>
            <p:custDataLst>
              <p:tags r:id="rId12"/>
            </p:custDataLst>
          </p:nvPr>
        </p:nvSpPr>
        <p:spPr>
          <a:xfrm>
            <a:off x="8849360" y="4150602"/>
            <a:ext cx="45710" cy="841065"/>
          </a:xfrm>
          <a:prstGeom prst="rect">
            <a:avLst/>
          </a:prstGeom>
          <a:solidFill>
            <a:srgbClr val="C97913"/>
          </a:solidFill>
          <a:ln w="15240">
            <a:solidFill>
              <a:srgbClr val="C97913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17" name="文本框 30017"/>
          <p:cNvSpPr txBox="1"/>
          <p:nvPr>
            <p:custDataLst>
              <p:tags r:id="rId13"/>
            </p:custDataLst>
          </p:nvPr>
        </p:nvSpPr>
        <p:spPr>
          <a:xfrm>
            <a:off x="9032200" y="4315158"/>
            <a:ext cx="201124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C9791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3</a:t>
            </a:r>
            <a:endParaRPr lang="zh-TW" sz="1200" b="1">
              <a:solidFill>
                <a:srgbClr val="C9791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18" name="文本框 30018"/>
          <p:cNvSpPr txBox="1"/>
          <p:nvPr>
            <p:custDataLst>
              <p:tags r:id="rId14"/>
            </p:custDataLst>
          </p:nvPr>
        </p:nvSpPr>
        <p:spPr>
          <a:xfrm>
            <a:off x="9306461" y="4287732"/>
            <a:ext cx="2148374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处理动作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19" name="文本框 30019"/>
          <p:cNvSpPr txBox="1"/>
          <p:nvPr>
            <p:custDataLst>
              <p:tags r:id="rId15"/>
            </p:custDataLst>
          </p:nvPr>
        </p:nvSpPr>
        <p:spPr>
          <a:xfrm>
            <a:off x="9306461" y="4543709"/>
            <a:ext cx="2239794" cy="370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待处理或已忽略记录都可以继续登记已保养/已清洁，形成提醒闭环。</a:t>
            </a:r>
            <a:endParaRPr lang="zh-TW"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6"/>
          <a:srcRect l="782"/>
          <a:stretch>
            <a:fillRect/>
          </a:stretch>
        </p:blipFill>
        <p:spPr>
          <a:xfrm>
            <a:off x="466725" y="1650365"/>
            <a:ext cx="7999095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30022"/>
          <p:cNvSpPr/>
          <p:nvPr/>
        </p:nvSpPr>
        <p:spPr>
          <a:xfrm>
            <a:off x="3350895" y="3825875"/>
            <a:ext cx="5513070" cy="2524760"/>
          </a:xfrm>
          <a:prstGeom prst="rect">
            <a:avLst/>
          </a:prstGeom>
          <a:solidFill>
            <a:srgbClr val="FDFEFC"/>
          </a:solidFill>
          <a:ln w="15240">
            <a:solidFill>
              <a:srgbClr val="9CC9DD"/>
            </a:solidFill>
            <a:prstDash val="dash"/>
          </a:ln>
        </p:spPr>
        <p:txBody>
          <a:bodyPr/>
          <a:lstStyle/>
          <a:p/>
        </p:txBody>
      </p:sp>
      <p:sp>
        <p:nvSpPr>
          <p:cNvPr id="4" name="矩形 30022"/>
          <p:cNvSpPr/>
          <p:nvPr/>
        </p:nvSpPr>
        <p:spPr>
          <a:xfrm>
            <a:off x="476250" y="3825875"/>
            <a:ext cx="2805430" cy="2524760"/>
          </a:xfrm>
          <a:prstGeom prst="rect">
            <a:avLst/>
          </a:prstGeom>
          <a:solidFill>
            <a:srgbClr val="FDFEFC"/>
          </a:solidFill>
          <a:ln w="15240">
            <a:solidFill>
              <a:srgbClr val="9CC9DD"/>
            </a:solidFill>
            <a:prstDash val="dash"/>
          </a:ln>
        </p:spPr>
        <p:txBody>
          <a:bodyPr/>
          <a:lstStyle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原型展示 02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设定弹窗：母版配置和车辆套用放在同一个管理入口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22" name="矩形 30022"/>
          <p:cNvSpPr/>
          <p:nvPr/>
        </p:nvSpPr>
        <p:spPr>
          <a:xfrm>
            <a:off x="492760" y="1224915"/>
            <a:ext cx="8339455" cy="2524760"/>
          </a:xfrm>
          <a:prstGeom prst="rect">
            <a:avLst/>
          </a:prstGeom>
          <a:solidFill>
            <a:srgbClr val="FDFEFC"/>
          </a:solidFill>
          <a:ln w="15240">
            <a:solidFill>
              <a:srgbClr val="9CC9DD"/>
            </a:solidFill>
            <a:prstDash val="dash"/>
          </a:ln>
        </p:spPr>
        <p:txBody>
          <a:bodyPr/>
          <a:lstStyle/>
          <a:p/>
        </p:txBody>
      </p:sp>
      <p:sp>
        <p:nvSpPr>
          <p:cNvPr id="30025" name="文本框 30025"/>
          <p:cNvSpPr txBox="1"/>
          <p:nvPr/>
        </p:nvSpPr>
        <p:spPr>
          <a:xfrm>
            <a:off x="8925560" y="1663573"/>
            <a:ext cx="1097280" cy="33718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6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说明重点</a:t>
            </a:r>
            <a:endParaRPr lang="zh-TW" sz="16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26" name="矩形 30026"/>
          <p:cNvSpPr/>
          <p:nvPr>
            <p:custDataLst>
              <p:tags r:id="rId1"/>
            </p:custDataLst>
          </p:nvPr>
        </p:nvSpPr>
        <p:spPr>
          <a:xfrm>
            <a:off x="8926116" y="2029614"/>
            <a:ext cx="2925524" cy="84108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27" name="矩形 30027"/>
          <p:cNvSpPr/>
          <p:nvPr>
            <p:custDataLst>
              <p:tags r:id="rId2"/>
            </p:custDataLst>
          </p:nvPr>
        </p:nvSpPr>
        <p:spPr>
          <a:xfrm>
            <a:off x="8926116" y="2029614"/>
            <a:ext cx="45711" cy="841088"/>
          </a:xfrm>
          <a:prstGeom prst="rect">
            <a:avLst/>
          </a:prstGeom>
          <a:solidFill>
            <a:srgbClr val="00689E"/>
          </a:solidFill>
          <a:ln w="15240">
            <a:solidFill>
              <a:srgbClr val="00689E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28" name="文本框 30028"/>
          <p:cNvSpPr txBox="1"/>
          <p:nvPr>
            <p:custDataLst>
              <p:tags r:id="rId3"/>
            </p:custDataLst>
          </p:nvPr>
        </p:nvSpPr>
        <p:spPr>
          <a:xfrm>
            <a:off x="9108961" y="2194175"/>
            <a:ext cx="20113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1</a:t>
            </a:r>
            <a:endParaRPr lang="zh-TW"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29" name="文本框 30029"/>
          <p:cNvSpPr txBox="1"/>
          <p:nvPr>
            <p:custDataLst>
              <p:tags r:id="rId4"/>
            </p:custDataLst>
          </p:nvPr>
        </p:nvSpPr>
        <p:spPr>
          <a:xfrm>
            <a:off x="9383229" y="2166748"/>
            <a:ext cx="2148432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母版管理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30" name="文本框 30030"/>
          <p:cNvSpPr txBox="1"/>
          <p:nvPr>
            <p:custDataLst>
              <p:tags r:id="rId5"/>
            </p:custDataLst>
          </p:nvPr>
        </p:nvSpPr>
        <p:spPr>
          <a:xfrm>
            <a:off x="9383229" y="2422732"/>
            <a:ext cx="2239855" cy="370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企业通用母版和分公司专用母版用于承载不同保养/清洁规则。</a:t>
            </a:r>
            <a:endParaRPr lang="zh-TW"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31" name="矩形 30031"/>
          <p:cNvSpPr/>
          <p:nvPr>
            <p:custDataLst>
              <p:tags r:id="rId6"/>
            </p:custDataLst>
          </p:nvPr>
        </p:nvSpPr>
        <p:spPr>
          <a:xfrm>
            <a:off x="8926116" y="3090117"/>
            <a:ext cx="2925524" cy="84108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32" name="矩形 30032"/>
          <p:cNvSpPr/>
          <p:nvPr>
            <p:custDataLst>
              <p:tags r:id="rId7"/>
            </p:custDataLst>
          </p:nvPr>
        </p:nvSpPr>
        <p:spPr>
          <a:xfrm>
            <a:off x="8926116" y="3090117"/>
            <a:ext cx="45711" cy="841088"/>
          </a:xfrm>
          <a:prstGeom prst="rect">
            <a:avLst/>
          </a:prstGeom>
          <a:solidFill>
            <a:srgbClr val="2E7D6B"/>
          </a:solidFill>
          <a:ln w="15240">
            <a:solidFill>
              <a:srgbClr val="2E7D6B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33" name="文本框 30033"/>
          <p:cNvSpPr txBox="1"/>
          <p:nvPr>
            <p:custDataLst>
              <p:tags r:id="rId8"/>
            </p:custDataLst>
          </p:nvPr>
        </p:nvSpPr>
        <p:spPr>
          <a:xfrm>
            <a:off x="9108961" y="3254678"/>
            <a:ext cx="20113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2</a:t>
            </a:r>
            <a:endParaRPr lang="zh-TW" sz="1200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34" name="文本框 30034"/>
          <p:cNvSpPr txBox="1"/>
          <p:nvPr>
            <p:custDataLst>
              <p:tags r:id="rId9"/>
            </p:custDataLst>
          </p:nvPr>
        </p:nvSpPr>
        <p:spPr>
          <a:xfrm>
            <a:off x="9383229" y="3227251"/>
            <a:ext cx="2148432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提前提醒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35" name="文本框 30035"/>
          <p:cNvSpPr txBox="1"/>
          <p:nvPr>
            <p:custDataLst>
              <p:tags r:id="rId10"/>
            </p:custDataLst>
          </p:nvPr>
        </p:nvSpPr>
        <p:spPr>
          <a:xfrm>
            <a:off x="9383229" y="3483234"/>
            <a:ext cx="2239855" cy="370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母版内配置到期阈值和提前提醒阈值，系统按规则自动判断。</a:t>
            </a:r>
            <a:endParaRPr lang="zh-TW"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36" name="矩形 30036"/>
          <p:cNvSpPr/>
          <p:nvPr>
            <p:custDataLst>
              <p:tags r:id="rId11"/>
            </p:custDataLst>
          </p:nvPr>
        </p:nvSpPr>
        <p:spPr>
          <a:xfrm>
            <a:off x="8926116" y="4150619"/>
            <a:ext cx="2925524" cy="84108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37" name="矩形 30037"/>
          <p:cNvSpPr/>
          <p:nvPr>
            <p:custDataLst>
              <p:tags r:id="rId12"/>
            </p:custDataLst>
          </p:nvPr>
        </p:nvSpPr>
        <p:spPr>
          <a:xfrm>
            <a:off x="8926116" y="4150619"/>
            <a:ext cx="45711" cy="841088"/>
          </a:xfrm>
          <a:prstGeom prst="rect">
            <a:avLst/>
          </a:prstGeom>
          <a:solidFill>
            <a:srgbClr val="C97913"/>
          </a:solidFill>
          <a:ln w="15240">
            <a:solidFill>
              <a:srgbClr val="C97913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38" name="文本框 30038"/>
          <p:cNvSpPr txBox="1"/>
          <p:nvPr>
            <p:custDataLst>
              <p:tags r:id="rId13"/>
            </p:custDataLst>
          </p:nvPr>
        </p:nvSpPr>
        <p:spPr>
          <a:xfrm>
            <a:off x="9108961" y="4315180"/>
            <a:ext cx="20113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C9791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3</a:t>
            </a:r>
            <a:endParaRPr lang="zh-TW" sz="1200" b="1">
              <a:solidFill>
                <a:srgbClr val="C9791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39" name="文本框 30039"/>
          <p:cNvSpPr txBox="1"/>
          <p:nvPr>
            <p:custDataLst>
              <p:tags r:id="rId14"/>
            </p:custDataLst>
          </p:nvPr>
        </p:nvSpPr>
        <p:spPr>
          <a:xfrm>
            <a:off x="9383229" y="4287753"/>
            <a:ext cx="2148432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车辆套用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40" name="文本框 30040"/>
          <p:cNvSpPr txBox="1"/>
          <p:nvPr>
            <p:custDataLst>
              <p:tags r:id="rId15"/>
            </p:custDataLst>
          </p:nvPr>
        </p:nvSpPr>
        <p:spPr>
          <a:xfrm>
            <a:off x="9383229" y="4543737"/>
            <a:ext cx="2239855" cy="370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每台车分别套用保养母版和清洁母版，资料不完整时标记待补。</a:t>
            </a:r>
            <a:endParaRPr lang="zh-TW"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1283335"/>
            <a:ext cx="8236585" cy="24663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4040" y="3930968"/>
            <a:ext cx="2609850" cy="2314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60115" y="3858895"/>
            <a:ext cx="5203825" cy="24422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原型展示 03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通知设定：按提醒类型和车辆条件匹配接收人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43" name="矩形 30043"/>
          <p:cNvSpPr/>
          <p:nvPr/>
        </p:nvSpPr>
        <p:spPr>
          <a:xfrm>
            <a:off x="685800" y="1664208"/>
            <a:ext cx="6903720" cy="4069080"/>
          </a:xfrm>
          <a:prstGeom prst="rect">
            <a:avLst/>
          </a:prstGeom>
          <a:solidFill>
            <a:srgbClr val="FDFEFC"/>
          </a:solidFill>
          <a:ln w="15240">
            <a:solidFill>
              <a:srgbClr val="9CC9DD"/>
            </a:solidFill>
            <a:prstDash val="dash"/>
          </a:ln>
        </p:spPr>
        <p:txBody>
          <a:bodyPr/>
          <a:lstStyle/>
          <a:p/>
        </p:txBody>
      </p:sp>
      <p:sp>
        <p:nvSpPr>
          <p:cNvPr id="30046" name="文本框 30046"/>
          <p:cNvSpPr txBox="1"/>
          <p:nvPr/>
        </p:nvSpPr>
        <p:spPr>
          <a:xfrm>
            <a:off x="7909560" y="1664208"/>
            <a:ext cx="1097280" cy="33718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6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说明重点</a:t>
            </a:r>
            <a:endParaRPr lang="zh-TW" sz="16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47" name="矩形 30047"/>
          <p:cNvSpPr/>
          <p:nvPr>
            <p:custDataLst>
              <p:tags r:id="rId1"/>
            </p:custDataLst>
          </p:nvPr>
        </p:nvSpPr>
        <p:spPr>
          <a:xfrm>
            <a:off x="7909560" y="2029968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48" name="矩形 30048"/>
          <p:cNvSpPr/>
          <p:nvPr>
            <p:custDataLst>
              <p:tags r:id="rId2"/>
            </p:custDataLst>
          </p:nvPr>
        </p:nvSpPr>
        <p:spPr>
          <a:xfrm>
            <a:off x="7909560" y="2029968"/>
            <a:ext cx="45720" cy="841248"/>
          </a:xfrm>
          <a:prstGeom prst="rect">
            <a:avLst/>
          </a:prstGeom>
          <a:solidFill>
            <a:srgbClr val="00689E"/>
          </a:solidFill>
          <a:ln w="15240">
            <a:solidFill>
              <a:srgbClr val="00689E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49" name="文本框 30049"/>
          <p:cNvSpPr txBox="1"/>
          <p:nvPr>
            <p:custDataLst>
              <p:tags r:id="rId3"/>
            </p:custDataLst>
          </p:nvPr>
        </p:nvSpPr>
        <p:spPr>
          <a:xfrm>
            <a:off x="8092440" y="2194560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1</a:t>
            </a:r>
            <a:endParaRPr lang="zh-TW" sz="12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50" name="文本框 30050"/>
          <p:cNvSpPr txBox="1"/>
          <p:nvPr>
            <p:custDataLst>
              <p:tags r:id="rId4"/>
            </p:custDataLst>
          </p:nvPr>
        </p:nvSpPr>
        <p:spPr>
          <a:xfrm>
            <a:off x="8366760" y="2167128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接收人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51" name="文本框 30051"/>
          <p:cNvSpPr txBox="1"/>
          <p:nvPr>
            <p:custDataLst>
              <p:tags r:id="rId5"/>
            </p:custDataLst>
          </p:nvPr>
        </p:nvSpPr>
        <p:spPr>
          <a:xfrm>
            <a:off x="8366760" y="2423160"/>
            <a:ext cx="2240280" cy="370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通知人可以不是系统用户，仅作为 Email 提醒接收人，不授予系统权限。</a:t>
            </a:r>
            <a:endParaRPr lang="zh-TW"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52" name="矩形 30052"/>
          <p:cNvSpPr/>
          <p:nvPr>
            <p:custDataLst>
              <p:tags r:id="rId6"/>
            </p:custDataLst>
          </p:nvPr>
        </p:nvSpPr>
        <p:spPr>
          <a:xfrm>
            <a:off x="7909560" y="3090672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53" name="矩形 30053"/>
          <p:cNvSpPr/>
          <p:nvPr>
            <p:custDataLst>
              <p:tags r:id="rId7"/>
            </p:custDataLst>
          </p:nvPr>
        </p:nvSpPr>
        <p:spPr>
          <a:xfrm>
            <a:off x="7909560" y="3090672"/>
            <a:ext cx="45720" cy="841248"/>
          </a:xfrm>
          <a:prstGeom prst="rect">
            <a:avLst/>
          </a:prstGeom>
          <a:solidFill>
            <a:srgbClr val="2E7D6B"/>
          </a:solidFill>
          <a:ln w="15240">
            <a:solidFill>
              <a:srgbClr val="2E7D6B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54" name="文本框 30054"/>
          <p:cNvSpPr txBox="1"/>
          <p:nvPr>
            <p:custDataLst>
              <p:tags r:id="rId8"/>
            </p:custDataLst>
          </p:nvPr>
        </p:nvSpPr>
        <p:spPr>
          <a:xfrm>
            <a:off x="8092440" y="3255264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2E7D6B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2</a:t>
            </a:r>
            <a:endParaRPr lang="zh-TW" sz="1200" b="1">
              <a:solidFill>
                <a:srgbClr val="2E7D6B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55" name="文本框 30055"/>
          <p:cNvSpPr txBox="1"/>
          <p:nvPr>
            <p:custDataLst>
              <p:tags r:id="rId9"/>
            </p:custDataLst>
          </p:nvPr>
        </p:nvSpPr>
        <p:spPr>
          <a:xfrm>
            <a:off x="8366760" y="3227832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通知范围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56" name="文本框 30056"/>
          <p:cNvSpPr txBox="1"/>
          <p:nvPr>
            <p:custDataLst>
              <p:tags r:id="rId10"/>
            </p:custDataLst>
          </p:nvPr>
        </p:nvSpPr>
        <p:spPr>
          <a:xfrm>
            <a:off x="8366760" y="3483864"/>
            <a:ext cx="2240280" cy="370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接收人可选择只收保养、只收清洁或同时接收两类提醒。</a:t>
            </a:r>
            <a:endParaRPr lang="zh-TW"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57" name="矩形 30057"/>
          <p:cNvSpPr/>
          <p:nvPr>
            <p:custDataLst>
              <p:tags r:id="rId11"/>
            </p:custDataLst>
          </p:nvPr>
        </p:nvSpPr>
        <p:spPr>
          <a:xfrm>
            <a:off x="7909560" y="4151376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58" name="矩形 30058"/>
          <p:cNvSpPr/>
          <p:nvPr>
            <p:custDataLst>
              <p:tags r:id="rId12"/>
            </p:custDataLst>
          </p:nvPr>
        </p:nvSpPr>
        <p:spPr>
          <a:xfrm>
            <a:off x="7909560" y="4151376"/>
            <a:ext cx="45720" cy="841248"/>
          </a:xfrm>
          <a:prstGeom prst="rect">
            <a:avLst/>
          </a:prstGeom>
          <a:solidFill>
            <a:srgbClr val="C97913"/>
          </a:solidFill>
          <a:ln w="15240">
            <a:solidFill>
              <a:srgbClr val="C97913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59" name="文本框 30059"/>
          <p:cNvSpPr txBox="1"/>
          <p:nvPr>
            <p:custDataLst>
              <p:tags r:id="rId13"/>
            </p:custDataLst>
          </p:nvPr>
        </p:nvSpPr>
        <p:spPr>
          <a:xfrm>
            <a:off x="8092440" y="4315968"/>
            <a:ext cx="201168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C9791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3</a:t>
            </a:r>
            <a:endParaRPr lang="zh-TW" sz="1200" b="1">
              <a:solidFill>
                <a:srgbClr val="C9791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60" name="文本框 30060"/>
          <p:cNvSpPr txBox="1"/>
          <p:nvPr>
            <p:custDataLst>
              <p:tags r:id="rId14"/>
            </p:custDataLst>
          </p:nvPr>
        </p:nvSpPr>
        <p:spPr>
          <a:xfrm>
            <a:off x="8366760" y="4288536"/>
            <a:ext cx="214884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车辆条件</a:t>
            </a:r>
            <a:endParaRPr 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30061" name="文本框 30061"/>
          <p:cNvSpPr txBox="1"/>
          <p:nvPr>
            <p:custDataLst>
              <p:tags r:id="rId15"/>
            </p:custDataLst>
          </p:nvPr>
        </p:nvSpPr>
        <p:spPr>
          <a:xfrm>
            <a:off x="8366760" y="4544568"/>
            <a:ext cx="2240280" cy="370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TW" sz="910">
                <a:solidFill>
                  <a:srgbClr val="415563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默认全部车辆，也可按车辆来源、资产分公司、据点或合约匹配。</a:t>
            </a:r>
            <a:endParaRPr lang="zh-TW" sz="910">
              <a:solidFill>
                <a:srgbClr val="415563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8355" y="2499995"/>
            <a:ext cx="6671310" cy="21818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开发工时</a:t>
            </a:r>
            <a:endParaRPr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开发工时与周期评估</a:t>
            </a:r>
            <a:endParaRPr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开发工时表"/>
          <p:cNvGraphicFramePr/>
          <p:nvPr/>
        </p:nvGraphicFramePr>
        <p:xfrm>
          <a:off x="666750" y="1351280"/>
          <a:ext cx="10581005" cy="3219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260"/>
                <a:gridCol w="3749040"/>
                <a:gridCol w="914400"/>
                <a:gridCol w="914400"/>
                <a:gridCol w="914400"/>
                <a:gridCol w="914400"/>
                <a:gridCol w="1729105"/>
              </a:tblGrid>
              <a:tr h="420369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功能模块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范围说明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前端</a:t>
                      </a:r>
                      <a:r>
                        <a:rPr lang="en-US" altLang="zh-CN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人天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后端</a:t>
                      </a:r>
                      <a:r>
                        <a:rPr lang="en-US" altLang="zh-CN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人天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</a:t>
                      </a:r>
                      <a:r>
                        <a:rPr lang="en-US" altLang="zh-CN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人天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合计</a:t>
                      </a:r>
                      <a:r>
                        <a:rPr lang="en-US" altLang="zh-CN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人天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00689E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0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00689E"/>
                    </a:solidFill>
                  </a:tcPr>
                </a:tc>
              </a:tr>
              <a:tr h="420369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页面与交互</a:t>
                      </a:r>
                      <a:endParaRPr lang="zh-CN" altLang="en-US" sz="100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提醒列表、统计卡筛选、设定弹窗、通知设定弹窗</a:t>
                      </a: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14.5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20369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母版与套用</a:t>
                      </a:r>
                      <a:endParaRPr lang="zh-CN" altLang="en-US" sz="100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保养母版、清洁母版、车辆套用、资料待补</a:t>
                      </a: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如果不做分公司专用母版功能（第</a:t>
                      </a: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页）</a:t>
                      </a: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此项后端工时：</a:t>
                      </a: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人天</a:t>
                      </a: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420369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提醒规则</a:t>
                      </a:r>
                      <a:endParaRPr lang="zh-CN" altLang="en-US" sz="100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提前提醒、到期提醒、周期去重、忽略与登记完成</a:t>
                      </a: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20369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通知送达</a:t>
                      </a:r>
                      <a:endParaRPr lang="zh-CN" altLang="en-US" sz="100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站内提醒、外部</a:t>
                      </a: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Email</a:t>
                      </a: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、车辆范围条件匹配、发送记录</a:t>
                      </a: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如果不做按车辆范围条件匹配发送功能（第</a:t>
                      </a: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页）</a:t>
                      </a: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00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此项</a:t>
                      </a: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后端工时：</a:t>
                      </a: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人天</a:t>
                      </a: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420369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联调与验收</a:t>
                      </a:r>
                      <a:endParaRPr lang="zh-CN" altLang="en-US" sz="100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接口联调、异常场景、回归测试、验收修正</a:t>
                      </a: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20369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合计</a:t>
                      </a:r>
                      <a:endParaRPr lang="zh-CN" altLang="en-US" sz="100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汇总前端、后端、测试与整体人天</a:t>
                      </a:r>
                      <a:endParaRPr lang="zh-CN" altLang="en-US" sz="100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42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如果上述两个备注功能不做，则工时可</a:t>
                      </a:r>
                      <a:r>
                        <a:rPr lang="zh-CN" altLang="en-US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压缩为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  <p:sp>
        <p:nvSpPr>
          <p:cNvPr id="3" name="开发周期标题"/>
          <p:cNvSpPr txBox="1"/>
          <p:nvPr/>
        </p:nvSpPr>
        <p:spPr>
          <a:xfrm>
            <a:off x="657860" y="4578350"/>
            <a:ext cx="2794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300" b="1">
                <a:solidFill>
                  <a:srgbClr val="00537E"/>
                </a:solidFill>
                <a:latin typeface="微软雅黑" panose="020B0503020204020204" charset="-122"/>
                <a:ea typeface="微软雅黑" panose="020B0503020204020204" charset="-122"/>
              </a:rPr>
              <a:t>开发周期与排期备注</a:t>
            </a:r>
            <a:endParaRPr lang="zh-CN" altLang="en-US" sz="1300" b="1">
              <a:solidFill>
                <a:srgbClr val="0053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开发周期表"/>
          <p:cNvGraphicFramePr/>
          <p:nvPr/>
        </p:nvGraphicFramePr>
        <p:xfrm>
          <a:off x="657860" y="4876800"/>
          <a:ext cx="10424160" cy="1344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/>
                <a:gridCol w="1498600"/>
                <a:gridCol w="1498600"/>
                <a:gridCol w="1905000"/>
                <a:gridCol w="4023360"/>
              </a:tblGrid>
              <a:tr h="3422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预计启动</a:t>
                      </a:r>
                      <a:endParaRPr lang="zh-CN" altLang="en-US" sz="102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预计完成</a:t>
                      </a:r>
                      <a:endParaRPr lang="zh-CN" altLang="en-US" sz="102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开发周期（周）</a:t>
                      </a:r>
                      <a:endParaRPr lang="zh-CN" altLang="en-US" sz="102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开发周期（工作日）</a:t>
                      </a:r>
                      <a:endParaRPr lang="zh-CN" altLang="en-US" sz="102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0F7FB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2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排期备注</a:t>
                      </a:r>
                      <a:endParaRPr lang="zh-CN" altLang="en-US" sz="102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0F7FB"/>
                    </a:solidFill>
                  </a:tcPr>
                </a:tc>
              </a:tr>
              <a:tr h="47244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2026/06/02</a:t>
                      </a:r>
                      <a:endParaRPr lang="en-US" altLang="zh-CN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2026/07/07</a:t>
                      </a:r>
                      <a:endParaRPr lang="en-US" altLang="zh-CN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endParaRPr lang="en-US" altLang="zh-CN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完整</a:t>
                      </a:r>
                      <a:r>
                        <a:rPr lang="zh-CN" altLang="en-US" sz="1000" b="1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开发</a:t>
                      </a:r>
                      <a:endParaRPr lang="zh-CN" altLang="en-US" sz="100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2959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2026/06/02</a:t>
                      </a:r>
                      <a:endParaRPr lang="en-US" altLang="zh-CN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2026/06/26</a:t>
                      </a:r>
                      <a:endParaRPr lang="en-US" altLang="zh-CN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 b="0">
                          <a:solidFill>
                            <a:srgbClr val="2234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lang="en-US" altLang="zh-CN" sz="1000" b="0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压缩</a:t>
                      </a:r>
                      <a:r>
                        <a:rPr lang="zh-CN" altLang="en-US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排期，不做分公司母版和通知条件匹配</a:t>
                      </a:r>
                      <a:endParaRPr lang="en-US" altLang="zh-CN" sz="1000" b="1">
                        <a:solidFill>
                          <a:srgbClr val="22344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11049000" y="65722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750" b="0">
                <a:solidFill>
                  <a:srgbClr val="5A6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lang="en-US" sz="750" b="0">
              <a:solidFill>
                <a:srgbClr val="5A6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3619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900" b="1">
                <a:solidFill>
                  <a:srgbClr val="0068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附件</a:t>
            </a:r>
            <a:endParaRPr lang="zh-CN" altLang="en-US" sz="900" b="1">
              <a:solidFill>
                <a:srgbClr val="0068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" y="6477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需求文档与</a:t>
            </a:r>
            <a:r>
              <a:rPr lang="zh-CN" sz="2550" b="1">
                <a:solidFill>
                  <a:srgbClr val="1424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endParaRPr lang="zh-CN" sz="2550" b="1">
              <a:solidFill>
                <a:srgbClr val="1424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026" name="矩形 30026"/>
          <p:cNvSpPr/>
          <p:nvPr>
            <p:custDataLst>
              <p:tags r:id="rId1"/>
            </p:custDataLst>
          </p:nvPr>
        </p:nvSpPr>
        <p:spPr>
          <a:xfrm>
            <a:off x="4697016" y="2362989"/>
            <a:ext cx="2925524" cy="84108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48" name="矩形 30048"/>
          <p:cNvSpPr/>
          <p:nvPr>
            <p:custDataLst>
              <p:tags r:id="rId2"/>
            </p:custDataLst>
          </p:nvPr>
        </p:nvSpPr>
        <p:spPr>
          <a:xfrm>
            <a:off x="4697095" y="2362708"/>
            <a:ext cx="45720" cy="841248"/>
          </a:xfrm>
          <a:prstGeom prst="rect">
            <a:avLst/>
          </a:prstGeom>
          <a:solidFill>
            <a:srgbClr val="00689E"/>
          </a:solidFill>
          <a:ln w="15240">
            <a:solidFill>
              <a:srgbClr val="00689E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59350" y="2477770"/>
          <a:ext cx="2333625" cy="611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3" imgW="2333625" imgH="611505" progId="Package">
                  <p:embed/>
                </p:oleObj>
              </mc:Choice>
              <mc:Fallback>
                <p:oleObj name="" r:id="rId3" imgW="2333625" imgH="611505" progId="Package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9350" y="2477770"/>
                        <a:ext cx="2333625" cy="611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52" name="矩形 30052"/>
          <p:cNvSpPr/>
          <p:nvPr>
            <p:custDataLst>
              <p:tags r:id="rId5"/>
            </p:custDataLst>
          </p:nvPr>
        </p:nvSpPr>
        <p:spPr>
          <a:xfrm>
            <a:off x="4696460" y="3505327"/>
            <a:ext cx="292608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8E4EA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53" name="矩形 30053"/>
          <p:cNvSpPr/>
          <p:nvPr>
            <p:custDataLst>
              <p:tags r:id="rId6"/>
            </p:custDataLst>
          </p:nvPr>
        </p:nvSpPr>
        <p:spPr>
          <a:xfrm>
            <a:off x="4696460" y="3505327"/>
            <a:ext cx="45720" cy="841248"/>
          </a:xfrm>
          <a:prstGeom prst="rect">
            <a:avLst/>
          </a:prstGeom>
          <a:solidFill>
            <a:srgbClr val="2E7D6B"/>
          </a:solidFill>
          <a:ln w="15240">
            <a:solidFill>
              <a:srgbClr val="2E7D6B"/>
            </a:solidFill>
          </a:ln>
        </p:spPr>
        <p:txBody>
          <a:bodyPr/>
          <a:lstStyle/>
          <a:p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" name="对象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59350" y="3620135"/>
          <a:ext cx="2456815" cy="611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7" imgW="2456815" imgH="611505" progId="Package">
                  <p:embed/>
                </p:oleObj>
              </mc:Choice>
              <mc:Fallback>
                <p:oleObj name="" r:id="rId7" imgW="2456815" imgH="611505" progId="Package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59350" y="3620135"/>
                        <a:ext cx="2456815" cy="611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50" name="文本框 30050"/>
          <p:cNvSpPr txBox="1"/>
          <p:nvPr>
            <p:custDataLst>
              <p:tags r:id="rId9"/>
            </p:custDataLst>
          </p:nvPr>
        </p:nvSpPr>
        <p:spPr>
          <a:xfrm>
            <a:off x="3299460" y="2676525"/>
            <a:ext cx="132461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开发需求</a:t>
            </a:r>
            <a:r>
              <a:rPr lang="zh-CN" alt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文档</a:t>
            </a:r>
            <a:endParaRPr lang="zh-CN" alt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  <p:sp>
        <p:nvSpPr>
          <p:cNvPr id="12" name="文本框 30050"/>
          <p:cNvSpPr txBox="1"/>
          <p:nvPr>
            <p:custDataLst>
              <p:tags r:id="rId10"/>
            </p:custDataLst>
          </p:nvPr>
        </p:nvSpPr>
        <p:spPr>
          <a:xfrm>
            <a:off x="3299460" y="3787775"/>
            <a:ext cx="1324610" cy="27559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zh-TW" sz="1200" b="1">
                <a:solidFill>
                  <a:srgbClr val="1B2B34"/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</a:rPr>
              <a:t>功能页面</a:t>
            </a:r>
            <a:endParaRPr lang="zh-CN" altLang="zh-TW" sz="1200" b="1">
              <a:solidFill>
                <a:srgbClr val="1B2B34"/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8.5,&quot;left&quot;:616.5,&quot;top&quot;:156,&quot;width&quot;:234.75}"/>
</p:tagLst>
</file>

<file path=ppt/tags/tag2.xml><?xml version="1.0" encoding="utf-8"?>
<p:tagLst xmlns:p="http://schemas.openxmlformats.org/presentationml/2006/main">
  <p:tag name="KSO_WM_DIAGRAM_VIRTUALLY_FRAME" val="{&quot;height&quot;:208.5,&quot;left&quot;:616.5,&quot;top&quot;:156,&quot;width&quot;:234.75}"/>
</p:tagLst>
</file>

<file path=ppt/tags/tag3.xml><?xml version="1.0" encoding="utf-8"?>
<p:tagLst xmlns:p="http://schemas.openxmlformats.org/presentationml/2006/main">
  <p:tag name="KSO_WM_DIAGRAM_VIRTUALLY_FRAME" val="{&quot;height&quot;:208.5,&quot;left&quot;:616.5,&quot;top&quot;:156,&quot;width&quot;:234.75}"/>
</p:tagLst>
</file>

<file path=ppt/tags/tag4.xml><?xml version="1.0" encoding="utf-8"?>
<p:tagLst xmlns:p="http://schemas.openxmlformats.org/presentationml/2006/main">
  <p:tag name="KSO_WM_DIAGRAM_VIRTUALLY_FRAME" val="{&quot;height&quot;:208.5,&quot;left&quot;:616.5,&quot;top&quot;:156,&quot;width&quot;:234.75}"/>
</p:tagLst>
</file>

<file path=ppt/tags/tag5.xml><?xml version="1.0" encoding="utf-8"?>
<p:tagLst xmlns:p="http://schemas.openxmlformats.org/presentationml/2006/main">
  <p:tag name="KSO_WM_DIAGRAM_VIRTUALLY_FRAME" val="{&quot;height&quot;:208.5,&quot;left&quot;:616.5,&quot;top&quot;:156,&quot;width&quot;:234.75}"/>
</p:tagLst>
</file>

<file path=ppt/tags/tag6.xml><?xml version="1.0" encoding="utf-8"?>
<p:tagLst xmlns:p="http://schemas.openxmlformats.org/presentationml/2006/main">
  <p:tag name="KSO_WM_DIAGRAM_VIRTUALLY_FRAME" val="{&quot;height&quot;:208.5,&quot;left&quot;:616.5,&quot;top&quot;:156,&quot;width&quot;:234.75}"/>
</p:tagLst>
</file>

<file path=ppt/tags/tag7.xml><?xml version="1.0" encoding="utf-8"?>
<p:tagLst xmlns:p="http://schemas.openxmlformats.org/presentationml/2006/main">
  <p:tag name="KSO_WM_DIAGRAM_VIRTUALLY_FRAME" val="{&quot;height&quot;:208.5,&quot;left&quot;:616.5,&quot;top&quot;:156,&quot;width&quot;:234.75}"/>
</p:tagLst>
</file>

<file path=ppt/tags/tag8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9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10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11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12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13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14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15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16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17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18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19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20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21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22.xml><?xml version="1.0" encoding="utf-8"?>
<p:tagLst xmlns:p="http://schemas.openxmlformats.org/presentationml/2006/main">
  <p:tag name="KSO_WM_DIAGRAM_VIRTUALLY_FRAME" val="{&quot;height&quot;:233.32999999999998,&quot;left&quot;:696.8,&quot;top&quot;:159.79000000000002,&quot;width&quot;:230.35}"/>
</p:tagLst>
</file>

<file path=ppt/tags/tag23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24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25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26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27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28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29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30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31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32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33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34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35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36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37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38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39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40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41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42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43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44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45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46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47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48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49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50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51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52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53.xml><?xml version="1.0" encoding="utf-8"?>
<p:tagLst xmlns:p="http://schemas.openxmlformats.org/presentationml/2006/main">
  <p:tag name="KSO_WM_DIAGRAM_VIRTUALLY_FRAME" val="{&quot;height&quot;:233.32999999999998,&quot;left&quot;:700.15,&quot;top&quot;:159.79000000000002,&quot;width&quot;:233.05}"/>
</p:tagLst>
</file>

<file path=ppt/tags/tag54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55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56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57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ags/tag58.xml><?xml version="1.0" encoding="utf-8"?>
<p:tagLst xmlns:p="http://schemas.openxmlformats.org/presentationml/2006/main">
  <p:tag name="KSO_WM_DIAGRAM_VIRTUALLY_FRAME" val="{&quot;height&quot;:233.28000000000003,&quot;left&quot;:622.8,&quot;top&quot;:159.84,&quot;width&quot;:230.4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2486</Words>
  <Application>WPS 演示</Application>
  <PresentationFormat>Converted Presentation</PresentationFormat>
  <Paragraphs>414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Microsoft JhengHei</vt:lpstr>
      <vt:lpstr>Arial Unicode MS</vt:lpstr>
      <vt:lpstr>Calibri</vt:lpstr>
      <vt:lpstr>ChatGPT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肖金鹏</cp:lastModifiedBy>
  <cp:revision>49</cp:revision>
  <dcterms:created xsi:type="dcterms:W3CDTF">2026-05-25T09:55:00Z</dcterms:created>
  <dcterms:modified xsi:type="dcterms:W3CDTF">2026-05-28T08:59:10Z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FD0BB6FF76764E4E8059C9A387EFB0A7_12</vt:lpwstr>
  </property>
  <property fmtid="{D5CDD505-2E9C-101B-9397-08002B2CF9AE}" pid="3" name="KSOProductBuildVer">
    <vt:lpwstr>2052-12.1.0.26373</vt:lpwstr>
  </property>
</Properties>
</file>